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75" r:id="rId3"/>
    <p:sldId id="259" r:id="rId4"/>
    <p:sldId id="260" r:id="rId5"/>
    <p:sldId id="261" r:id="rId6"/>
    <p:sldId id="262" r:id="rId7"/>
    <p:sldId id="266" r:id="rId8"/>
    <p:sldId id="263" r:id="rId9"/>
    <p:sldId id="268" r:id="rId10"/>
    <p:sldId id="276" r:id="rId11"/>
    <p:sldId id="273" r:id="rId12"/>
    <p:sldId id="270" r:id="rId13"/>
    <p:sldId id="271" r:id="rId14"/>
    <p:sldId id="274" r:id="rId1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020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1602" autoAdjust="0"/>
    <p:restoredTop sz="94651"/>
  </p:normalViewPr>
  <p:slideViewPr>
    <p:cSldViewPr snapToGrid="0">
      <p:cViewPr varScale="1">
        <p:scale>
          <a:sx n="115" d="100"/>
          <a:sy n="115" d="100"/>
        </p:scale>
        <p:origin x="148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27T16:35:46.451"/>
    </inkml:context>
    <inkml:brush xml:id="br0">
      <inkml:brushProperty name="width" value="0.05292" units="cm"/>
      <inkml:brushProperty name="height" value="0.05292" units="cm"/>
    </inkml:brush>
  </inkml:definitions>
  <inkml:trace contextRef="#ctx0" brushRef="#br0">18286 9322 24575,'0'41'0,"0"22"0,0-18 0,0 3 0,0 11 0,0 3 0,0 1 0,0 1 0,0-3 0,0 0 0,0-5 0,0-3 0,0-10 0,0-4 0,0 20 0,0-23 0,0-22 0,0-6 0</inkml:trace>
  <inkml:trace contextRef="#ctx0" brushRef="#br0" timeOffset="1466">17967 9415 24575,'17'0'0,"-2"0"0,0 0 0,-2 0 0,2 0 0,7 0 0,5 0 0,4 0 0,0 0 0,0 0 0,3 0 0,7 0 0,5 0 0,-3 0 0,-7 0 0,-9 0 0,-3 0 0,0-1 0,2-1 0,0-1 0,-2-1 0,-4 3 0,-4-1 0,4 0 0,3 0 0,2 0 0,-2 1 0,-8 1 0,-7 0 0,-4 0 0</inkml:trace>
  <inkml:trace contextRef="#ctx0" brushRef="#br0" timeOffset="2466">19005 9672 24575,'28'0'0,"8"0"0,12 0 0,6 0 0,-4 0 0,-8 0 0,-14 0 0,-15 0 0,-7 0 0</inkml:trace>
  <inkml:trace contextRef="#ctx0" brushRef="#br0" timeOffset="4183">19102 9893 24575,'23'0'0,"5"0"0,3 0 0,0 0 0,-5 0 0,-8 0 0,-4 0 0,-4 0 0,-2 0 0,0 0 0,-1-1 0,2-1 0,0 0 0,-1 1 0,1 1 0,-2 0 0,-1 0 0,0 0 0,0 0 0,-4 0 0,1 0 0</inkml:trace>
  <inkml:trace contextRef="#ctx0" brushRef="#br0" timeOffset="6916">20386 9200 24575,'-33'0'0,"-5"0"0,-7 0 0,-1 0 0,6 0 0,1 1 0,2 3 0,3 5 0,7 2 0,8 0 0,10-2 0,4-2 0,4-2 0,-2 3 0,-3 4 0,-3 4 0,-6 7 0,0 2 0,1-2 0,3-4 0,5-7 0,3-4 0,0 0 0,0 7 0,-5 16 0,-1 16 0,-2 9 0,2-6 0,3-13 0,3-14 0,1-10 0,2-5 0,0 1 0,0 4 0,1 6 0,2 4 0,2 0 0,1-7 0,0-5 0,1-5 0,2 0 0,2 0 0,-1-1 0,0-1 0,-1-1 0,0-1 0,2-2 0,2 1 0,-1-1 0,1 0 0,-1 0 0,1 0 0,3 0 0,6 0 0,4 0 0,0 0 0,-2-2 0,-2-2 0,4-4 0,7-2 0,1-2 0,-3 3 0,-9 2 0,-7 2 0,-5 1 0,1-4 0,0-1 0,-1-1 0,-2 1 0,-2 0 0,0-6 0,1-13 0,3-15 0,0-16 0,0-3 0,-2 9 0,-5 15 0,-1 17 0,-2 6 0,0-1 0,0-6 0,-2-8 0,-3-2 0,-2 2 0,-3 8 0,-1 6 0,-1 6 0,-1 1 0,0 1 0,1 2 0,4 2 0,3 3 0,3 0 0</inkml:trace>
  <inkml:trace contextRef="#ctx0" brushRef="#br0" timeOffset="7749">20621 8941 24575,'0'17'0,"0"7"0,0 11 0,0 1 0,0-16 0,0-5 0</inkml:trace>
  <inkml:trace contextRef="#ctx0" brushRef="#br0" timeOffset="10199">20936 9473 24575,'0'-41'0,"0"-2"0,0-5 0,0 7 0,0 13 0,0 21 0,-1 30 0,-5 39 0,1-19 0,-1 4 0,-1 7 0,-1 3 0,0 1 0,-1-1 0,2-5 0,1-1 0,1-7 0,0-2 0,2-7 0,0-3 0,1 18 0,1-15 0,1-7 0,0-10 0,0-10 0,0-3 0</inkml:trace>
  <inkml:trace contextRef="#ctx0" brushRef="#br0" timeOffset="11083">20741 10037 24575,'10'0'0,"3"0"0,1 0 0,-2 0 0,-3 0 0,-1 0 0,-4 0 0,0 0 0</inkml:trace>
  <inkml:trace contextRef="#ctx0" brushRef="#br0" timeOffset="11983">20910 9349 24575,'-1'22'0,"-6"22"0,-2-10 0,-1 1 0,-3 4 0,-1-1 0,-1-4 0,1-4 0,-4 4 0,9-20 0</inkml:trace>
  <inkml:trace contextRef="#ctx0" brushRef="#br0" timeOffset="15083">21281 9785 24575,'0'26'0,"0"8"0,0 9 0,0-4 0,0-20 0,0-8 0</inkml:trace>
  <inkml:trace contextRef="#ctx0" brushRef="#br0" timeOffset="18983">18327 10892 24575,'0'42'0,"0"13"0,0-21 0,0 2 0,0 2 0,0 1 0,0-2 0,0 0 0,0-3 0,0 0 0,0 28 0,0-8 0,0-6 0,0-3 0,0-1 0,0-7 0,0-5 0,0-9 0,0-11 0,0-5 0</inkml:trace>
  <inkml:trace contextRef="#ctx0" brushRef="#br0" timeOffset="20249">17974 10885 24575,'14'0'0,"2"0"0,4 0 0,4 0 0,3 0 0,5 0 0,4 0 0,2 0 0,3 0 0,2 0 0,6 0 0,3 0 0,1 0 0,-2 0 0,-7 0 0,-9 0 0,-8 0 0,-9 0 0,-7 0 0,-4 0 0,-1 0 0,-1 0 0,-2 0 0,-2 0 0</inkml:trace>
  <inkml:trace contextRef="#ctx0" brushRef="#br0" timeOffset="21216">19085 11229 24575,'10'0'0,"-2"0"0,8 0 0,-7 0 0</inkml:trace>
  <inkml:trace contextRef="#ctx0" brushRef="#br0" timeOffset="22099">18991 11416 24575,'12'0'0,"-2"0"0,-2 0 0,-3 0 0</inkml:trace>
  <inkml:trace contextRef="#ctx0" brushRef="#br0" timeOffset="23683">18994 11513 24575,'9'0'0,"3"0"0,-2 0 0,1-1 0,-3-1 0,1 0 0,2-2 0,5 0 0,4 1 0,8 2 0,6 0 0,5 1 0,-1 0 0,-4-2 0,-3 0 0,-4-1 0,-1 0 0,-3 2 0,-5-1 0,-9 2 0,-3 0 0</inkml:trace>
  <inkml:trace contextRef="#ctx0" brushRef="#br0" timeOffset="24866">18932 11351 24575,'20'0'0,"9"0"0,6 0 0,3 0 0,-3 0 0,-8 0 0,-10 0 0,-8 0 0,-4 0 0,-1 0 0,4 0 0,2 0 0,0 0 0,-3 0 0,-3 0 0</inkml:trace>
  <inkml:trace contextRef="#ctx0" brushRef="#br0" timeOffset="26384">20507 11030 24575,'-12'0'0,"-10"0"0,-8 0 0,-11 3 0,-8 13 0,-4 19 0,25-9 0,1 3 0,0 6 0,2 2 0,4 1 0,2 0 0,4 1 0,4 1 0,3-2 0,2 0 0,4 0 0,0-1 0,2-1 0,0-1 0,1-2 0,0-1 0,8 28 0,8-10 0,12-10 0,13-8 0,10-7 0,11-9 0,-29-10 0,0-3 0,1 0 0,-1-2 0,-1-3 0,0-2 0,24-13 0,-8-16 0,-10-16 0,-24 18 0,-2-2 0,-1-4 0,-2-1 0,-2-2 0,-1 0 0,-2 0 0,-1 1 0,-1 3 0,-1 2 0,-2-27 0,-3 10 0,-7 11 0,-7 5 0,-8 10 0,-5 4 0,-4 4 0,-1 3 0,3 3 0,8 3 0,12 4 0,6 3 0</inkml:trace>
  <inkml:trace contextRef="#ctx0" brushRef="#br0" timeOffset="27249">21099 11643 24575,'0'20'0,"0"26"0,0-9 0,0 4 0,0 6 0,0 0 0,0 0 0,0-3 0,0 19 0,0-31 0,0-18 0</inkml:trace>
  <inkml:trace contextRef="#ctx0" brushRef="#br0" timeOffset="29716">22395 10334 24575,'0'31'0,"0"17"0,0 17 0,0-1 0,0-28 0,0-15 0</inkml:trace>
  <inkml:trace contextRef="#ctx0" brushRef="#br0" timeOffset="31484">22639 10894 24575,'12'0'0,"6"0"0,5 0 0,-5 0 0,-14 1 0,-22 7 0,-27 16 0,15-7 0,1 1 0,-2 2 0,2 0 0,-17 12 0,21-14 0,13-7 0,8-4 0,3 1 0,1 7 0,0 11 0,0 7 0,0 1 0,0-8 0,0-8 0,4-9 0,6-5 0,10-5 0,10-12 0,11-9 0,8-9 0,8 1 0,3 5 0,-28 16 0,1 2 0,0 2 0,1 2 0,0 0 0,0 2 0,-1 3 0,0 4 0,25 16 0,-31-2 0,-2 5 0,-2 7 0,-4 3 0,-1 6 0,-3 1 0,-2 2 0,-1-1 0,-4-4 0,-1 0 0,-1-6 0,-5-1 0,-17 21 0,-7-29 0,-6-3 0,-10-1 0,-4-4 0,-8-2 0,-2-3 0,2-3 0,1-5 0,8-5 0,2-5 0,8-5 0,4-4 0,-10-25 0,20-4 0,10 18 0,6 10 0</inkml:trace>
  <inkml:trace contextRef="#ctx0" brushRef="#br0" timeOffset="33482">23623 11519 24575,'3'33'0,"-1"-3"0,-1 6 0,-1 21 0,0 7 0,0-10 0,0 3 0,0 1-481,0 0 1,0 1 0,0-1 480,0-3 0,0-1 0,0-3 0,0 10 0,0-7 0,0 2 0,0-24 0</inkml:trace>
  <inkml:trace contextRef="#ctx0" brushRef="#br0" timeOffset="35266">24284 11067 24575,'0'-13'0,"0"-20"0,0 1 0,0-6 0,0-8 0,0-6 0,0 3 0,0-7 0,0 1 0,0 8 0,0-1 0,0 9 0,0 1 0,0 29 0,0 41 0,0 1 0,0 5 0,0 16 0,0 4 0,0-12 0,0 3 0,0-1-163,0 1 0,0 1 0,0-1 163,0 1 0,0-1 0,0-1 0,0 17 0,0-2 0,1-9 0,1-2 0,0-7 0,2-4 0,3 17 0,2-20 0,-3-14 0,-3-9 489,-2-3-489,0-1 0,-1 1 0,0 0 0,-3-2 0,-7-2 0,-10-5 0,-11-2 0,-7-2 0,1-1 0,4-1 0,8-1 0,9 1 0,11 0 0,16 2 0,26-2 0,25-2 0,-22 2 0,1-1 0,2 1 0,0-1 0,-7 1 0,-3 0 0,17-1 0,-20 3 0,-17-1 0,-7 2 0</inkml:trace>
  <inkml:trace contextRef="#ctx0" brushRef="#br0" timeOffset="36232">24304 10514 24575,'0'32'0,"-5"6"0,-6 5 0,-7-2 0,6-18 0,2-10 0</inkml:trace>
  <inkml:trace contextRef="#ctx0" brushRef="#br0" timeOffset="37499">24248 10704 24575,'-11'21'0,"2"-8"0,-8 1 0,-3-4 0,-6 4 0,-5 5 0,0 0 0,4 0 0,3-1 0,1 1 0,3-1 0,4-4 0,5-5 0,5-5 0,3-3 0</inkml:trace>
  <inkml:trace contextRef="#ctx0" brushRef="#br0" timeOffset="62016">22013 11130 24575,'-20'0'0,"-4"0"0,-4 0 0,-3 0 0,1 0 0,0 1 0,6 4 0,3 2 0,7 3 0,4 1 0,2-2 0,0 0 0,1-1 0,2-1 0,1-1 0,-1 3 0,0 2 0,-3 5 0,-1 6 0,1 2 0,0 0 0,4-4 0,1-6 0,2-4 0,1 1 0,0 5 0,0 11 0,-2 10 0,0 3 0,1-6 0,-1-9 0,2-11 0,0-5 0,0-1 0,0 6 0,4 10 0,3 14 0,5 6 0,3-1 0,0-5 0,-2-9 0,1-5 0,1-5 0,1-3 0,0-3 0,0 0 0,-3-4 0,-3-2 0,-1-3 0,0-3 0,1 1 0,0-2 0,-1 0 0,-2 0 0,1 0 0,3 0 0,1 0 0,0 0 0,0 0 0,-2 0 0,-1 0 0,-3 0 0,1 0 0,-1 0 0,1 0 0,0 0 0,-2-2 0,1-1 0,-1-1 0,1 1 0,-2-1 0,1 1 0,-2 0 0,-1-2 0,1-1 0,1-4 0,2-2 0,2-4 0,2 0 0,0 1 0,-1 3 0,-3 4 0,-3 2 0,-2-1 0,0-4 0,1-9 0,0-6 0,0-2 0,-1 5 0,-1 6 0,0 6 0,0 3 0,0 1 0,0 1 0,0-4 0,0-9 0,0-12 0,0-6 0,0 0 0,0 8 0,0 10 0,0 7 0,0 5 0,0 0 0,0-4 0,0-8 0,-3-9 0,-2-5 0,-2 2 0,0 9 0,1 9 0,0 6 0,-1 1 0,-3-2 0,0 0 0,0-1 0,2 4 0,3 1 0,0 0 0,0 2 0,0 1 0,-1 1 0,3 0 0,1 0 0</inkml:trace>
  <inkml:trace contextRef="#ctx0" brushRef="#br0" timeOffset="69749">20776 10852 24575,'38'-47'0,"-12"13"0,3-3 0,-3 5 0,4-3 0,1-2-1008,-2 2 0,1-3 0,2-1 0,1-2 1008,5-7 0,1-2 0,1-2 0,1 0-498,-5 6 0,1-1 0,0-1 0,1 0 1,0-2 497,-5 6 0,1-1 0,1 0 0,-1-2 0,1 1 0,0-1-313,3-5 0,1 1 0,0-2 0,0 0 1,0 0-1,0 0 313,-5 7 0,0-1 0,0 1 0,0-1 0,0 0 0,1 1 0,-1-1 0,0 1 0,1-1 0,0 1 0,0 0 0,-1 0 0,0 0 0,0 2-260,3-4 1,0 0 0,0 1 0,-1 0 0,-1 2 0,0 1 259,1 0 0,-1 0 0,-1 2 0,-1 2 0,0 0 224,2-1 0,-1 2 0,-1 1 1,-3 2-225,2-1 0,-3 3 0,-2 2 1112,2-2 0,-4 6-1112,1-1 3706,-16 18-3706,-11 7 2563,-10-1-2563,-13-2 563,-11-4-563,-6-1 0,-5 1 0,-2 4 0,-1 4 0,-1 2 0,2 2 0,7 2 0,11 2 0,14 1 0,12 0 0,22 1 0,35 1 0,-13-3 0,4 0 0,9 2 0,1-1 0,-1 0 0,-2 0 0,-10 0 0,-3 0 0,17 4 0,-27-4 0,-15 0 0,-8 0 0,-4 6 0,-9 19 0,-11 23 0,5-17 0,-2 3 0,-2 4 0,0 0 0,2-4 0,2-3 0,-8 21 0,11-23 0,6-22 0,4-6 0</inkml:trace>
  <inkml:trace contextRef="#ctx0" brushRef="#br0" timeOffset="98299">23509 6871 24575,'-18'8'0,"-2"8"0,-7 11 0,1 9 0,0 0 0,3-3 0,7-8 0,2-5 0,4-3 0,1-1 0,1 0 0,3-2 0,2-3 0,0-5 0,0 1 0,-1 3 0,-2 4 0,0 1 0,1-1 0,2-3 0,1-3 0,0 1 0,-3 10 0,-4 11 0,-3 7 0,1-1 0,3-9 0,4-8 0,0-7 0,1 0 0,-2 4 0,0 7 0,0 5 0,0 1 0,1-4 0,1-5 0,1-6 0,2-4 0,0-2 0,0 4 0,0 10 0,0 16 0,0 16 0,3 6 0,2 1 0,4-6 0,1-10 0,1-9 0,0-8 0,-1-6 0,1-4 0,-1 1 0,1-1 0,1 2 0,3 1 0,4 0 0,1 0 0,0-3 0,-2-1 0,-2-6 0,-3-3 0,-2-2 0,2 0 0,5 2 0,3 2 0,1-2 0,-4-2 0,-5-3 0,-4-1 0,-2-1 0,-2-1 0,2 1 0,3 1 0,4 2 0,0 0 0,-1-1 0,-4 0 0,-2 0 0,-3 1 0,-1 2 0,-2-3 0,-1 1 0</inkml:trace>
  <inkml:trace contextRef="#ctx0" brushRef="#br0" timeOffset="99699">23748 7343 24575,'0'35'0,"0"1"0,0-2 0,0 2 0,0 8 0,0 2 0,0 0 0,0 0 0,0-1 0,0-1 0,0 1 0,0-1 0,0-5 0,0-1 0,0 24 0,0-16 0,0-17 0,0-16 0,0-7 0</inkml:trace>
  <inkml:trace contextRef="#ctx0" brushRef="#br0" timeOffset="100682">23517 7776 24575,'38'0'0,"7"0"0,14 0 0,3 0 0,1 0 0,-6 0 0,-6 0 0,-2 0 0,-5 0 0,-5 0 0,-8 0 0,-9 0 0,-12 0 0,-5 0 0</inkml:trace>
  <inkml:trace contextRef="#ctx0" brushRef="#br0" timeOffset="102049">24005 7658 24575,'-8'5'0,"-3"2"0,0-1 0,-1-1 0,1 1 0,2 5 0,-5 10 0,-2 8 0,-8 8 0,-6 0 0,-4-2 0,-3-4 0,-1-7 0,-1-2 0,4-2 0,7-4 0,9-6 0,8-4 0,4-2 0,1 0 0,-3 3 0,-8 3 0,-9 7 0,-4 3 0,3-1 0,12-8 0,8-5 0</inkml:trace>
  <inkml:trace contextRef="#ctx0" brushRef="#br0" timeOffset="103249">23517 7536 24575,'5'19'0,"9"12"0,11 13 0,-7-17 0,2 1 0,4 2 0,1-1 0,2 1 0,1-1 0,0 0 0,-1 0 0,-2-3 0,-1-2 0,11 16 0,-10-14 0,-10-10 0,-7-6 0,-1-4 0,-4-3 0,-1-2 0</inkml:trace>
  <inkml:trace contextRef="#ctx0" brushRef="#br0" timeOffset="105316">23933 6915 24575,'20'2'0,"7"6"0,3 6 0,6 7 0,2 7 0,-3 3 0,-1 2 0,-4-1 0,-5-1 0,-3-3 0,-2-1 0,-3 1 0,-2-1 0,-1 2 0,0 1 0,-2-1 0,0 1 0,-4-3 0,-2-4 0,-2-7 0,-1-3 0,-2-3 0,1 6 0,-1 14 0,1 15 0,0 12 0,2 1 0,-2-11 0,0-13 0,0-11 0,-2-9 0,0 0 0,0 10 0,0 13 0,0 16 0,0 3 0,0-7 0,0-13 0,-3-7 0,-4-2 0,-6 8 0,-5 6 0,0 0 0,-1 1 0,3-8 0,3-5 0,2-6 0,2-8 0,1-4 0,-1-2 0,-2-1 0,-1 0 0,0-1 0,5-3 0,2-2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24351D-E627-49DB-83D7-E61DC9837DC7}" type="datetimeFigureOut">
              <a:rPr lang="es-ES" smtClean="0"/>
              <a:t>8/4/25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EF7C4B-956F-47AD-8C4C-E4B42003FC92}" type="slidenum">
              <a:rPr lang="es-ES" smtClean="0"/>
              <a:t>‹Nº›</a:t>
            </a:fld>
            <a:endParaRPr lang="es-ES"/>
          </a:p>
        </p:txBody>
      </p:sp>
    </p:spTree>
    <p:extLst>
      <p:ext uri="{BB962C8B-B14F-4D97-AF65-F5344CB8AC3E}">
        <p14:creationId xmlns:p14="http://schemas.microsoft.com/office/powerpoint/2010/main" val="3788119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503E9F-01B1-40A1-B2AD-9020E64BA68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21E178FA-A7B8-9E22-FB83-99D14EB91D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1620032C-7865-5953-6550-7C40BC32EC6F}"/>
              </a:ext>
            </a:extLst>
          </p:cNvPr>
          <p:cNvSpPr>
            <a:spLocks noGrp="1"/>
          </p:cNvSpPr>
          <p:nvPr>
            <p:ph type="dt" sz="half" idx="10"/>
          </p:nvPr>
        </p:nvSpPr>
        <p:spPr/>
        <p:txBody>
          <a:bodyPr/>
          <a:lstStyle/>
          <a:p>
            <a:fld id="{8B9AF47C-8565-4A13-9941-31A6E10B0178}" type="datetimeFigureOut">
              <a:rPr lang="es-ES" smtClean="0"/>
              <a:t>8/4/25</a:t>
            </a:fld>
            <a:endParaRPr lang="es-ES"/>
          </a:p>
        </p:txBody>
      </p:sp>
      <p:sp>
        <p:nvSpPr>
          <p:cNvPr id="5" name="Marcador de pie de página 4">
            <a:extLst>
              <a:ext uri="{FF2B5EF4-FFF2-40B4-BE49-F238E27FC236}">
                <a16:creationId xmlns:a16="http://schemas.microsoft.com/office/drawing/2014/main" id="{CDF3FBCC-B9A8-4B66-7242-BADCC4AD4506}"/>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8D67A61-8D9A-59B9-594F-7707CE858613}"/>
              </a:ext>
            </a:extLst>
          </p:cNvPr>
          <p:cNvSpPr>
            <a:spLocks noGrp="1"/>
          </p:cNvSpPr>
          <p:nvPr>
            <p:ph type="sldNum" sz="quarter" idx="12"/>
          </p:nvPr>
        </p:nvSpPr>
        <p:spPr/>
        <p:txBody>
          <a:bodyPr/>
          <a:lstStyle/>
          <a:p>
            <a:fld id="{88E1B2F9-3B1C-4967-856A-F7149D8E0B1F}" type="slidenum">
              <a:rPr lang="es-ES" smtClean="0"/>
              <a:t>‹Nº›</a:t>
            </a:fld>
            <a:endParaRPr lang="es-ES"/>
          </a:p>
        </p:txBody>
      </p:sp>
    </p:spTree>
    <p:extLst>
      <p:ext uri="{BB962C8B-B14F-4D97-AF65-F5344CB8AC3E}">
        <p14:creationId xmlns:p14="http://schemas.microsoft.com/office/powerpoint/2010/main" val="2274919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3D72ED-3F08-5534-DB0A-2893F9965147}"/>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45F7E081-D99A-C4F8-736C-FCAA8159CB1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C6D37A6-763E-596E-1381-8B6C9F67AF7F}"/>
              </a:ext>
            </a:extLst>
          </p:cNvPr>
          <p:cNvSpPr>
            <a:spLocks noGrp="1"/>
          </p:cNvSpPr>
          <p:nvPr>
            <p:ph type="dt" sz="half" idx="10"/>
          </p:nvPr>
        </p:nvSpPr>
        <p:spPr/>
        <p:txBody>
          <a:bodyPr/>
          <a:lstStyle/>
          <a:p>
            <a:fld id="{8B9AF47C-8565-4A13-9941-31A6E10B0178}" type="datetimeFigureOut">
              <a:rPr lang="es-ES" smtClean="0"/>
              <a:t>8/4/25</a:t>
            </a:fld>
            <a:endParaRPr lang="es-ES"/>
          </a:p>
        </p:txBody>
      </p:sp>
      <p:sp>
        <p:nvSpPr>
          <p:cNvPr id="5" name="Marcador de pie de página 4">
            <a:extLst>
              <a:ext uri="{FF2B5EF4-FFF2-40B4-BE49-F238E27FC236}">
                <a16:creationId xmlns:a16="http://schemas.microsoft.com/office/drawing/2014/main" id="{F332A899-A14E-C8CD-2564-92CB6478BE5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83F8A8F-03D4-F5B1-5FD5-7F9B7BA32853}"/>
              </a:ext>
            </a:extLst>
          </p:cNvPr>
          <p:cNvSpPr>
            <a:spLocks noGrp="1"/>
          </p:cNvSpPr>
          <p:nvPr>
            <p:ph type="sldNum" sz="quarter" idx="12"/>
          </p:nvPr>
        </p:nvSpPr>
        <p:spPr/>
        <p:txBody>
          <a:bodyPr/>
          <a:lstStyle/>
          <a:p>
            <a:fld id="{88E1B2F9-3B1C-4967-856A-F7149D8E0B1F}" type="slidenum">
              <a:rPr lang="es-ES" smtClean="0"/>
              <a:t>‹Nº›</a:t>
            </a:fld>
            <a:endParaRPr lang="es-ES"/>
          </a:p>
        </p:txBody>
      </p:sp>
    </p:spTree>
    <p:extLst>
      <p:ext uri="{BB962C8B-B14F-4D97-AF65-F5344CB8AC3E}">
        <p14:creationId xmlns:p14="http://schemas.microsoft.com/office/powerpoint/2010/main" val="328769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3C91D9-BDF2-4B76-28F1-A66BDC24594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6F978BEB-8D3F-8B50-62A0-90B78AE7A1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5B531CC1-BEA7-59D1-38E3-453A38885317}"/>
              </a:ext>
            </a:extLst>
          </p:cNvPr>
          <p:cNvSpPr>
            <a:spLocks noGrp="1"/>
          </p:cNvSpPr>
          <p:nvPr>
            <p:ph type="dt" sz="half" idx="10"/>
          </p:nvPr>
        </p:nvSpPr>
        <p:spPr/>
        <p:txBody>
          <a:bodyPr/>
          <a:lstStyle/>
          <a:p>
            <a:fld id="{8B9AF47C-8565-4A13-9941-31A6E10B0178}" type="datetimeFigureOut">
              <a:rPr lang="es-ES" smtClean="0"/>
              <a:t>8/4/25</a:t>
            </a:fld>
            <a:endParaRPr lang="es-ES"/>
          </a:p>
        </p:txBody>
      </p:sp>
      <p:sp>
        <p:nvSpPr>
          <p:cNvPr id="5" name="Marcador de pie de página 4">
            <a:extLst>
              <a:ext uri="{FF2B5EF4-FFF2-40B4-BE49-F238E27FC236}">
                <a16:creationId xmlns:a16="http://schemas.microsoft.com/office/drawing/2014/main" id="{6779B435-0844-F318-40E3-75C1DA674DD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9964512-0FDB-74A7-A7E1-B73497D10CE0}"/>
              </a:ext>
            </a:extLst>
          </p:cNvPr>
          <p:cNvSpPr>
            <a:spLocks noGrp="1"/>
          </p:cNvSpPr>
          <p:nvPr>
            <p:ph type="sldNum" sz="quarter" idx="12"/>
          </p:nvPr>
        </p:nvSpPr>
        <p:spPr/>
        <p:txBody>
          <a:bodyPr/>
          <a:lstStyle/>
          <a:p>
            <a:fld id="{88E1B2F9-3B1C-4967-856A-F7149D8E0B1F}" type="slidenum">
              <a:rPr lang="es-ES" smtClean="0"/>
              <a:t>‹Nº›</a:t>
            </a:fld>
            <a:endParaRPr lang="es-ES"/>
          </a:p>
        </p:txBody>
      </p:sp>
    </p:spTree>
    <p:extLst>
      <p:ext uri="{BB962C8B-B14F-4D97-AF65-F5344CB8AC3E}">
        <p14:creationId xmlns:p14="http://schemas.microsoft.com/office/powerpoint/2010/main" val="1545485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6B8E95-0DBF-25E8-8F5D-3E908C3F9B52}"/>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AECDCFC-D1BF-BC5D-7379-54A384F56AC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D35C1F44-FAD6-48BD-744B-B874DB1B874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89584986-91A1-4F0C-E3D2-35AC2F1B5BCD}"/>
              </a:ext>
            </a:extLst>
          </p:cNvPr>
          <p:cNvSpPr>
            <a:spLocks noGrp="1"/>
          </p:cNvSpPr>
          <p:nvPr>
            <p:ph type="dt" sz="half" idx="10"/>
          </p:nvPr>
        </p:nvSpPr>
        <p:spPr/>
        <p:txBody>
          <a:bodyPr/>
          <a:lstStyle/>
          <a:p>
            <a:fld id="{8B9AF47C-8565-4A13-9941-31A6E10B0178}" type="datetimeFigureOut">
              <a:rPr lang="es-ES" smtClean="0"/>
              <a:t>8/4/25</a:t>
            </a:fld>
            <a:endParaRPr lang="es-ES"/>
          </a:p>
        </p:txBody>
      </p:sp>
      <p:sp>
        <p:nvSpPr>
          <p:cNvPr id="6" name="Marcador de pie de página 5">
            <a:extLst>
              <a:ext uri="{FF2B5EF4-FFF2-40B4-BE49-F238E27FC236}">
                <a16:creationId xmlns:a16="http://schemas.microsoft.com/office/drawing/2014/main" id="{A271FF02-57FF-3C47-F0A0-069D5351C2D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FDB582D9-A436-E55B-E7C7-FB02B00BDC9B}"/>
              </a:ext>
            </a:extLst>
          </p:cNvPr>
          <p:cNvSpPr>
            <a:spLocks noGrp="1"/>
          </p:cNvSpPr>
          <p:nvPr>
            <p:ph type="sldNum" sz="quarter" idx="12"/>
          </p:nvPr>
        </p:nvSpPr>
        <p:spPr/>
        <p:txBody>
          <a:bodyPr/>
          <a:lstStyle/>
          <a:p>
            <a:fld id="{88E1B2F9-3B1C-4967-856A-F7149D8E0B1F}" type="slidenum">
              <a:rPr lang="es-ES" smtClean="0"/>
              <a:t>‹Nº›</a:t>
            </a:fld>
            <a:endParaRPr lang="es-ES"/>
          </a:p>
        </p:txBody>
      </p:sp>
    </p:spTree>
    <p:extLst>
      <p:ext uri="{BB962C8B-B14F-4D97-AF65-F5344CB8AC3E}">
        <p14:creationId xmlns:p14="http://schemas.microsoft.com/office/powerpoint/2010/main" val="1112331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4FFFFD-8A2C-B4DC-EE38-8C31897B52E7}"/>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DA0FDF98-C232-958D-B7F3-3657454BBD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9F1C83D-1AFB-643B-A422-FB303B36BA3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B98743C7-0D92-654C-B9CB-0574C453FE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8C1309D-52CC-BDF1-2DD9-299EB5A44A5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60A7921F-C350-CA02-0057-F558692A6D2D}"/>
              </a:ext>
            </a:extLst>
          </p:cNvPr>
          <p:cNvSpPr>
            <a:spLocks noGrp="1"/>
          </p:cNvSpPr>
          <p:nvPr>
            <p:ph type="dt" sz="half" idx="10"/>
          </p:nvPr>
        </p:nvSpPr>
        <p:spPr/>
        <p:txBody>
          <a:bodyPr/>
          <a:lstStyle/>
          <a:p>
            <a:fld id="{8B9AF47C-8565-4A13-9941-31A6E10B0178}" type="datetimeFigureOut">
              <a:rPr lang="es-ES" smtClean="0"/>
              <a:t>8/4/25</a:t>
            </a:fld>
            <a:endParaRPr lang="es-ES"/>
          </a:p>
        </p:txBody>
      </p:sp>
      <p:sp>
        <p:nvSpPr>
          <p:cNvPr id="8" name="Marcador de pie de página 7">
            <a:extLst>
              <a:ext uri="{FF2B5EF4-FFF2-40B4-BE49-F238E27FC236}">
                <a16:creationId xmlns:a16="http://schemas.microsoft.com/office/drawing/2014/main" id="{FDF736E4-98EE-7321-8B25-190B910B2334}"/>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78AB63ED-1E64-9682-C6EC-56FDD4438F5A}"/>
              </a:ext>
            </a:extLst>
          </p:cNvPr>
          <p:cNvSpPr>
            <a:spLocks noGrp="1"/>
          </p:cNvSpPr>
          <p:nvPr>
            <p:ph type="sldNum" sz="quarter" idx="12"/>
          </p:nvPr>
        </p:nvSpPr>
        <p:spPr/>
        <p:txBody>
          <a:bodyPr/>
          <a:lstStyle/>
          <a:p>
            <a:fld id="{88E1B2F9-3B1C-4967-856A-F7149D8E0B1F}" type="slidenum">
              <a:rPr lang="es-ES" smtClean="0"/>
              <a:t>‹Nº›</a:t>
            </a:fld>
            <a:endParaRPr lang="es-ES"/>
          </a:p>
        </p:txBody>
      </p:sp>
    </p:spTree>
    <p:extLst>
      <p:ext uri="{BB962C8B-B14F-4D97-AF65-F5344CB8AC3E}">
        <p14:creationId xmlns:p14="http://schemas.microsoft.com/office/powerpoint/2010/main" val="1705142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A913A0-8D2F-7658-B851-1A42808471D8}"/>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9200D845-D59F-65DC-0D68-4D8B97740154}"/>
              </a:ext>
            </a:extLst>
          </p:cNvPr>
          <p:cNvSpPr>
            <a:spLocks noGrp="1"/>
          </p:cNvSpPr>
          <p:nvPr>
            <p:ph type="dt" sz="half" idx="10"/>
          </p:nvPr>
        </p:nvSpPr>
        <p:spPr/>
        <p:txBody>
          <a:bodyPr/>
          <a:lstStyle/>
          <a:p>
            <a:fld id="{8B9AF47C-8565-4A13-9941-31A6E10B0178}" type="datetimeFigureOut">
              <a:rPr lang="es-ES" smtClean="0"/>
              <a:t>8/4/25</a:t>
            </a:fld>
            <a:endParaRPr lang="es-ES"/>
          </a:p>
        </p:txBody>
      </p:sp>
      <p:sp>
        <p:nvSpPr>
          <p:cNvPr id="4" name="Marcador de pie de página 3">
            <a:extLst>
              <a:ext uri="{FF2B5EF4-FFF2-40B4-BE49-F238E27FC236}">
                <a16:creationId xmlns:a16="http://schemas.microsoft.com/office/drawing/2014/main" id="{5B5449CA-0FA0-C2A0-9028-5D27BAC0DA0C}"/>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6F6B8C7E-1670-5930-BCC6-42D7B588F0E4}"/>
              </a:ext>
            </a:extLst>
          </p:cNvPr>
          <p:cNvSpPr>
            <a:spLocks noGrp="1"/>
          </p:cNvSpPr>
          <p:nvPr>
            <p:ph type="sldNum" sz="quarter" idx="12"/>
          </p:nvPr>
        </p:nvSpPr>
        <p:spPr/>
        <p:txBody>
          <a:bodyPr/>
          <a:lstStyle/>
          <a:p>
            <a:fld id="{88E1B2F9-3B1C-4967-856A-F7149D8E0B1F}" type="slidenum">
              <a:rPr lang="es-ES" smtClean="0"/>
              <a:t>‹Nº›</a:t>
            </a:fld>
            <a:endParaRPr lang="es-ES"/>
          </a:p>
        </p:txBody>
      </p:sp>
    </p:spTree>
    <p:extLst>
      <p:ext uri="{BB962C8B-B14F-4D97-AF65-F5344CB8AC3E}">
        <p14:creationId xmlns:p14="http://schemas.microsoft.com/office/powerpoint/2010/main" val="2113935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379ECA1-44CB-7D75-D67C-7872C348084F}"/>
              </a:ext>
            </a:extLst>
          </p:cNvPr>
          <p:cNvSpPr>
            <a:spLocks noGrp="1"/>
          </p:cNvSpPr>
          <p:nvPr>
            <p:ph type="dt" sz="half" idx="10"/>
          </p:nvPr>
        </p:nvSpPr>
        <p:spPr/>
        <p:txBody>
          <a:bodyPr/>
          <a:lstStyle/>
          <a:p>
            <a:fld id="{8B9AF47C-8565-4A13-9941-31A6E10B0178}" type="datetimeFigureOut">
              <a:rPr lang="es-ES" smtClean="0"/>
              <a:t>8/4/25</a:t>
            </a:fld>
            <a:endParaRPr lang="es-ES"/>
          </a:p>
        </p:txBody>
      </p:sp>
      <p:sp>
        <p:nvSpPr>
          <p:cNvPr id="3" name="Marcador de pie de página 2">
            <a:extLst>
              <a:ext uri="{FF2B5EF4-FFF2-40B4-BE49-F238E27FC236}">
                <a16:creationId xmlns:a16="http://schemas.microsoft.com/office/drawing/2014/main" id="{998EB4F7-4230-1C14-E0E6-34B88DF30057}"/>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2F96BA06-57BF-43B8-CB7A-0D699215C384}"/>
              </a:ext>
            </a:extLst>
          </p:cNvPr>
          <p:cNvSpPr>
            <a:spLocks noGrp="1"/>
          </p:cNvSpPr>
          <p:nvPr>
            <p:ph type="sldNum" sz="quarter" idx="12"/>
          </p:nvPr>
        </p:nvSpPr>
        <p:spPr/>
        <p:txBody>
          <a:bodyPr/>
          <a:lstStyle/>
          <a:p>
            <a:fld id="{88E1B2F9-3B1C-4967-856A-F7149D8E0B1F}" type="slidenum">
              <a:rPr lang="es-ES" smtClean="0"/>
              <a:t>‹Nº›</a:t>
            </a:fld>
            <a:endParaRPr lang="es-ES"/>
          </a:p>
        </p:txBody>
      </p:sp>
    </p:spTree>
    <p:extLst>
      <p:ext uri="{BB962C8B-B14F-4D97-AF65-F5344CB8AC3E}">
        <p14:creationId xmlns:p14="http://schemas.microsoft.com/office/powerpoint/2010/main" val="2321498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D9A944-4D19-1BA2-AC2E-6A9959262AB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7134FF9-5522-A9E3-3E8B-48D7EC4D7E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54D79102-446E-2187-1A45-259D0E3B02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071D53A-B0B9-A472-6270-7868D2B6E87C}"/>
              </a:ext>
            </a:extLst>
          </p:cNvPr>
          <p:cNvSpPr>
            <a:spLocks noGrp="1"/>
          </p:cNvSpPr>
          <p:nvPr>
            <p:ph type="dt" sz="half" idx="10"/>
          </p:nvPr>
        </p:nvSpPr>
        <p:spPr/>
        <p:txBody>
          <a:bodyPr/>
          <a:lstStyle/>
          <a:p>
            <a:fld id="{8B9AF47C-8565-4A13-9941-31A6E10B0178}" type="datetimeFigureOut">
              <a:rPr lang="es-ES" smtClean="0"/>
              <a:t>8/4/25</a:t>
            </a:fld>
            <a:endParaRPr lang="es-ES"/>
          </a:p>
        </p:txBody>
      </p:sp>
      <p:sp>
        <p:nvSpPr>
          <p:cNvPr id="6" name="Marcador de pie de página 5">
            <a:extLst>
              <a:ext uri="{FF2B5EF4-FFF2-40B4-BE49-F238E27FC236}">
                <a16:creationId xmlns:a16="http://schemas.microsoft.com/office/drawing/2014/main" id="{7C334DAD-E545-66EE-FCC1-FF6C5E44175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0D90481-6E7E-6008-68B3-2863C137260F}"/>
              </a:ext>
            </a:extLst>
          </p:cNvPr>
          <p:cNvSpPr>
            <a:spLocks noGrp="1"/>
          </p:cNvSpPr>
          <p:nvPr>
            <p:ph type="sldNum" sz="quarter" idx="12"/>
          </p:nvPr>
        </p:nvSpPr>
        <p:spPr/>
        <p:txBody>
          <a:bodyPr/>
          <a:lstStyle/>
          <a:p>
            <a:fld id="{88E1B2F9-3B1C-4967-856A-F7149D8E0B1F}" type="slidenum">
              <a:rPr lang="es-ES" smtClean="0"/>
              <a:t>‹Nº›</a:t>
            </a:fld>
            <a:endParaRPr lang="es-ES"/>
          </a:p>
        </p:txBody>
      </p:sp>
    </p:spTree>
    <p:extLst>
      <p:ext uri="{BB962C8B-B14F-4D97-AF65-F5344CB8AC3E}">
        <p14:creationId xmlns:p14="http://schemas.microsoft.com/office/powerpoint/2010/main" val="3875227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29FD2E-387E-3F5E-44D5-80B0E2D10B3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F8B5000A-E119-15D9-4504-C2DC77E4CF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BADD3283-5A2C-71DE-65F1-3D5C3067DD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7175B80-34FD-6F58-0069-FAA9B0F32C6C}"/>
              </a:ext>
            </a:extLst>
          </p:cNvPr>
          <p:cNvSpPr>
            <a:spLocks noGrp="1"/>
          </p:cNvSpPr>
          <p:nvPr>
            <p:ph type="dt" sz="half" idx="10"/>
          </p:nvPr>
        </p:nvSpPr>
        <p:spPr/>
        <p:txBody>
          <a:bodyPr/>
          <a:lstStyle/>
          <a:p>
            <a:fld id="{8B9AF47C-8565-4A13-9941-31A6E10B0178}" type="datetimeFigureOut">
              <a:rPr lang="es-ES" smtClean="0"/>
              <a:t>8/4/25</a:t>
            </a:fld>
            <a:endParaRPr lang="es-ES"/>
          </a:p>
        </p:txBody>
      </p:sp>
      <p:sp>
        <p:nvSpPr>
          <p:cNvPr id="6" name="Marcador de pie de página 5">
            <a:extLst>
              <a:ext uri="{FF2B5EF4-FFF2-40B4-BE49-F238E27FC236}">
                <a16:creationId xmlns:a16="http://schemas.microsoft.com/office/drawing/2014/main" id="{67618837-1537-4708-690F-E477FBAB38E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387B522-1FA9-955D-90B0-9465335A9844}"/>
              </a:ext>
            </a:extLst>
          </p:cNvPr>
          <p:cNvSpPr>
            <a:spLocks noGrp="1"/>
          </p:cNvSpPr>
          <p:nvPr>
            <p:ph type="sldNum" sz="quarter" idx="12"/>
          </p:nvPr>
        </p:nvSpPr>
        <p:spPr/>
        <p:txBody>
          <a:bodyPr/>
          <a:lstStyle/>
          <a:p>
            <a:fld id="{88E1B2F9-3B1C-4967-856A-F7149D8E0B1F}" type="slidenum">
              <a:rPr lang="es-ES" smtClean="0"/>
              <a:t>‹Nº›</a:t>
            </a:fld>
            <a:endParaRPr lang="es-ES"/>
          </a:p>
        </p:txBody>
      </p:sp>
    </p:spTree>
    <p:extLst>
      <p:ext uri="{BB962C8B-B14F-4D97-AF65-F5344CB8AC3E}">
        <p14:creationId xmlns:p14="http://schemas.microsoft.com/office/powerpoint/2010/main" val="1847411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E02F35-4643-C882-48CD-C8C882B84876}"/>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7774938-A6E4-31D3-8A49-95078AFECDB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F4754E9-1882-A80C-7D32-A1816226E691}"/>
              </a:ext>
            </a:extLst>
          </p:cNvPr>
          <p:cNvSpPr>
            <a:spLocks noGrp="1"/>
          </p:cNvSpPr>
          <p:nvPr>
            <p:ph type="dt" sz="half" idx="10"/>
          </p:nvPr>
        </p:nvSpPr>
        <p:spPr/>
        <p:txBody>
          <a:bodyPr/>
          <a:lstStyle/>
          <a:p>
            <a:fld id="{8B9AF47C-8565-4A13-9941-31A6E10B0178}" type="datetimeFigureOut">
              <a:rPr lang="es-ES" smtClean="0"/>
              <a:t>8/4/25</a:t>
            </a:fld>
            <a:endParaRPr lang="es-ES"/>
          </a:p>
        </p:txBody>
      </p:sp>
      <p:sp>
        <p:nvSpPr>
          <p:cNvPr id="5" name="Marcador de pie de página 4">
            <a:extLst>
              <a:ext uri="{FF2B5EF4-FFF2-40B4-BE49-F238E27FC236}">
                <a16:creationId xmlns:a16="http://schemas.microsoft.com/office/drawing/2014/main" id="{480FEBD8-F0FE-C016-BBD0-8BA11C21B78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C287644-DC8D-7003-5A65-706F6A12BEC8}"/>
              </a:ext>
            </a:extLst>
          </p:cNvPr>
          <p:cNvSpPr>
            <a:spLocks noGrp="1"/>
          </p:cNvSpPr>
          <p:nvPr>
            <p:ph type="sldNum" sz="quarter" idx="12"/>
          </p:nvPr>
        </p:nvSpPr>
        <p:spPr/>
        <p:txBody>
          <a:bodyPr/>
          <a:lstStyle/>
          <a:p>
            <a:fld id="{88E1B2F9-3B1C-4967-856A-F7149D8E0B1F}" type="slidenum">
              <a:rPr lang="es-ES" smtClean="0"/>
              <a:t>‹Nº›</a:t>
            </a:fld>
            <a:endParaRPr lang="es-ES"/>
          </a:p>
        </p:txBody>
      </p:sp>
    </p:spTree>
    <p:extLst>
      <p:ext uri="{BB962C8B-B14F-4D97-AF65-F5344CB8AC3E}">
        <p14:creationId xmlns:p14="http://schemas.microsoft.com/office/powerpoint/2010/main" val="60084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14D0E84-8236-8182-A468-0715A6F00DD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92CB9E9B-CF61-4AD6-C47D-A0BA7E4376C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91248E3-EC40-BBAE-5F73-C0D6204E1252}"/>
              </a:ext>
            </a:extLst>
          </p:cNvPr>
          <p:cNvSpPr>
            <a:spLocks noGrp="1"/>
          </p:cNvSpPr>
          <p:nvPr>
            <p:ph type="dt" sz="half" idx="10"/>
          </p:nvPr>
        </p:nvSpPr>
        <p:spPr/>
        <p:txBody>
          <a:bodyPr/>
          <a:lstStyle/>
          <a:p>
            <a:fld id="{8B9AF47C-8565-4A13-9941-31A6E10B0178}" type="datetimeFigureOut">
              <a:rPr lang="es-ES" smtClean="0"/>
              <a:t>8/4/25</a:t>
            </a:fld>
            <a:endParaRPr lang="es-ES"/>
          </a:p>
        </p:txBody>
      </p:sp>
      <p:sp>
        <p:nvSpPr>
          <p:cNvPr id="5" name="Marcador de pie de página 4">
            <a:extLst>
              <a:ext uri="{FF2B5EF4-FFF2-40B4-BE49-F238E27FC236}">
                <a16:creationId xmlns:a16="http://schemas.microsoft.com/office/drawing/2014/main" id="{631DD260-953E-24B9-5F83-E398E9B6537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8FAE780-2420-AF92-DCA7-46D7881031A7}"/>
              </a:ext>
            </a:extLst>
          </p:cNvPr>
          <p:cNvSpPr>
            <a:spLocks noGrp="1"/>
          </p:cNvSpPr>
          <p:nvPr>
            <p:ph type="sldNum" sz="quarter" idx="12"/>
          </p:nvPr>
        </p:nvSpPr>
        <p:spPr/>
        <p:txBody>
          <a:bodyPr/>
          <a:lstStyle/>
          <a:p>
            <a:fld id="{88E1B2F9-3B1C-4967-856A-F7149D8E0B1F}" type="slidenum">
              <a:rPr lang="es-ES" smtClean="0"/>
              <a:t>‹Nº›</a:t>
            </a:fld>
            <a:endParaRPr lang="es-ES"/>
          </a:p>
        </p:txBody>
      </p:sp>
    </p:spTree>
    <p:extLst>
      <p:ext uri="{BB962C8B-B14F-4D97-AF65-F5344CB8AC3E}">
        <p14:creationId xmlns:p14="http://schemas.microsoft.com/office/powerpoint/2010/main" val="1445587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E477A93-1576-90C2-D74E-85511DAE63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E7D1E02C-53F3-9FB1-788E-C9F328C5E0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895442B-5262-5559-93AF-40FB23B87E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9AF47C-8565-4A13-9941-31A6E10B0178}" type="datetimeFigureOut">
              <a:rPr lang="es-ES" smtClean="0"/>
              <a:t>8/4/25</a:t>
            </a:fld>
            <a:endParaRPr lang="es-ES"/>
          </a:p>
        </p:txBody>
      </p:sp>
      <p:sp>
        <p:nvSpPr>
          <p:cNvPr id="5" name="Marcador de pie de página 4">
            <a:extLst>
              <a:ext uri="{FF2B5EF4-FFF2-40B4-BE49-F238E27FC236}">
                <a16:creationId xmlns:a16="http://schemas.microsoft.com/office/drawing/2014/main" id="{4BB53854-31C6-B0AE-6628-1D5034471A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EE32DB22-B63B-D396-41A6-6BB365EA34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E1B2F9-3B1C-4967-856A-F7149D8E0B1F}" type="slidenum">
              <a:rPr lang="es-ES" smtClean="0"/>
              <a:t>‹Nº›</a:t>
            </a:fld>
            <a:endParaRPr lang="es-ES"/>
          </a:p>
        </p:txBody>
      </p:sp>
    </p:spTree>
    <p:extLst>
      <p:ext uri="{BB962C8B-B14F-4D97-AF65-F5344CB8AC3E}">
        <p14:creationId xmlns:p14="http://schemas.microsoft.com/office/powerpoint/2010/main" val="6188272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customXml" Target="../ink/ink1.xml"/><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2.png"/></Relationships>
</file>

<file path=ppt/slides/_rels/slide13.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F7E260B1-B018-7AB9-9D25-48C79B576005}"/>
              </a:ext>
            </a:extLst>
          </p:cNvPr>
          <p:cNvSpPr txBox="1">
            <a:spLocks/>
          </p:cNvSpPr>
          <p:nvPr/>
        </p:nvSpPr>
        <p:spPr>
          <a:xfrm>
            <a:off x="11151" y="804010"/>
            <a:ext cx="12192000" cy="3239071"/>
          </a:xfrm>
          <a:prstGeom prst="rect">
            <a:avLst/>
          </a:prstGeom>
          <a:solidFill>
            <a:schemeClr val="accent6">
              <a:lumMod val="20000"/>
              <a:lumOff val="80000"/>
            </a:schemeClr>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s-ES" sz="4400" b="1" dirty="0"/>
              <a:t>	Física Computacional – Ejercicio 2:</a:t>
            </a:r>
          </a:p>
          <a:p>
            <a:pPr algn="l"/>
            <a:endParaRPr lang="es-ES" sz="4400" b="1" dirty="0"/>
          </a:p>
          <a:p>
            <a:pPr algn="l"/>
            <a:r>
              <a:rPr lang="es-ES" sz="3600" b="1" dirty="0"/>
              <a:t>	Modelo de </a:t>
            </a:r>
            <a:r>
              <a:rPr lang="es-ES" sz="3600" b="1" dirty="0" err="1"/>
              <a:t>Hopfield</a:t>
            </a:r>
            <a:r>
              <a:rPr lang="es-ES" sz="3600" b="1" dirty="0"/>
              <a:t> de red neuronal.</a:t>
            </a:r>
            <a:br>
              <a:rPr lang="es-ES" sz="1100" b="1" dirty="0"/>
            </a:br>
            <a:endParaRPr lang="es-ES" sz="1100" b="1" dirty="0"/>
          </a:p>
          <a:p>
            <a:pPr algn="l"/>
            <a:r>
              <a:rPr lang="es-ES" sz="3200" b="1" dirty="0"/>
              <a:t>	Introducción a Métodos Monte Carlo.</a:t>
            </a:r>
          </a:p>
        </p:txBody>
      </p:sp>
      <p:sp>
        <p:nvSpPr>
          <p:cNvPr id="10" name="Rectángulo 9">
            <a:extLst>
              <a:ext uri="{FF2B5EF4-FFF2-40B4-BE49-F238E27FC236}">
                <a16:creationId xmlns:a16="http://schemas.microsoft.com/office/drawing/2014/main" id="{2D830492-B030-2C88-D700-C43C322720C8}"/>
              </a:ext>
            </a:extLst>
          </p:cNvPr>
          <p:cNvSpPr/>
          <p:nvPr/>
        </p:nvSpPr>
        <p:spPr>
          <a:xfrm>
            <a:off x="0" y="804010"/>
            <a:ext cx="717176" cy="3239071"/>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ln>
                <a:solidFill>
                  <a:srgbClr val="FF0000"/>
                </a:solidFill>
              </a:ln>
              <a:solidFill>
                <a:schemeClr val="accent6">
                  <a:lumMod val="60000"/>
                  <a:lumOff val="40000"/>
                </a:schemeClr>
              </a:solidFill>
            </a:endParaRPr>
          </a:p>
        </p:txBody>
      </p:sp>
    </p:spTree>
    <p:extLst>
      <p:ext uri="{BB962C8B-B14F-4D97-AF65-F5344CB8AC3E}">
        <p14:creationId xmlns:p14="http://schemas.microsoft.com/office/powerpoint/2010/main" val="1074760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03B0A1D-DB39-9F09-B059-FC7BAD43C5CF}"/>
              </a:ext>
            </a:extLst>
          </p:cNvPr>
          <p:cNvSpPr>
            <a:spLocks noGrp="1"/>
          </p:cNvSpPr>
          <p:nvPr>
            <p:ph idx="1"/>
          </p:nvPr>
        </p:nvSpPr>
        <p:spPr>
          <a:xfrm>
            <a:off x="345141" y="427131"/>
            <a:ext cx="4648200" cy="5812304"/>
          </a:xfrm>
        </p:spPr>
        <p:txBody>
          <a:bodyPr>
            <a:normAutofit/>
          </a:bodyPr>
          <a:lstStyle/>
          <a:p>
            <a:pPr>
              <a:lnSpc>
                <a:spcPct val="120000"/>
              </a:lnSpc>
            </a:pPr>
            <a:r>
              <a:rPr lang="es-ES" sz="1200" b="0" i="0" dirty="0">
                <a:solidFill>
                  <a:srgbClr val="202122"/>
                </a:solidFill>
                <a:effectLst/>
                <a:latin typeface="Arial" panose="020B0604020202020204" pitchFamily="34" charset="0"/>
              </a:rPr>
              <a:t>Una </a:t>
            </a:r>
            <a:r>
              <a:rPr lang="es-ES" sz="1200" b="1" i="0" dirty="0">
                <a:solidFill>
                  <a:srgbClr val="202122"/>
                </a:solidFill>
                <a:effectLst/>
                <a:latin typeface="Arial" panose="020B0604020202020204" pitchFamily="34" charset="0"/>
              </a:rPr>
              <a:t>red de </a:t>
            </a:r>
            <a:r>
              <a:rPr lang="es-ES" sz="1200" b="1" i="0" dirty="0" err="1">
                <a:solidFill>
                  <a:srgbClr val="202122"/>
                </a:solidFill>
                <a:effectLst/>
                <a:latin typeface="Arial" panose="020B0604020202020204" pitchFamily="34" charset="0"/>
              </a:rPr>
              <a:t>Hopfield</a:t>
            </a:r>
            <a:r>
              <a:rPr lang="es-ES" sz="1200" b="0" i="0" dirty="0">
                <a:solidFill>
                  <a:srgbClr val="202122"/>
                </a:solidFill>
                <a:effectLst/>
                <a:latin typeface="Arial" panose="020B0604020202020204" pitchFamily="34" charset="0"/>
              </a:rPr>
              <a:t> es </a:t>
            </a:r>
            <a:r>
              <a:rPr lang="es-ES" sz="1200" b="1" i="0" u="none" strike="noStrike" dirty="0">
                <a:effectLst/>
                <a:latin typeface="Arial" panose="020B0604020202020204" pitchFamily="34" charset="0"/>
              </a:rPr>
              <a:t>red neuronal artificial</a:t>
            </a:r>
            <a:r>
              <a:rPr lang="es-ES" sz="1200" b="1" i="0" dirty="0">
                <a:solidFill>
                  <a:srgbClr val="202122"/>
                </a:solidFill>
                <a:effectLst/>
                <a:latin typeface="Arial" panose="020B0604020202020204" pitchFamily="34" charset="0"/>
              </a:rPr>
              <a:t> recurrente </a:t>
            </a:r>
            <a:r>
              <a:rPr lang="es-ES" sz="1200" i="0" dirty="0">
                <a:solidFill>
                  <a:srgbClr val="202122"/>
                </a:solidFill>
                <a:effectLst/>
                <a:latin typeface="Arial" panose="020B0604020202020204" pitchFamily="34" charset="0"/>
              </a:rPr>
              <a:t>con la </a:t>
            </a:r>
            <a:r>
              <a:rPr lang="es-ES" sz="1200" b="1" i="0" dirty="0">
                <a:solidFill>
                  <a:srgbClr val="202122"/>
                </a:solidFill>
                <a:effectLst/>
                <a:latin typeface="Arial" panose="020B0604020202020204" pitchFamily="34" charset="0"/>
              </a:rPr>
              <a:t>propiedad de memoria asociativa, </a:t>
            </a:r>
            <a:r>
              <a:rPr lang="es-ES" sz="1200" i="0" dirty="0">
                <a:solidFill>
                  <a:srgbClr val="202122"/>
                </a:solidFill>
                <a:effectLst/>
                <a:latin typeface="Arial" panose="020B0604020202020204" pitchFamily="34" charset="0"/>
              </a:rPr>
              <a:t>compuesta por </a:t>
            </a:r>
            <a:r>
              <a:rPr lang="es-ES" sz="1200" b="1" i="0" dirty="0">
                <a:solidFill>
                  <a:srgbClr val="202122"/>
                </a:solidFill>
                <a:effectLst/>
                <a:latin typeface="Arial" panose="020B0604020202020204" pitchFamily="34" charset="0"/>
              </a:rPr>
              <a:t>neuronas binarias. </a:t>
            </a:r>
          </a:p>
          <a:p>
            <a:pPr>
              <a:lnSpc>
                <a:spcPct val="120000"/>
              </a:lnSpc>
            </a:pPr>
            <a:r>
              <a:rPr lang="es-ES" sz="1200" b="0" dirty="0">
                <a:solidFill>
                  <a:srgbClr val="202122"/>
                </a:solidFill>
                <a:latin typeface="Arial" panose="020B0604020202020204" pitchFamily="34" charset="0"/>
              </a:rPr>
              <a:t>El modelo de </a:t>
            </a:r>
            <a:r>
              <a:rPr lang="es-ES" sz="1200" b="0" dirty="0" err="1">
                <a:solidFill>
                  <a:srgbClr val="202122"/>
                </a:solidFill>
                <a:latin typeface="Arial" panose="020B0604020202020204" pitchFamily="34" charset="0"/>
              </a:rPr>
              <a:t>Hopfield</a:t>
            </a:r>
            <a:r>
              <a:rPr lang="es-ES" sz="1200" b="0" dirty="0">
                <a:solidFill>
                  <a:srgbClr val="202122"/>
                </a:solidFill>
                <a:latin typeface="Arial" panose="020B0604020202020204" pitchFamily="34" charset="0"/>
              </a:rPr>
              <a:t> fue </a:t>
            </a:r>
            <a:r>
              <a:rPr lang="es-ES" sz="1200" b="0" i="0" dirty="0">
                <a:solidFill>
                  <a:srgbClr val="202122"/>
                </a:solidFill>
                <a:effectLst/>
                <a:latin typeface="Arial" panose="020B0604020202020204" pitchFamily="34" charset="0"/>
              </a:rPr>
              <a:t>propuesto por </a:t>
            </a:r>
            <a:r>
              <a:rPr lang="es-ES" sz="1200" b="0" i="0" u="none" strike="noStrike" dirty="0">
                <a:effectLst/>
                <a:latin typeface="Arial" panose="020B0604020202020204" pitchFamily="34" charset="0"/>
              </a:rPr>
              <a:t>John </a:t>
            </a:r>
            <a:r>
              <a:rPr lang="es-ES" sz="1200" b="0" i="0" u="none" strike="noStrike" dirty="0" err="1">
                <a:effectLst/>
                <a:latin typeface="Arial" panose="020B0604020202020204" pitchFamily="34" charset="0"/>
              </a:rPr>
              <a:t>Hopfield</a:t>
            </a:r>
            <a:r>
              <a:rPr lang="es-ES" sz="1200" b="0" i="0" u="none" strike="noStrike" dirty="0">
                <a:effectLst/>
                <a:latin typeface="Arial" panose="020B0604020202020204" pitchFamily="34" charset="0"/>
              </a:rPr>
              <a:t> </a:t>
            </a:r>
            <a:r>
              <a:rPr lang="es-ES" sz="1200" b="0" i="0" u="none" strike="noStrike" dirty="0">
                <a:solidFill>
                  <a:srgbClr val="B020A9"/>
                </a:solidFill>
                <a:effectLst/>
                <a:latin typeface="Arial" panose="020B0604020202020204" pitchFamily="34" charset="0"/>
              </a:rPr>
              <a:t>inspirándose directamente en </a:t>
            </a:r>
            <a:r>
              <a:rPr lang="es-ES" sz="1200" dirty="0">
                <a:solidFill>
                  <a:srgbClr val="B020A9"/>
                </a:solidFill>
                <a:latin typeface="Arial" panose="020B0604020202020204" pitchFamily="34" charset="0"/>
                <a:cs typeface="Arial" panose="020B0604020202020204" pitchFamily="34" charset="0"/>
              </a:rPr>
              <a:t> los </a:t>
            </a:r>
            <a:r>
              <a:rPr lang="es-ES" sz="1200" b="1" dirty="0">
                <a:solidFill>
                  <a:srgbClr val="B020A9"/>
                </a:solidFill>
                <a:latin typeface="Arial" panose="020B0604020202020204" pitchFamily="34" charset="0"/>
                <a:cs typeface="Arial" panose="020B0604020202020204" pitchFamily="34" charset="0"/>
              </a:rPr>
              <a:t>modelos de espines </a:t>
            </a:r>
            <a:r>
              <a:rPr lang="es-ES" sz="1200" b="1" dirty="0">
                <a:latin typeface="Arial" panose="020B0604020202020204" pitchFamily="34" charset="0"/>
                <a:cs typeface="Arial" panose="020B0604020202020204" pitchFamily="34" charset="0"/>
              </a:rPr>
              <a:t>de la física estadística</a:t>
            </a:r>
            <a:r>
              <a:rPr lang="es-ES" sz="1200" dirty="0">
                <a:latin typeface="Arial" panose="020B0604020202020204" pitchFamily="34" charset="0"/>
                <a:cs typeface="Arial" panose="020B0604020202020204" pitchFamily="34" charset="0"/>
              </a:rPr>
              <a:t>, como el </a:t>
            </a:r>
            <a:r>
              <a:rPr lang="es-ES" sz="1200" b="1" dirty="0">
                <a:latin typeface="Arial" panose="020B0604020202020204" pitchFamily="34" charset="0"/>
                <a:cs typeface="Arial" panose="020B0604020202020204" pitchFamily="34" charset="0"/>
              </a:rPr>
              <a:t>modelo de Ising. </a:t>
            </a:r>
            <a:endParaRPr lang="es-ES" sz="1200" dirty="0">
              <a:latin typeface="Arial" panose="020B0604020202020204" pitchFamily="34" charset="0"/>
              <a:cs typeface="Arial" panose="020B0604020202020204" pitchFamily="34" charset="0"/>
            </a:endParaRPr>
          </a:p>
          <a:p>
            <a:pPr>
              <a:lnSpc>
                <a:spcPct val="120000"/>
              </a:lnSpc>
            </a:pPr>
            <a:r>
              <a:rPr lang="es-ES" sz="1200" dirty="0" err="1">
                <a:latin typeface="Arial" panose="020B0604020202020204" pitchFamily="34" charset="0"/>
                <a:cs typeface="Arial" panose="020B0604020202020204" pitchFamily="34" charset="0"/>
              </a:rPr>
              <a:t>Hopfield</a:t>
            </a:r>
            <a:r>
              <a:rPr lang="es-ES" sz="1200" dirty="0">
                <a:latin typeface="Arial" panose="020B0604020202020204" pitchFamily="34" charset="0"/>
                <a:cs typeface="Arial" panose="020B0604020202020204" pitchFamily="34" charset="0"/>
              </a:rPr>
              <a:t> formalizó una función de </a:t>
            </a:r>
            <a:r>
              <a:rPr lang="es-ES" sz="1200" b="1" dirty="0">
                <a:latin typeface="Arial" panose="020B0604020202020204" pitchFamily="34" charset="0"/>
                <a:cs typeface="Arial" panose="020B0604020202020204" pitchFamily="34" charset="0"/>
              </a:rPr>
              <a:t>energía</a:t>
            </a:r>
            <a:r>
              <a:rPr lang="es-ES" sz="1200" dirty="0">
                <a:latin typeface="Arial" panose="020B0604020202020204" pitchFamily="34" charset="0"/>
                <a:cs typeface="Arial" panose="020B0604020202020204" pitchFamily="34" charset="0"/>
              </a:rPr>
              <a:t> análoga a la energía de sistemas magnéticos, permitiendo </a:t>
            </a:r>
            <a:r>
              <a:rPr lang="es-ES" sz="1200" dirty="0">
                <a:solidFill>
                  <a:srgbClr val="B020A9"/>
                </a:solidFill>
                <a:latin typeface="Arial" panose="020B0604020202020204" pitchFamily="34" charset="0"/>
                <a:cs typeface="Arial" panose="020B0604020202020204" pitchFamily="34" charset="0"/>
              </a:rPr>
              <a:t>describir la dinámica de la red como un proceso de minimización energética. </a:t>
            </a:r>
            <a:r>
              <a:rPr lang="es-ES" sz="1200" dirty="0">
                <a:latin typeface="Arial" panose="020B0604020202020204" pitchFamily="34" charset="0"/>
                <a:cs typeface="Arial" panose="020B0604020202020204" pitchFamily="34" charset="0"/>
              </a:rPr>
              <a:t>Este paralelismo permitió aplicar herramientas de la mecánica estadística, como la teoría del equilibrio térmico y las transiciones de fase, al análisis de redes neuronales. </a:t>
            </a:r>
          </a:p>
          <a:p>
            <a:pPr>
              <a:lnSpc>
                <a:spcPct val="120000"/>
              </a:lnSpc>
            </a:pPr>
            <a:r>
              <a:rPr lang="es-ES" sz="1200" dirty="0">
                <a:latin typeface="Arial" panose="020B0604020202020204" pitchFamily="34" charset="0"/>
                <a:cs typeface="Arial" panose="020B0604020202020204" pitchFamily="34" charset="0"/>
              </a:rPr>
              <a:t>Investigadores como </a:t>
            </a:r>
            <a:r>
              <a:rPr lang="es-ES" sz="1200" dirty="0" err="1">
                <a:latin typeface="Arial" panose="020B0604020202020204" pitchFamily="34" charset="0"/>
                <a:cs typeface="Arial" panose="020B0604020202020204" pitchFamily="34" charset="0"/>
              </a:rPr>
              <a:t>Amit</a:t>
            </a:r>
            <a:r>
              <a:rPr lang="es-ES" sz="1200" dirty="0">
                <a:latin typeface="Arial" panose="020B0604020202020204" pitchFamily="34" charset="0"/>
                <a:cs typeface="Arial" panose="020B0604020202020204" pitchFamily="34" charset="0"/>
              </a:rPr>
              <a:t> y </a:t>
            </a:r>
            <a:r>
              <a:rPr lang="es-ES" sz="1200" dirty="0" err="1">
                <a:latin typeface="Arial" panose="020B0604020202020204" pitchFamily="34" charset="0"/>
                <a:cs typeface="Arial" panose="020B0604020202020204" pitchFamily="34" charset="0"/>
              </a:rPr>
              <a:t>Sompolinsky</a:t>
            </a:r>
            <a:r>
              <a:rPr lang="es-ES" sz="1200" dirty="0">
                <a:latin typeface="Arial" panose="020B0604020202020204" pitchFamily="34" charset="0"/>
                <a:cs typeface="Arial" panose="020B0604020202020204" pitchFamily="34" charset="0"/>
              </a:rPr>
              <a:t> usaron métodos de física estadística para caracterizar el comportamiento colectivo de estas redes, conectando la neurociencia computacional con la teoría de sistemas desordenados, como los </a:t>
            </a:r>
            <a:r>
              <a:rPr lang="es-ES" sz="1200" b="1" dirty="0">
                <a:latin typeface="Arial" panose="020B0604020202020204" pitchFamily="34" charset="0"/>
                <a:cs typeface="Arial" panose="020B0604020202020204" pitchFamily="34" charset="0"/>
              </a:rPr>
              <a:t>vidrios de espines</a:t>
            </a:r>
            <a:r>
              <a:rPr lang="es-ES" sz="1200" dirty="0">
                <a:latin typeface="Arial" panose="020B0604020202020204" pitchFamily="34" charset="0"/>
                <a:cs typeface="Arial" panose="020B0604020202020204" pitchFamily="34" charset="0"/>
              </a:rPr>
              <a:t>.</a:t>
            </a:r>
          </a:p>
          <a:p>
            <a:pPr>
              <a:lnSpc>
                <a:spcPct val="120000"/>
              </a:lnSpc>
            </a:pPr>
            <a:r>
              <a:rPr lang="es-ES" sz="1200" dirty="0">
                <a:solidFill>
                  <a:srgbClr val="B020A9"/>
                </a:solidFill>
                <a:latin typeface="Arial" panose="020B0604020202020204" pitchFamily="34" charset="0"/>
                <a:cs typeface="Arial" panose="020B0604020202020204" pitchFamily="34" charset="0"/>
              </a:rPr>
              <a:t>La red de </a:t>
            </a:r>
            <a:r>
              <a:rPr lang="es-ES" sz="1200" dirty="0" err="1">
                <a:solidFill>
                  <a:srgbClr val="B020A9"/>
                </a:solidFill>
                <a:latin typeface="Arial" panose="020B0604020202020204" pitchFamily="34" charset="0"/>
                <a:cs typeface="Arial" panose="020B0604020202020204" pitchFamily="34" charset="0"/>
              </a:rPr>
              <a:t>Hopfield</a:t>
            </a:r>
            <a:r>
              <a:rPr lang="es-ES" sz="1200" dirty="0">
                <a:solidFill>
                  <a:srgbClr val="B020A9"/>
                </a:solidFill>
                <a:latin typeface="Arial" panose="020B0604020202020204" pitchFamily="34" charset="0"/>
                <a:cs typeface="Arial" panose="020B0604020202020204" pitchFamily="34" charset="0"/>
              </a:rPr>
              <a:t> es un precursor de las redes neuronales artificiales </a:t>
            </a:r>
            <a:r>
              <a:rPr lang="es-ES" sz="1200" dirty="0">
                <a:latin typeface="Arial" panose="020B0604020202020204" pitchFamily="34" charset="0"/>
                <a:cs typeface="Arial" panose="020B0604020202020204" pitchFamily="34" charset="0"/>
              </a:rPr>
              <a:t>y el aprendizaje automático al introducir la idea de una memoria distribuida y dinámica basada en minimización de la energía. Su arquitectura influyó en modelos posteriores como las Boltzmann Machines y las redes neuronales profundas. </a:t>
            </a:r>
          </a:p>
        </p:txBody>
      </p:sp>
      <p:pic>
        <p:nvPicPr>
          <p:cNvPr id="10242" name="Picture 2" descr="Premio Nobel de Física 2024 a innovaciones en el campo del 'Machine  Learning' | Instituto de Física Teórica">
            <a:extLst>
              <a:ext uri="{FF2B5EF4-FFF2-40B4-BE49-F238E27FC236}">
                <a16:creationId xmlns:a16="http://schemas.microsoft.com/office/drawing/2014/main" id="{0FF5AFC5-7214-90C2-3762-F2BAFC778C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7731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440562-C9DA-8B85-75FB-30FF910BCA6E}"/>
              </a:ext>
            </a:extLst>
          </p:cNvPr>
          <p:cNvSpPr>
            <a:spLocks noGrp="1"/>
          </p:cNvSpPr>
          <p:nvPr>
            <p:ph type="title"/>
          </p:nvPr>
        </p:nvSpPr>
        <p:spPr>
          <a:xfrm>
            <a:off x="-62754" y="87220"/>
            <a:ext cx="12254753" cy="809252"/>
          </a:xfrm>
          <a:solidFill>
            <a:schemeClr val="accent5">
              <a:lumMod val="40000"/>
              <a:lumOff val="60000"/>
            </a:schemeClr>
          </a:solidFill>
        </p:spPr>
        <p:txBody>
          <a:bodyPr>
            <a:normAutofit/>
          </a:bodyPr>
          <a:lstStyle/>
          <a:p>
            <a:pPr algn="r"/>
            <a:r>
              <a:rPr lang="es-ES" sz="2800" dirty="0"/>
              <a:t>Física Estadística y Métodos Monte Carlo</a:t>
            </a: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A592C29-954E-4281-EEAF-A57F37617AD1}"/>
                  </a:ext>
                </a:extLst>
              </p:cNvPr>
              <p:cNvSpPr>
                <a:spLocks noGrp="1"/>
              </p:cNvSpPr>
              <p:nvPr>
                <p:ph idx="1"/>
              </p:nvPr>
            </p:nvSpPr>
            <p:spPr>
              <a:xfrm>
                <a:off x="838200" y="1048872"/>
                <a:ext cx="10618694" cy="5351928"/>
              </a:xfrm>
            </p:spPr>
            <p:txBody>
              <a:bodyPr>
                <a:normAutofit fontScale="77500" lnSpcReduction="20000"/>
              </a:bodyPr>
              <a:lstStyle/>
              <a:p>
                <a:pPr>
                  <a:lnSpc>
                    <a:spcPct val="120000"/>
                  </a:lnSpc>
                </a:pPr>
                <a:r>
                  <a:rPr lang="es-ES" sz="1800" b="0" i="0" u="none" strike="noStrike" baseline="0" dirty="0">
                    <a:solidFill>
                      <a:srgbClr val="000000"/>
                    </a:solidFill>
                    <a:latin typeface="LMRoman17-Regular"/>
                  </a:rPr>
                  <a:t>En el contexto de la </a:t>
                </a:r>
                <a:r>
                  <a:rPr lang="es-ES" sz="1800" b="0" i="0" u="none" strike="noStrike" baseline="0" dirty="0">
                    <a:solidFill>
                      <a:srgbClr val="B020A9"/>
                    </a:solidFill>
                    <a:latin typeface="LMRoman17-Regular"/>
                  </a:rPr>
                  <a:t>Mecánica Estadística de equilibrio </a:t>
                </a:r>
                <a:r>
                  <a:rPr lang="es-ES" sz="1800" b="0" i="0" u="none" strike="noStrike" baseline="0" dirty="0">
                    <a:solidFill>
                      <a:srgbClr val="000000"/>
                    </a:solidFill>
                    <a:latin typeface="LMRoman17-Regular"/>
                  </a:rPr>
                  <a:t>se deriva que, en un sistema en equilibrio termodinámico con una temperatura </a:t>
                </a:r>
                <a14:m>
                  <m:oMath xmlns:m="http://schemas.openxmlformats.org/officeDocument/2006/math">
                    <m:r>
                      <a:rPr lang="es-ES" sz="1800" b="0" i="1" u="none" strike="noStrike" baseline="0" smtClean="0">
                        <a:solidFill>
                          <a:srgbClr val="000000"/>
                        </a:solidFill>
                        <a:latin typeface="Cambria Math" panose="02040503050406030204" pitchFamily="18" charset="0"/>
                      </a:rPr>
                      <m:t>𝑇</m:t>
                    </m:r>
                  </m:oMath>
                </a14:m>
                <a:r>
                  <a:rPr lang="es-ES" sz="1800" b="0" i="0" u="none" strike="noStrike" baseline="0" dirty="0">
                    <a:solidFill>
                      <a:srgbClr val="000000"/>
                    </a:solidFill>
                    <a:latin typeface="LMRoman17-Regular"/>
                  </a:rPr>
                  <a:t>, número de partículas </a:t>
                </a:r>
                <a14:m>
                  <m:oMath xmlns:m="http://schemas.openxmlformats.org/officeDocument/2006/math">
                    <m:r>
                      <a:rPr lang="es-ES" sz="1800" b="0" i="1" u="none" strike="noStrike" baseline="0" smtClean="0">
                        <a:solidFill>
                          <a:srgbClr val="000000"/>
                        </a:solidFill>
                        <a:latin typeface="Cambria Math" panose="02040503050406030204" pitchFamily="18" charset="0"/>
                      </a:rPr>
                      <m:t>𝑁</m:t>
                    </m:r>
                  </m:oMath>
                </a14:m>
                <a:r>
                  <a:rPr lang="es-ES" sz="1800" b="0" i="1" u="none" strike="noStrike" baseline="0" dirty="0">
                    <a:solidFill>
                      <a:srgbClr val="000000"/>
                    </a:solidFill>
                    <a:latin typeface="LMMathItalic12-Regular"/>
                  </a:rPr>
                  <a:t> </a:t>
                </a:r>
                <a:r>
                  <a:rPr lang="es-ES" sz="1800" b="0" i="0" u="none" strike="noStrike" baseline="0" dirty="0">
                    <a:solidFill>
                      <a:srgbClr val="000000"/>
                    </a:solidFill>
                    <a:latin typeface="LMRoman17-Regular"/>
                  </a:rPr>
                  <a:t>y volumen </a:t>
                </a:r>
                <a14:m>
                  <m:oMath xmlns:m="http://schemas.openxmlformats.org/officeDocument/2006/math">
                    <m:r>
                      <a:rPr lang="es-ES" sz="1800" b="0" i="1" u="none" strike="noStrike" baseline="0" smtClean="0">
                        <a:solidFill>
                          <a:srgbClr val="000000"/>
                        </a:solidFill>
                        <a:latin typeface="Cambria Math" panose="02040503050406030204" pitchFamily="18" charset="0"/>
                      </a:rPr>
                      <m:t>𝑉</m:t>
                    </m:r>
                  </m:oMath>
                </a14:m>
                <a:r>
                  <a:rPr lang="es-ES" sz="1800" b="0" i="0" u="none" strike="noStrike" baseline="0" dirty="0">
                    <a:solidFill>
                      <a:srgbClr val="000000"/>
                    </a:solidFill>
                    <a:latin typeface="LMRoman17-Regular"/>
                  </a:rPr>
                  <a:t>, la probabilidad de encontrar a las </a:t>
                </a:r>
                <a14:m>
                  <m:oMath xmlns:m="http://schemas.openxmlformats.org/officeDocument/2006/math">
                    <m:r>
                      <a:rPr lang="es-ES" sz="1800" b="0" i="1" u="none" strike="noStrike" baseline="0" smtClean="0">
                        <a:solidFill>
                          <a:srgbClr val="000000"/>
                        </a:solidFill>
                        <a:latin typeface="Cambria Math" panose="02040503050406030204" pitchFamily="18" charset="0"/>
                      </a:rPr>
                      <m:t>𝑁</m:t>
                    </m:r>
                  </m:oMath>
                </a14:m>
                <a:r>
                  <a:rPr lang="es-ES" sz="1800" b="0" i="1" u="none" strike="noStrike" baseline="0" dirty="0">
                    <a:solidFill>
                      <a:srgbClr val="000000"/>
                    </a:solidFill>
                    <a:latin typeface="LMMathItalic12-Regular"/>
                  </a:rPr>
                  <a:t> </a:t>
                </a:r>
                <a:r>
                  <a:rPr lang="es-ES" sz="1800" dirty="0">
                    <a:solidFill>
                      <a:srgbClr val="000000"/>
                    </a:solidFill>
                    <a:latin typeface="LMRoman17-Regular"/>
                  </a:rPr>
                  <a:t>p</a:t>
                </a:r>
                <a:r>
                  <a:rPr lang="es-ES" sz="1800" b="0" i="0" u="none" strike="noStrike" baseline="0" dirty="0">
                    <a:solidFill>
                      <a:srgbClr val="000000"/>
                    </a:solidFill>
                    <a:latin typeface="LMRoman17-Regular"/>
                  </a:rPr>
                  <a:t>artículas en un estado </a:t>
                </a:r>
                <a14:m>
                  <m:oMath xmlns:m="http://schemas.openxmlformats.org/officeDocument/2006/math">
                    <m:r>
                      <a:rPr lang="es-ES" sz="1800" b="0" i="1" u="none" strike="noStrike" baseline="0" smtClean="0">
                        <a:solidFill>
                          <a:srgbClr val="000000"/>
                        </a:solidFill>
                        <a:latin typeface="Cambria Math" panose="02040503050406030204" pitchFamily="18" charset="0"/>
                      </a:rPr>
                      <m:t>𝑋</m:t>
                    </m:r>
                    <m:r>
                      <a:rPr lang="en-US" sz="1800" b="0" i="1" u="none" strike="noStrike" baseline="0" smtClean="0">
                        <a:solidFill>
                          <a:srgbClr val="000000"/>
                        </a:solidFill>
                        <a:latin typeface="Cambria Math" panose="02040503050406030204" pitchFamily="18" charset="0"/>
                      </a:rPr>
                      <m:t>=</m:t>
                    </m:r>
                    <m:d>
                      <m:dPr>
                        <m:begChr m:val="["/>
                        <m:endChr m:val="]"/>
                        <m:ctrlPr>
                          <a:rPr lang="en-US" sz="1800" b="0" i="1" u="none" strike="noStrike" baseline="0" smtClean="0">
                            <a:solidFill>
                              <a:srgbClr val="000000"/>
                            </a:solidFill>
                            <a:latin typeface="Cambria Math" panose="02040503050406030204" pitchFamily="18" charset="0"/>
                          </a:rPr>
                        </m:ctrlPr>
                      </m:dPr>
                      <m:e>
                        <m:r>
                          <a:rPr lang="en-US" sz="1800" b="0" i="1" u="none" strike="noStrike" baseline="0" smtClean="0">
                            <a:solidFill>
                              <a:srgbClr val="000000"/>
                            </a:solidFill>
                            <a:latin typeface="Cambria Math" panose="02040503050406030204" pitchFamily="18" charset="0"/>
                          </a:rPr>
                          <m:t>𝑥</m:t>
                        </m:r>
                        <m:d>
                          <m:dPr>
                            <m:begChr m:val="["/>
                            <m:endChr m:val="]"/>
                            <m:ctrlPr>
                              <a:rPr lang="en-US" sz="1800" b="0" i="1" u="none" strike="noStrike" baseline="0" smtClean="0">
                                <a:solidFill>
                                  <a:srgbClr val="000000"/>
                                </a:solidFill>
                                <a:latin typeface="Cambria Math" panose="02040503050406030204" pitchFamily="18" charset="0"/>
                              </a:rPr>
                            </m:ctrlPr>
                          </m:dPr>
                          <m:e>
                            <m:r>
                              <a:rPr lang="en-US" sz="1800" b="0" i="1" u="none" strike="noStrike" baseline="0" smtClean="0">
                                <a:solidFill>
                                  <a:srgbClr val="000000"/>
                                </a:solidFill>
                                <a:latin typeface="Cambria Math" panose="02040503050406030204" pitchFamily="18" charset="0"/>
                              </a:rPr>
                              <m:t>0</m:t>
                            </m:r>
                          </m:e>
                        </m:d>
                        <m:r>
                          <a:rPr lang="en-US" sz="1800" b="0" i="1" u="none" strike="noStrike" baseline="0" smtClean="0">
                            <a:solidFill>
                              <a:srgbClr val="000000"/>
                            </a:solidFill>
                            <a:latin typeface="Cambria Math" panose="02040503050406030204" pitchFamily="18" charset="0"/>
                          </a:rPr>
                          <m:t>, </m:t>
                        </m:r>
                        <m:r>
                          <a:rPr lang="en-US" sz="1800" b="0" i="1" u="none" strike="noStrike" baseline="0" smtClean="0">
                            <a:solidFill>
                              <a:srgbClr val="000000"/>
                            </a:solidFill>
                            <a:latin typeface="Cambria Math" panose="02040503050406030204" pitchFamily="18" charset="0"/>
                          </a:rPr>
                          <m:t>𝑥</m:t>
                        </m:r>
                        <m:d>
                          <m:dPr>
                            <m:begChr m:val="["/>
                            <m:endChr m:val="]"/>
                            <m:ctrlPr>
                              <a:rPr lang="en-US" sz="1800" b="0" i="1" u="none" strike="noStrike" baseline="0" smtClean="0">
                                <a:solidFill>
                                  <a:srgbClr val="000000"/>
                                </a:solidFill>
                                <a:latin typeface="Cambria Math" panose="02040503050406030204" pitchFamily="18" charset="0"/>
                              </a:rPr>
                            </m:ctrlPr>
                          </m:dPr>
                          <m:e>
                            <m:r>
                              <a:rPr lang="en-US" sz="1800" b="0" i="1" u="none" strike="noStrike" baseline="0" smtClean="0">
                                <a:solidFill>
                                  <a:srgbClr val="000000"/>
                                </a:solidFill>
                                <a:latin typeface="Cambria Math" panose="02040503050406030204" pitchFamily="18" charset="0"/>
                              </a:rPr>
                              <m:t>1</m:t>
                            </m:r>
                          </m:e>
                        </m:d>
                        <m:r>
                          <a:rPr lang="en-US" sz="1800" b="0" i="1" u="none" strike="noStrike" baseline="0" smtClean="0">
                            <a:solidFill>
                              <a:srgbClr val="000000"/>
                            </a:solidFill>
                            <a:latin typeface="Cambria Math" panose="02040503050406030204" pitchFamily="18" charset="0"/>
                          </a:rPr>
                          <m:t>,…,</m:t>
                        </m:r>
                        <m:r>
                          <a:rPr lang="en-US" sz="1800" b="0" i="1" u="none" strike="noStrike" baseline="0" smtClean="0">
                            <a:solidFill>
                              <a:srgbClr val="000000"/>
                            </a:solidFill>
                            <a:latin typeface="Cambria Math" panose="02040503050406030204" pitchFamily="18" charset="0"/>
                          </a:rPr>
                          <m:t>𝑥</m:t>
                        </m:r>
                        <m:d>
                          <m:dPr>
                            <m:begChr m:val="["/>
                            <m:endChr m:val="]"/>
                            <m:ctrlPr>
                              <a:rPr lang="en-US" sz="1800" b="0" i="1" u="none" strike="noStrike" baseline="0" smtClean="0">
                                <a:solidFill>
                                  <a:srgbClr val="000000"/>
                                </a:solidFill>
                                <a:latin typeface="Cambria Math" panose="02040503050406030204" pitchFamily="18" charset="0"/>
                              </a:rPr>
                            </m:ctrlPr>
                          </m:dPr>
                          <m:e>
                            <m:r>
                              <a:rPr lang="en-US" sz="1800" b="0" i="1" u="none" strike="noStrike" baseline="0" smtClean="0">
                                <a:solidFill>
                                  <a:srgbClr val="000000"/>
                                </a:solidFill>
                                <a:latin typeface="Cambria Math" panose="02040503050406030204" pitchFamily="18" charset="0"/>
                              </a:rPr>
                              <m:t>𝑁</m:t>
                            </m:r>
                            <m:r>
                              <a:rPr lang="en-US" sz="1800" b="0" i="1" u="none" strike="noStrike" baseline="0" smtClean="0">
                                <a:solidFill>
                                  <a:srgbClr val="000000"/>
                                </a:solidFill>
                                <a:latin typeface="Cambria Math" panose="02040503050406030204" pitchFamily="18" charset="0"/>
                              </a:rPr>
                              <m:t>−1</m:t>
                            </m:r>
                          </m:e>
                        </m:d>
                      </m:e>
                    </m:d>
                  </m:oMath>
                </a14:m>
                <a:r>
                  <a:rPr lang="es-ES" sz="1800" b="0" i="0" u="none" strike="noStrike" baseline="0" dirty="0">
                    <a:solidFill>
                      <a:srgbClr val="000000"/>
                    </a:solidFill>
                    <a:latin typeface="LMRoman17-Regular"/>
                  </a:rPr>
                  <a:t> está dada por </a:t>
                </a:r>
                <a:br>
                  <a:rPr lang="es-ES" sz="1800" b="0" i="0" u="none" strike="noStrike" baseline="0" dirty="0">
                    <a:solidFill>
                      <a:srgbClr val="000000"/>
                    </a:solidFill>
                    <a:latin typeface="LMRoman17-Regular"/>
                  </a:rPr>
                </a:br>
                <a:br>
                  <a:rPr lang="es-ES" sz="1800" b="0" i="0" u="none" strike="noStrike" baseline="0" dirty="0">
                    <a:solidFill>
                      <a:srgbClr val="000000"/>
                    </a:solidFill>
                    <a:latin typeface="LMRoman17-Regular"/>
                  </a:rPr>
                </a:br>
                <a14:m>
                  <m:oMath xmlns:m="http://schemas.openxmlformats.org/officeDocument/2006/math">
                    <m:sSub>
                      <m:sSubPr>
                        <m:ctrlPr>
                          <a:rPr lang="en-US" sz="1800" b="0" i="1" u="none" strike="noStrike" baseline="0" smtClean="0">
                            <a:solidFill>
                              <a:srgbClr val="000000"/>
                            </a:solidFill>
                            <a:latin typeface="Cambria Math" panose="02040503050406030204" pitchFamily="18" charset="0"/>
                          </a:rPr>
                        </m:ctrlPr>
                      </m:sSubPr>
                      <m:e>
                        <m:r>
                          <a:rPr lang="en-US" sz="1800" b="0" i="1" u="none" strike="noStrike" baseline="0" smtClean="0">
                            <a:solidFill>
                              <a:srgbClr val="000000"/>
                            </a:solidFill>
                            <a:latin typeface="Cambria Math" panose="02040503050406030204" pitchFamily="18" charset="0"/>
                          </a:rPr>
                          <m:t>𝑃</m:t>
                        </m:r>
                      </m:e>
                      <m:sub>
                        <m:r>
                          <a:rPr lang="en-US" sz="1800" b="0" i="1" u="none" strike="noStrike" baseline="0" smtClean="0">
                            <a:solidFill>
                              <a:srgbClr val="000000"/>
                            </a:solidFill>
                            <a:latin typeface="Cambria Math" panose="02040503050406030204" pitchFamily="18" charset="0"/>
                          </a:rPr>
                          <m:t>𝑁</m:t>
                        </m:r>
                      </m:sub>
                    </m:sSub>
                    <m:r>
                      <a:rPr lang="en-US" sz="1800" b="0" i="1" u="none" strike="noStrike" baseline="0" smtClean="0">
                        <a:solidFill>
                          <a:srgbClr val="000000"/>
                        </a:solidFill>
                        <a:latin typeface="Cambria Math" panose="02040503050406030204" pitchFamily="18" charset="0"/>
                      </a:rPr>
                      <m:t>=</m:t>
                    </m:r>
                    <m:sSup>
                      <m:sSupPr>
                        <m:ctrlPr>
                          <a:rPr lang="en-US" sz="1800" b="0" i="1" u="none" strike="noStrike" baseline="0" smtClean="0">
                            <a:solidFill>
                              <a:srgbClr val="000000"/>
                            </a:solidFill>
                            <a:latin typeface="Cambria Math" panose="02040503050406030204" pitchFamily="18" charset="0"/>
                          </a:rPr>
                        </m:ctrlPr>
                      </m:sSupPr>
                      <m:e>
                        <m:r>
                          <a:rPr lang="en-US" sz="1800" b="0" i="1" u="none" strike="noStrike" baseline="0" smtClean="0">
                            <a:solidFill>
                              <a:srgbClr val="000000"/>
                            </a:solidFill>
                            <a:latin typeface="Cambria Math" panose="02040503050406030204" pitchFamily="18" charset="0"/>
                          </a:rPr>
                          <m:t>𝑍</m:t>
                        </m:r>
                      </m:e>
                      <m:sup>
                        <m:r>
                          <a:rPr lang="en-US" sz="1800" b="0" i="1" u="none" strike="noStrike" baseline="0" smtClean="0">
                            <a:solidFill>
                              <a:srgbClr val="000000"/>
                            </a:solidFill>
                            <a:latin typeface="Cambria Math" panose="02040503050406030204" pitchFamily="18" charset="0"/>
                          </a:rPr>
                          <m:t>−1</m:t>
                        </m:r>
                      </m:sup>
                    </m:sSup>
                    <m:sSup>
                      <m:sSupPr>
                        <m:ctrlPr>
                          <a:rPr lang="en-US" sz="1800" b="0" i="1" u="none" strike="noStrike" baseline="0" smtClean="0">
                            <a:solidFill>
                              <a:srgbClr val="000000"/>
                            </a:solidFill>
                            <a:latin typeface="Cambria Math" panose="02040503050406030204" pitchFamily="18" charset="0"/>
                          </a:rPr>
                        </m:ctrlPr>
                      </m:sSupPr>
                      <m:e>
                        <m:r>
                          <a:rPr lang="en-US" sz="1800" b="0" i="1" u="none" strike="noStrike" baseline="0" smtClean="0">
                            <a:solidFill>
                              <a:srgbClr val="000000"/>
                            </a:solidFill>
                            <a:latin typeface="Cambria Math" panose="02040503050406030204" pitchFamily="18" charset="0"/>
                          </a:rPr>
                          <m:t>𝑒</m:t>
                        </m:r>
                      </m:e>
                      <m:sup>
                        <m:r>
                          <a:rPr lang="en-US" sz="1800" b="0" i="1" u="none" strike="noStrike" baseline="0" smtClean="0">
                            <a:solidFill>
                              <a:srgbClr val="000000"/>
                            </a:solidFill>
                            <a:latin typeface="Cambria Math" panose="02040503050406030204" pitchFamily="18" charset="0"/>
                          </a:rPr>
                          <m:t>−</m:t>
                        </m:r>
                        <m:r>
                          <a:rPr lang="en-US" sz="1800" b="0" i="1" u="none" strike="noStrike" baseline="0" smtClean="0">
                            <a:solidFill>
                              <a:srgbClr val="000000"/>
                            </a:solidFill>
                            <a:latin typeface="Cambria Math" panose="02040503050406030204" pitchFamily="18" charset="0"/>
                          </a:rPr>
                          <m:t>𝛽</m:t>
                        </m:r>
                        <m:sSub>
                          <m:sSubPr>
                            <m:ctrlPr>
                              <a:rPr lang="en-US" sz="1800" b="0" i="1" u="none" strike="noStrike" baseline="0" smtClean="0">
                                <a:solidFill>
                                  <a:srgbClr val="000000"/>
                                </a:solidFill>
                                <a:latin typeface="Cambria Math" panose="02040503050406030204" pitchFamily="18" charset="0"/>
                              </a:rPr>
                            </m:ctrlPr>
                          </m:sSubPr>
                          <m:e>
                            <m:r>
                              <a:rPr lang="en-US" sz="1800" b="0" i="1" u="none" strike="noStrike" baseline="0" smtClean="0">
                                <a:solidFill>
                                  <a:srgbClr val="000000"/>
                                </a:solidFill>
                                <a:latin typeface="Cambria Math" panose="02040503050406030204" pitchFamily="18" charset="0"/>
                              </a:rPr>
                              <m:t>𝐻</m:t>
                            </m:r>
                          </m:e>
                          <m:sub>
                            <m:r>
                              <a:rPr lang="en-US" sz="1800" b="0" i="1" u="none" strike="noStrike" baseline="0" smtClean="0">
                                <a:solidFill>
                                  <a:srgbClr val="000000"/>
                                </a:solidFill>
                                <a:latin typeface="Cambria Math" panose="02040503050406030204" pitchFamily="18" charset="0"/>
                              </a:rPr>
                              <m:t>𝑁</m:t>
                            </m:r>
                          </m:sub>
                        </m:sSub>
                        <m:r>
                          <a:rPr lang="en-US" sz="1800" b="0" i="1" u="none" strike="noStrike" baseline="0" smtClean="0">
                            <a:solidFill>
                              <a:srgbClr val="000000"/>
                            </a:solidFill>
                            <a:latin typeface="Cambria Math" panose="02040503050406030204" pitchFamily="18" charset="0"/>
                          </a:rPr>
                          <m:t>(</m:t>
                        </m:r>
                        <m:r>
                          <a:rPr lang="en-US" sz="1800" b="0" i="1" u="none" strike="noStrike" baseline="0" smtClean="0">
                            <a:solidFill>
                              <a:srgbClr val="000000"/>
                            </a:solidFill>
                            <a:latin typeface="Cambria Math" panose="02040503050406030204" pitchFamily="18" charset="0"/>
                          </a:rPr>
                          <m:t>𝑋</m:t>
                        </m:r>
                        <m:r>
                          <a:rPr lang="en-US" sz="1800" b="0" i="1" u="none" strike="noStrike" baseline="0" smtClean="0">
                            <a:solidFill>
                              <a:srgbClr val="000000"/>
                            </a:solidFill>
                            <a:latin typeface="Cambria Math" panose="02040503050406030204" pitchFamily="18" charset="0"/>
                          </a:rPr>
                          <m:t>)</m:t>
                        </m:r>
                      </m:sup>
                    </m:sSup>
                    <m:r>
                      <a:rPr lang="en-US" sz="1800" b="0" i="0" u="none" strike="noStrike" baseline="0" smtClean="0">
                        <a:solidFill>
                          <a:srgbClr val="000000"/>
                        </a:solidFill>
                        <a:latin typeface="Cambria Math" panose="02040503050406030204" pitchFamily="18" charset="0"/>
                      </a:rPr>
                      <m:t>,  </m:t>
                    </m:r>
                    <m:r>
                      <m:rPr>
                        <m:sty m:val="p"/>
                      </m:rPr>
                      <a:rPr lang="en-US" sz="1800" b="0" i="0" u="none" strike="noStrike" baseline="0" smtClean="0">
                        <a:solidFill>
                          <a:srgbClr val="000000"/>
                        </a:solidFill>
                        <a:latin typeface="Cambria Math" panose="02040503050406030204" pitchFamily="18" charset="0"/>
                      </a:rPr>
                      <m:t>Z</m:t>
                    </m:r>
                    <m:r>
                      <a:rPr lang="en-US" sz="1800" b="0" i="0" u="none" strike="noStrike" baseline="0" smtClean="0">
                        <a:solidFill>
                          <a:srgbClr val="000000"/>
                        </a:solidFill>
                        <a:latin typeface="Cambria Math" panose="02040503050406030204" pitchFamily="18" charset="0"/>
                      </a:rPr>
                      <m:t>=</m:t>
                    </m:r>
                    <m:r>
                      <a:rPr lang="en-US" sz="1800" b="0" i="1" u="none" strike="noStrike" baseline="0" smtClean="0">
                        <a:solidFill>
                          <a:srgbClr val="000000"/>
                        </a:solidFill>
                        <a:latin typeface="Cambria Math" panose="02040503050406030204" pitchFamily="18" charset="0"/>
                      </a:rPr>
                      <m:t>∫</m:t>
                    </m:r>
                    <m:r>
                      <a:rPr lang="en-US" sz="1800" b="0" i="1" u="none" strike="noStrike" baseline="0" smtClean="0">
                        <a:solidFill>
                          <a:srgbClr val="000000"/>
                        </a:solidFill>
                        <a:latin typeface="Cambria Math" panose="02040503050406030204" pitchFamily="18" charset="0"/>
                      </a:rPr>
                      <m:t>𝑑𝑋</m:t>
                    </m:r>
                    <m:r>
                      <a:rPr lang="en-US" sz="1800" b="0" i="1" u="none" strike="noStrike" baseline="0" smtClean="0">
                        <a:solidFill>
                          <a:srgbClr val="000000"/>
                        </a:solidFill>
                        <a:latin typeface="Cambria Math" panose="02040503050406030204" pitchFamily="18" charset="0"/>
                      </a:rPr>
                      <m:t> </m:t>
                    </m:r>
                    <m:sSup>
                      <m:sSupPr>
                        <m:ctrlPr>
                          <a:rPr lang="en-US" sz="1800" b="0" i="1" u="none" strike="noStrike" baseline="0" smtClean="0">
                            <a:solidFill>
                              <a:srgbClr val="000000"/>
                            </a:solidFill>
                            <a:latin typeface="Cambria Math" panose="02040503050406030204" pitchFamily="18" charset="0"/>
                          </a:rPr>
                        </m:ctrlPr>
                      </m:sSupPr>
                      <m:e>
                        <m:r>
                          <a:rPr lang="en-US" sz="1800" b="0" i="1" u="none" strike="noStrike" baseline="0" smtClean="0">
                            <a:solidFill>
                              <a:srgbClr val="000000"/>
                            </a:solidFill>
                            <a:latin typeface="Cambria Math" panose="02040503050406030204" pitchFamily="18" charset="0"/>
                          </a:rPr>
                          <m:t>𝑒</m:t>
                        </m:r>
                      </m:e>
                      <m:sup>
                        <m:r>
                          <a:rPr lang="en-US" sz="1800" b="0" i="1" u="none" strike="noStrike" baseline="0" smtClean="0">
                            <a:solidFill>
                              <a:srgbClr val="000000"/>
                            </a:solidFill>
                            <a:latin typeface="Cambria Math" panose="02040503050406030204" pitchFamily="18" charset="0"/>
                          </a:rPr>
                          <m:t>−</m:t>
                        </m:r>
                        <m:r>
                          <a:rPr lang="en-US" sz="1800" b="0" i="1" u="none" strike="noStrike" baseline="0" smtClean="0">
                            <a:solidFill>
                              <a:srgbClr val="000000"/>
                            </a:solidFill>
                            <a:latin typeface="Cambria Math" panose="02040503050406030204" pitchFamily="18" charset="0"/>
                          </a:rPr>
                          <m:t>𝛽</m:t>
                        </m:r>
                        <m:sSub>
                          <m:sSubPr>
                            <m:ctrlPr>
                              <a:rPr lang="en-US" sz="1800" b="0" i="1" u="none" strike="noStrike" baseline="0" smtClean="0">
                                <a:solidFill>
                                  <a:srgbClr val="000000"/>
                                </a:solidFill>
                                <a:latin typeface="Cambria Math" panose="02040503050406030204" pitchFamily="18" charset="0"/>
                              </a:rPr>
                            </m:ctrlPr>
                          </m:sSubPr>
                          <m:e>
                            <m:r>
                              <a:rPr lang="en-US" sz="1800" b="0" i="1" u="none" strike="noStrike" baseline="0" smtClean="0">
                                <a:solidFill>
                                  <a:srgbClr val="000000"/>
                                </a:solidFill>
                                <a:latin typeface="Cambria Math" panose="02040503050406030204" pitchFamily="18" charset="0"/>
                              </a:rPr>
                              <m:t>𝐻</m:t>
                            </m:r>
                          </m:e>
                          <m:sub>
                            <m:r>
                              <a:rPr lang="en-US" sz="1800" b="0" i="1" u="none" strike="noStrike" baseline="0" smtClean="0">
                                <a:solidFill>
                                  <a:srgbClr val="000000"/>
                                </a:solidFill>
                                <a:latin typeface="Cambria Math" panose="02040503050406030204" pitchFamily="18" charset="0"/>
                              </a:rPr>
                              <m:t>𝑁</m:t>
                            </m:r>
                          </m:sub>
                        </m:sSub>
                        <m:d>
                          <m:dPr>
                            <m:ctrlPr>
                              <a:rPr lang="en-US" sz="1800" b="0" i="1" u="none" strike="noStrike" baseline="0" smtClean="0">
                                <a:solidFill>
                                  <a:srgbClr val="000000"/>
                                </a:solidFill>
                                <a:latin typeface="Cambria Math" panose="02040503050406030204" pitchFamily="18" charset="0"/>
                              </a:rPr>
                            </m:ctrlPr>
                          </m:dPr>
                          <m:e>
                            <m:r>
                              <a:rPr lang="en-US" sz="1800" b="0" i="1" u="none" strike="noStrike" baseline="0" smtClean="0">
                                <a:solidFill>
                                  <a:srgbClr val="000000"/>
                                </a:solidFill>
                                <a:latin typeface="Cambria Math" panose="02040503050406030204" pitchFamily="18" charset="0"/>
                              </a:rPr>
                              <m:t>𝑋</m:t>
                            </m:r>
                          </m:e>
                        </m:d>
                      </m:sup>
                    </m:sSup>
                  </m:oMath>
                </a14:m>
                <a:br>
                  <a:rPr lang="en-US" sz="1800" b="0" i="1" u="none" strike="noStrike" baseline="0" dirty="0">
                    <a:solidFill>
                      <a:srgbClr val="000000"/>
                    </a:solidFill>
                    <a:latin typeface="LMMathItalic12-Regular"/>
                  </a:rPr>
                </a:br>
                <a:br>
                  <a:rPr lang="en-US" sz="1800" b="0" i="1" u="none" strike="noStrike" baseline="0" dirty="0">
                    <a:solidFill>
                      <a:srgbClr val="000000"/>
                    </a:solidFill>
                    <a:latin typeface="LMMathItalic12-Regular"/>
                  </a:rPr>
                </a:br>
                <a:r>
                  <a:rPr lang="es-ES" sz="1800" b="0" i="0" u="none" strike="noStrike" baseline="0" dirty="0">
                    <a:solidFill>
                      <a:srgbClr val="000000"/>
                    </a:solidFill>
                    <a:latin typeface="LMRoman17-Regular"/>
                  </a:rPr>
                  <a:t>donde </a:t>
                </a:r>
                <a14:m>
                  <m:oMath xmlns:m="http://schemas.openxmlformats.org/officeDocument/2006/math">
                    <m:r>
                      <a:rPr lang="en-US" sz="1800" b="0" i="1" u="none" strike="noStrike" baseline="0" smtClean="0">
                        <a:solidFill>
                          <a:srgbClr val="000000"/>
                        </a:solidFill>
                        <a:latin typeface="Cambria Math" panose="02040503050406030204" pitchFamily="18" charset="0"/>
                      </a:rPr>
                      <m:t>𝛽</m:t>
                    </m:r>
                    <m:r>
                      <a:rPr lang="en-US" sz="1800" b="0" i="1" u="none" strike="noStrike" baseline="0" smtClean="0">
                        <a:solidFill>
                          <a:srgbClr val="000000"/>
                        </a:solidFill>
                        <a:latin typeface="Cambria Math" panose="02040503050406030204" pitchFamily="18" charset="0"/>
                      </a:rPr>
                      <m:t>=1/(</m:t>
                    </m:r>
                    <m:sSub>
                      <m:sSubPr>
                        <m:ctrlPr>
                          <a:rPr lang="en-US" sz="1800" b="0" i="1" u="none" strike="noStrike" baseline="0" smtClean="0">
                            <a:solidFill>
                              <a:srgbClr val="000000"/>
                            </a:solidFill>
                            <a:latin typeface="Cambria Math" panose="02040503050406030204" pitchFamily="18" charset="0"/>
                          </a:rPr>
                        </m:ctrlPr>
                      </m:sSubPr>
                      <m:e>
                        <m:r>
                          <a:rPr lang="en-US" sz="1800" b="0" i="1" u="none" strike="noStrike" baseline="0" smtClean="0">
                            <a:solidFill>
                              <a:srgbClr val="000000"/>
                            </a:solidFill>
                            <a:latin typeface="Cambria Math" panose="02040503050406030204" pitchFamily="18" charset="0"/>
                          </a:rPr>
                          <m:t>𝑘</m:t>
                        </m:r>
                      </m:e>
                      <m:sub>
                        <m:r>
                          <a:rPr lang="en-US" sz="1800" b="0" i="1" u="none" strike="noStrike" baseline="0" smtClean="0">
                            <a:solidFill>
                              <a:srgbClr val="000000"/>
                            </a:solidFill>
                            <a:latin typeface="Cambria Math" panose="02040503050406030204" pitchFamily="18" charset="0"/>
                          </a:rPr>
                          <m:t>𝐵</m:t>
                        </m:r>
                      </m:sub>
                    </m:sSub>
                    <m:r>
                      <a:rPr lang="en-US" sz="1800" b="0" i="1" u="none" strike="noStrike" baseline="0" smtClean="0">
                        <a:solidFill>
                          <a:srgbClr val="000000"/>
                        </a:solidFill>
                        <a:latin typeface="Cambria Math" panose="02040503050406030204" pitchFamily="18" charset="0"/>
                      </a:rPr>
                      <m:t>𝑇</m:t>
                    </m:r>
                    <m:r>
                      <a:rPr lang="en-US" sz="1800" b="0" i="1" u="none" strike="noStrike" baseline="0" smtClean="0">
                        <a:solidFill>
                          <a:srgbClr val="000000"/>
                        </a:solidFill>
                        <a:latin typeface="Cambria Math" panose="02040503050406030204" pitchFamily="18" charset="0"/>
                      </a:rPr>
                      <m:t>)</m:t>
                    </m:r>
                  </m:oMath>
                </a14:m>
                <a:r>
                  <a:rPr lang="es-ES" sz="1800" b="0" i="0" u="none" strike="noStrike" baseline="0" dirty="0">
                    <a:solidFill>
                      <a:srgbClr val="000000"/>
                    </a:solidFill>
                    <a:latin typeface="LMRoman17-Regular"/>
                  </a:rPr>
                  <a:t> y </a:t>
                </a:r>
                <a14:m>
                  <m:oMath xmlns:m="http://schemas.openxmlformats.org/officeDocument/2006/math">
                    <m:sSub>
                      <m:sSubPr>
                        <m:ctrlPr>
                          <a:rPr lang="en-US" sz="1800" b="0" i="1" u="none" strike="noStrike" baseline="0" smtClean="0">
                            <a:solidFill>
                              <a:srgbClr val="000000"/>
                            </a:solidFill>
                            <a:latin typeface="Cambria Math" panose="02040503050406030204" pitchFamily="18" charset="0"/>
                          </a:rPr>
                        </m:ctrlPr>
                      </m:sSubPr>
                      <m:e>
                        <m:r>
                          <a:rPr lang="en-US" sz="1800" b="0" i="1" u="none" strike="noStrike" baseline="0" smtClean="0">
                            <a:solidFill>
                              <a:srgbClr val="000000"/>
                            </a:solidFill>
                            <a:latin typeface="Cambria Math" panose="02040503050406030204" pitchFamily="18" charset="0"/>
                          </a:rPr>
                          <m:t>𝑘</m:t>
                        </m:r>
                      </m:e>
                      <m:sub>
                        <m:r>
                          <a:rPr lang="en-US" sz="1800" b="0" i="1" u="none" strike="noStrike" baseline="0" smtClean="0">
                            <a:solidFill>
                              <a:srgbClr val="000000"/>
                            </a:solidFill>
                            <a:latin typeface="Cambria Math" panose="02040503050406030204" pitchFamily="18" charset="0"/>
                          </a:rPr>
                          <m:t>𝐵</m:t>
                        </m:r>
                      </m:sub>
                    </m:sSub>
                  </m:oMath>
                </a14:m>
                <a:r>
                  <a:rPr lang="es-ES" sz="1800" b="0" i="0" u="none" strike="noStrike" baseline="0" dirty="0">
                    <a:solidFill>
                      <a:srgbClr val="000000"/>
                    </a:solidFill>
                    <a:latin typeface="LMRoman17-Regular"/>
                  </a:rPr>
                  <a:t> es la constante de Boltzmann. </a:t>
                </a:r>
                <a14:m>
                  <m:oMath xmlns:m="http://schemas.openxmlformats.org/officeDocument/2006/math">
                    <m:r>
                      <a:rPr lang="en-US" sz="1800" b="0" i="1" u="none" strike="noStrike" baseline="0" smtClean="0">
                        <a:solidFill>
                          <a:srgbClr val="000000"/>
                        </a:solidFill>
                        <a:latin typeface="Cambria Math" panose="02040503050406030204" pitchFamily="18" charset="0"/>
                      </a:rPr>
                      <m:t>𝑍</m:t>
                    </m:r>
                  </m:oMath>
                </a14:m>
                <a:r>
                  <a:rPr lang="es-ES" sz="1800" b="0" i="1" u="none" strike="noStrike" baseline="0" dirty="0">
                    <a:solidFill>
                      <a:srgbClr val="000000"/>
                    </a:solidFill>
                    <a:latin typeface="LMMathItalic12-Regular"/>
                  </a:rPr>
                  <a:t> </a:t>
                </a:r>
                <a:r>
                  <a:rPr lang="es-ES" sz="1800" b="0" i="0" u="none" strike="noStrike" baseline="0" dirty="0">
                    <a:solidFill>
                      <a:srgbClr val="000000"/>
                    </a:solidFill>
                    <a:latin typeface="LMRoman17-Regular"/>
                  </a:rPr>
                  <a:t>es </a:t>
                </a:r>
                <a:r>
                  <a:rPr lang="es-ES" sz="1800" b="0" i="0" u="none" strike="noStrike" baseline="0" dirty="0">
                    <a:solidFill>
                      <a:srgbClr val="0000FF"/>
                    </a:solidFill>
                    <a:latin typeface="LMRoman17-Regular"/>
                  </a:rPr>
                  <a:t>la función de partición </a:t>
                </a:r>
                <a:r>
                  <a:rPr lang="es-ES" sz="1800" b="0" i="0" u="none" strike="noStrike" baseline="0" dirty="0">
                    <a:solidFill>
                      <a:srgbClr val="000000"/>
                    </a:solidFill>
                    <a:latin typeface="LMRoman17-Regular"/>
                  </a:rPr>
                  <a:t>y </a:t>
                </a:r>
                <a14:m>
                  <m:oMath xmlns:m="http://schemas.openxmlformats.org/officeDocument/2006/math">
                    <m:sSub>
                      <m:sSubPr>
                        <m:ctrlPr>
                          <a:rPr lang="en-US" sz="1800" b="0" i="1" u="none" strike="noStrike" baseline="0" smtClean="0">
                            <a:solidFill>
                              <a:srgbClr val="000000"/>
                            </a:solidFill>
                            <a:latin typeface="Cambria Math" panose="02040503050406030204" pitchFamily="18" charset="0"/>
                          </a:rPr>
                        </m:ctrlPr>
                      </m:sSubPr>
                      <m:e>
                        <m:r>
                          <a:rPr lang="en-US" sz="1800" b="0" i="1" u="none" strike="noStrike" baseline="0" smtClean="0">
                            <a:solidFill>
                              <a:srgbClr val="000000"/>
                            </a:solidFill>
                            <a:latin typeface="Cambria Math" panose="02040503050406030204" pitchFamily="18" charset="0"/>
                          </a:rPr>
                          <m:t>𝐻</m:t>
                        </m:r>
                      </m:e>
                      <m:sub>
                        <m:r>
                          <a:rPr lang="en-US" sz="1800" b="0" i="1" u="none" strike="noStrike" baseline="0" smtClean="0">
                            <a:solidFill>
                              <a:srgbClr val="000000"/>
                            </a:solidFill>
                            <a:latin typeface="Cambria Math" panose="02040503050406030204" pitchFamily="18" charset="0"/>
                          </a:rPr>
                          <m:t>𝑁</m:t>
                        </m:r>
                      </m:sub>
                    </m:sSub>
                    <m:r>
                      <a:rPr lang="en-US" sz="1800" b="0" i="1" u="none" strike="noStrike" baseline="0" smtClean="0">
                        <a:solidFill>
                          <a:srgbClr val="000000"/>
                        </a:solidFill>
                        <a:latin typeface="Cambria Math" panose="02040503050406030204" pitchFamily="18" charset="0"/>
                      </a:rPr>
                      <m:t>(</m:t>
                    </m:r>
                    <m:r>
                      <a:rPr lang="en-US" sz="1800" b="0" i="1" u="none" strike="noStrike" baseline="0" smtClean="0">
                        <a:solidFill>
                          <a:srgbClr val="000000"/>
                        </a:solidFill>
                        <a:latin typeface="Cambria Math" panose="02040503050406030204" pitchFamily="18" charset="0"/>
                      </a:rPr>
                      <m:t>𝑋</m:t>
                    </m:r>
                    <m:r>
                      <a:rPr lang="en-US" sz="1800" b="0" i="1" u="none" strike="noStrike" baseline="0" smtClean="0">
                        <a:solidFill>
                          <a:srgbClr val="000000"/>
                        </a:solidFill>
                        <a:latin typeface="Cambria Math" panose="02040503050406030204" pitchFamily="18" charset="0"/>
                      </a:rPr>
                      <m:t>)</m:t>
                    </m:r>
                  </m:oMath>
                </a14:m>
                <a:r>
                  <a:rPr lang="es-ES" sz="1800" b="0" i="0" u="none" strike="noStrike" baseline="0" dirty="0">
                    <a:solidFill>
                      <a:srgbClr val="000000"/>
                    </a:solidFill>
                    <a:latin typeface="LMRoman17-Regular"/>
                  </a:rPr>
                  <a:t> es el hamiltoniano que define la dinámica microscópica correspondiente a las </a:t>
                </a:r>
                <a14:m>
                  <m:oMath xmlns:m="http://schemas.openxmlformats.org/officeDocument/2006/math">
                    <m:r>
                      <a:rPr lang="en-US" sz="1800" b="0" i="1" u="none" strike="noStrike" baseline="0" smtClean="0">
                        <a:solidFill>
                          <a:srgbClr val="000000"/>
                        </a:solidFill>
                        <a:latin typeface="Cambria Math" panose="02040503050406030204" pitchFamily="18" charset="0"/>
                      </a:rPr>
                      <m:t>𝑁</m:t>
                    </m:r>
                  </m:oMath>
                </a14:m>
                <a:r>
                  <a:rPr lang="es-ES" sz="1800" b="0" i="1" u="none" strike="noStrike" baseline="0" dirty="0">
                    <a:solidFill>
                      <a:srgbClr val="000000"/>
                    </a:solidFill>
                    <a:latin typeface="LMMathItalic12-Regular"/>
                  </a:rPr>
                  <a:t> </a:t>
                </a:r>
                <a:r>
                  <a:rPr lang="es-ES" sz="1800" b="0" i="0" u="none" strike="noStrike" baseline="0" dirty="0">
                    <a:solidFill>
                      <a:srgbClr val="000000"/>
                    </a:solidFill>
                    <a:latin typeface="LMRoman17-Regular"/>
                  </a:rPr>
                  <a:t>partículas. </a:t>
                </a:r>
              </a:p>
              <a:p>
                <a:pPr>
                  <a:lnSpc>
                    <a:spcPct val="120000"/>
                  </a:lnSpc>
                </a:pPr>
                <a:r>
                  <a:rPr lang="es-ES" sz="1800" b="0" i="0" u="none" strike="noStrike" baseline="0" dirty="0">
                    <a:solidFill>
                      <a:srgbClr val="000000"/>
                    </a:solidFill>
                    <a:latin typeface="LMRoman17-Regular"/>
                  </a:rPr>
                  <a:t>Conocida </a:t>
                </a:r>
                <a14:m>
                  <m:oMath xmlns:m="http://schemas.openxmlformats.org/officeDocument/2006/math">
                    <m:sSub>
                      <m:sSubPr>
                        <m:ctrlPr>
                          <a:rPr lang="en-US" sz="1800" b="0" i="1" u="none" strike="noStrike" baseline="0" smtClean="0">
                            <a:solidFill>
                              <a:srgbClr val="000000"/>
                            </a:solidFill>
                            <a:latin typeface="Cambria Math" panose="02040503050406030204" pitchFamily="18" charset="0"/>
                          </a:rPr>
                        </m:ctrlPr>
                      </m:sSubPr>
                      <m:e>
                        <m:r>
                          <a:rPr lang="en-US" sz="1800" b="0" i="1" u="none" strike="noStrike" baseline="0" smtClean="0">
                            <a:solidFill>
                              <a:srgbClr val="000000"/>
                            </a:solidFill>
                            <a:latin typeface="Cambria Math" panose="02040503050406030204" pitchFamily="18" charset="0"/>
                          </a:rPr>
                          <m:t>𝐻</m:t>
                        </m:r>
                      </m:e>
                      <m:sub>
                        <m:r>
                          <a:rPr lang="en-US" sz="1800" b="0" i="1" u="none" strike="noStrike" baseline="0" smtClean="0">
                            <a:solidFill>
                              <a:srgbClr val="000000"/>
                            </a:solidFill>
                            <a:latin typeface="Cambria Math" panose="02040503050406030204" pitchFamily="18" charset="0"/>
                          </a:rPr>
                          <m:t>𝑁</m:t>
                        </m:r>
                      </m:sub>
                    </m:sSub>
                    <m:r>
                      <a:rPr lang="en-US" sz="1800" b="0" i="1" u="none" strike="noStrike" baseline="0" smtClean="0">
                        <a:solidFill>
                          <a:srgbClr val="000000"/>
                        </a:solidFill>
                        <a:latin typeface="Cambria Math" panose="02040503050406030204" pitchFamily="18" charset="0"/>
                      </a:rPr>
                      <m:t>(</m:t>
                    </m:r>
                    <m:r>
                      <a:rPr lang="en-US" sz="1800" b="0" i="1" u="none" strike="noStrike" baseline="0" smtClean="0">
                        <a:solidFill>
                          <a:srgbClr val="000000"/>
                        </a:solidFill>
                        <a:latin typeface="Cambria Math" panose="02040503050406030204" pitchFamily="18" charset="0"/>
                      </a:rPr>
                      <m:t>𝑋</m:t>
                    </m:r>
                    <m:r>
                      <a:rPr lang="en-US" sz="1800" b="0" i="1" u="none" strike="noStrike" baseline="0" smtClean="0">
                        <a:solidFill>
                          <a:srgbClr val="000000"/>
                        </a:solidFill>
                        <a:latin typeface="Cambria Math" panose="02040503050406030204" pitchFamily="18" charset="0"/>
                      </a:rPr>
                      <m:t>)</m:t>
                    </m:r>
                  </m:oMath>
                </a14:m>
                <a:r>
                  <a:rPr lang="es-ES" sz="1800" b="0" i="0" u="none" strike="noStrike" baseline="0" dirty="0">
                    <a:solidFill>
                      <a:srgbClr val="000000"/>
                    </a:solidFill>
                    <a:latin typeface="LMRoman17-Regular"/>
                  </a:rPr>
                  <a:t>, podemos calcular </a:t>
                </a:r>
                <a:r>
                  <a:rPr lang="es-ES" sz="1800" b="0" i="0" u="none" strike="noStrike" baseline="0" dirty="0">
                    <a:solidFill>
                      <a:srgbClr val="0000FF"/>
                    </a:solidFill>
                    <a:latin typeface="LMRoman17-Regular"/>
                  </a:rPr>
                  <a:t>el valor esperado </a:t>
                </a:r>
                <a:r>
                  <a:rPr lang="es-ES" sz="1800" b="0" i="0" u="none" strike="noStrike" baseline="0" dirty="0">
                    <a:solidFill>
                      <a:srgbClr val="000000"/>
                    </a:solidFill>
                    <a:latin typeface="LMRoman17-Regular"/>
                  </a:rPr>
                  <a:t>de cualquier variable (que coincidirá con el </a:t>
                </a:r>
                <a:r>
                  <a:rPr lang="es-ES" sz="1800" i="0" u="none" strike="noStrike" baseline="0" dirty="0">
                    <a:solidFill>
                      <a:srgbClr val="7030A0"/>
                    </a:solidFill>
                    <a:latin typeface="LMRoman17-Regular"/>
                  </a:rPr>
                  <a:t>valor </a:t>
                </a:r>
                <a:r>
                  <a:rPr lang="es-ES" sz="1800" i="0" u="none" strike="noStrike" baseline="0" dirty="0">
                    <a:solidFill>
                      <a:srgbClr val="7030A0"/>
                    </a:solidFill>
                    <a:latin typeface="LMRoman12-Bold"/>
                  </a:rPr>
                  <a:t>observado </a:t>
                </a:r>
                <a:r>
                  <a:rPr lang="es-ES" sz="1800" b="0" i="0" u="none" strike="noStrike" baseline="0" dirty="0">
                    <a:solidFill>
                      <a:srgbClr val="000000"/>
                    </a:solidFill>
                    <a:latin typeface="LMRoman17-Regular"/>
                  </a:rPr>
                  <a:t>en un experimento): </a:t>
                </a:r>
                <a:br>
                  <a:rPr lang="es-ES" sz="1100" b="0" i="0" u="none" strike="noStrike" baseline="0" dirty="0">
                    <a:solidFill>
                      <a:srgbClr val="000000"/>
                    </a:solidFill>
                    <a:latin typeface="LMRoman17-Regular"/>
                  </a:rPr>
                </a:br>
                <a:br>
                  <a:rPr lang="es-ES" sz="1100" b="0" i="0" u="none" strike="noStrike" baseline="0" dirty="0">
                    <a:solidFill>
                      <a:srgbClr val="000000"/>
                    </a:solidFill>
                    <a:latin typeface="LMRoman17-Regular"/>
                  </a:rPr>
                </a:br>
                <a14:m>
                  <m:oMath xmlns:m="http://schemas.openxmlformats.org/officeDocument/2006/math">
                    <m:d>
                      <m:dPr>
                        <m:begChr m:val="⟨"/>
                        <m:endChr m:val="⟩"/>
                        <m:ctrlPr>
                          <a:rPr lang="en-US" sz="1800" b="0" i="1" u="none" strike="noStrike" baseline="0" smtClean="0">
                            <a:solidFill>
                              <a:srgbClr val="000000"/>
                            </a:solidFill>
                            <a:latin typeface="Cambria Math" panose="02040503050406030204" pitchFamily="18" charset="0"/>
                          </a:rPr>
                        </m:ctrlPr>
                      </m:dPr>
                      <m:e>
                        <m:r>
                          <a:rPr lang="en-US" sz="1800" b="0" i="1" u="none" strike="noStrike" baseline="0" smtClean="0">
                            <a:solidFill>
                              <a:srgbClr val="000000"/>
                            </a:solidFill>
                            <a:latin typeface="Cambria Math" panose="02040503050406030204" pitchFamily="18" charset="0"/>
                          </a:rPr>
                          <m:t>𝐴</m:t>
                        </m:r>
                      </m:e>
                    </m:d>
                    <m:r>
                      <a:rPr lang="en-US" sz="1800" b="0" i="1" u="none" strike="noStrike" baseline="0" smtClean="0">
                        <a:solidFill>
                          <a:srgbClr val="000000"/>
                        </a:solidFill>
                        <a:latin typeface="Cambria Math" panose="02040503050406030204" pitchFamily="18" charset="0"/>
                      </a:rPr>
                      <m:t>=</m:t>
                    </m:r>
                    <m:sSup>
                      <m:sSupPr>
                        <m:ctrlPr>
                          <a:rPr lang="en-US" sz="1800" b="0" i="1" u="none" strike="noStrike" baseline="0" smtClean="0">
                            <a:solidFill>
                              <a:srgbClr val="000000"/>
                            </a:solidFill>
                            <a:latin typeface="Cambria Math" panose="02040503050406030204" pitchFamily="18" charset="0"/>
                          </a:rPr>
                        </m:ctrlPr>
                      </m:sSupPr>
                      <m:e>
                        <m:r>
                          <a:rPr lang="en-US" sz="1800" b="0" i="1" u="none" strike="noStrike" baseline="0" smtClean="0">
                            <a:solidFill>
                              <a:srgbClr val="000000"/>
                            </a:solidFill>
                            <a:latin typeface="Cambria Math" panose="02040503050406030204" pitchFamily="18" charset="0"/>
                          </a:rPr>
                          <m:t>𝑍</m:t>
                        </m:r>
                      </m:e>
                      <m:sup>
                        <m:r>
                          <a:rPr lang="en-US" sz="1800" b="0" i="1" u="none" strike="noStrike" baseline="0" smtClean="0">
                            <a:solidFill>
                              <a:srgbClr val="000000"/>
                            </a:solidFill>
                            <a:latin typeface="Cambria Math" panose="02040503050406030204" pitchFamily="18" charset="0"/>
                          </a:rPr>
                          <m:t>−1</m:t>
                        </m:r>
                      </m:sup>
                    </m:sSup>
                    <m:r>
                      <a:rPr lang="en-US" sz="1800" b="0" i="1" u="none" strike="noStrike" baseline="0" smtClean="0">
                        <a:solidFill>
                          <a:srgbClr val="000000"/>
                        </a:solidFill>
                        <a:latin typeface="Cambria Math" panose="02040503050406030204" pitchFamily="18" charset="0"/>
                      </a:rPr>
                      <m:t>∫</m:t>
                    </m:r>
                    <m:r>
                      <a:rPr lang="en-US" sz="1800" b="0" i="1" u="none" strike="noStrike" baseline="0" smtClean="0">
                        <a:solidFill>
                          <a:srgbClr val="000000"/>
                        </a:solidFill>
                        <a:latin typeface="Cambria Math" panose="02040503050406030204" pitchFamily="18" charset="0"/>
                      </a:rPr>
                      <m:t>𝑑𝑋</m:t>
                    </m:r>
                    <m:sSup>
                      <m:sSupPr>
                        <m:ctrlPr>
                          <a:rPr lang="en-US" sz="1800" b="0" i="1" u="none" strike="noStrike" baseline="0" smtClean="0">
                            <a:solidFill>
                              <a:srgbClr val="000000"/>
                            </a:solidFill>
                            <a:latin typeface="Cambria Math" panose="02040503050406030204" pitchFamily="18" charset="0"/>
                          </a:rPr>
                        </m:ctrlPr>
                      </m:sSupPr>
                      <m:e>
                        <m:r>
                          <a:rPr lang="en-US" sz="1800" b="0" i="1" u="none" strike="noStrike" baseline="0" smtClean="0">
                            <a:solidFill>
                              <a:srgbClr val="000000"/>
                            </a:solidFill>
                            <a:latin typeface="Cambria Math" panose="02040503050406030204" pitchFamily="18" charset="0"/>
                          </a:rPr>
                          <m:t>𝑒</m:t>
                        </m:r>
                      </m:e>
                      <m:sup>
                        <m:r>
                          <a:rPr lang="en-US" sz="1800" b="0" i="1" u="none" strike="noStrike" baseline="0" smtClean="0">
                            <a:solidFill>
                              <a:srgbClr val="000000"/>
                            </a:solidFill>
                            <a:latin typeface="Cambria Math" panose="02040503050406030204" pitchFamily="18" charset="0"/>
                          </a:rPr>
                          <m:t>−</m:t>
                        </m:r>
                        <m:r>
                          <a:rPr lang="en-US" sz="1800" b="0" i="1" u="none" strike="noStrike" baseline="0" smtClean="0">
                            <a:solidFill>
                              <a:srgbClr val="000000"/>
                            </a:solidFill>
                            <a:latin typeface="Cambria Math" panose="02040503050406030204" pitchFamily="18" charset="0"/>
                          </a:rPr>
                          <m:t>𝛽</m:t>
                        </m:r>
                        <m:sSub>
                          <m:sSubPr>
                            <m:ctrlPr>
                              <a:rPr lang="en-US" sz="1800" b="0" i="1" u="none" strike="noStrike" baseline="0" smtClean="0">
                                <a:solidFill>
                                  <a:srgbClr val="000000"/>
                                </a:solidFill>
                                <a:latin typeface="Cambria Math" panose="02040503050406030204" pitchFamily="18" charset="0"/>
                              </a:rPr>
                            </m:ctrlPr>
                          </m:sSubPr>
                          <m:e>
                            <m:r>
                              <a:rPr lang="en-US" sz="1800" b="0" i="1" u="none" strike="noStrike" baseline="0" smtClean="0">
                                <a:solidFill>
                                  <a:srgbClr val="000000"/>
                                </a:solidFill>
                                <a:latin typeface="Cambria Math" panose="02040503050406030204" pitchFamily="18" charset="0"/>
                              </a:rPr>
                              <m:t>𝐻</m:t>
                            </m:r>
                          </m:e>
                          <m:sub>
                            <m:r>
                              <a:rPr lang="en-US" sz="1800" b="0" i="1" u="none" strike="noStrike" baseline="0" smtClean="0">
                                <a:solidFill>
                                  <a:srgbClr val="000000"/>
                                </a:solidFill>
                                <a:latin typeface="Cambria Math" panose="02040503050406030204" pitchFamily="18" charset="0"/>
                              </a:rPr>
                              <m:t>𝑁</m:t>
                            </m:r>
                          </m:sub>
                        </m:sSub>
                        <m:d>
                          <m:dPr>
                            <m:ctrlPr>
                              <a:rPr lang="en-US" sz="1800" b="0" i="1" u="none" strike="noStrike" baseline="0" smtClean="0">
                                <a:solidFill>
                                  <a:srgbClr val="000000"/>
                                </a:solidFill>
                                <a:latin typeface="Cambria Math" panose="02040503050406030204" pitchFamily="18" charset="0"/>
                              </a:rPr>
                            </m:ctrlPr>
                          </m:dPr>
                          <m:e>
                            <m:r>
                              <a:rPr lang="en-US" sz="1800" b="0" i="1" u="none" strike="noStrike" baseline="0" smtClean="0">
                                <a:solidFill>
                                  <a:srgbClr val="000000"/>
                                </a:solidFill>
                                <a:latin typeface="Cambria Math" panose="02040503050406030204" pitchFamily="18" charset="0"/>
                              </a:rPr>
                              <m:t>𝑋</m:t>
                            </m:r>
                          </m:e>
                        </m:d>
                      </m:sup>
                    </m:sSup>
                    <m:sSub>
                      <m:sSubPr>
                        <m:ctrlPr>
                          <a:rPr lang="en-US" sz="1800" b="0" i="1" u="none" strike="noStrike" baseline="0" smtClean="0">
                            <a:solidFill>
                              <a:srgbClr val="000000"/>
                            </a:solidFill>
                            <a:latin typeface="Cambria Math" panose="02040503050406030204" pitchFamily="18" charset="0"/>
                          </a:rPr>
                        </m:ctrlPr>
                      </m:sSubPr>
                      <m:e>
                        <m:r>
                          <a:rPr lang="en-US" sz="1800" b="0" i="1" u="none" strike="noStrike" baseline="0" smtClean="0">
                            <a:solidFill>
                              <a:srgbClr val="000000"/>
                            </a:solidFill>
                            <a:latin typeface="Cambria Math" panose="02040503050406030204" pitchFamily="18" charset="0"/>
                          </a:rPr>
                          <m:t>𝐴</m:t>
                        </m:r>
                      </m:e>
                      <m:sub>
                        <m:r>
                          <a:rPr lang="en-US" sz="1800" b="0" i="1" u="none" strike="noStrike" baseline="0" smtClean="0">
                            <a:solidFill>
                              <a:srgbClr val="000000"/>
                            </a:solidFill>
                            <a:latin typeface="Cambria Math" panose="02040503050406030204" pitchFamily="18" charset="0"/>
                          </a:rPr>
                          <m:t>𝑁</m:t>
                        </m:r>
                      </m:sub>
                    </m:sSub>
                    <m:d>
                      <m:dPr>
                        <m:ctrlPr>
                          <a:rPr lang="en-US" sz="1800" b="0" i="1" u="none" strike="noStrike" baseline="0" smtClean="0">
                            <a:solidFill>
                              <a:srgbClr val="000000"/>
                            </a:solidFill>
                            <a:latin typeface="Cambria Math" panose="02040503050406030204" pitchFamily="18" charset="0"/>
                          </a:rPr>
                        </m:ctrlPr>
                      </m:dPr>
                      <m:e>
                        <m:r>
                          <a:rPr lang="en-US" sz="1800" b="0" i="1" u="none" strike="noStrike" baseline="0" smtClean="0">
                            <a:solidFill>
                              <a:srgbClr val="000000"/>
                            </a:solidFill>
                            <a:latin typeface="Cambria Math" panose="02040503050406030204" pitchFamily="18" charset="0"/>
                          </a:rPr>
                          <m:t>𝑋</m:t>
                        </m:r>
                      </m:e>
                    </m:d>
                  </m:oMath>
                </a14:m>
                <a:br>
                  <a:rPr lang="en-US" sz="1800" b="0" i="0" u="none" strike="noStrike" baseline="0" dirty="0">
                    <a:solidFill>
                      <a:srgbClr val="000000"/>
                    </a:solidFill>
                    <a:latin typeface="LMRoman17-Regular"/>
                  </a:rPr>
                </a:br>
                <a:br>
                  <a:rPr lang="en-US" sz="1800" b="0" i="0" u="none" strike="noStrike" baseline="0" dirty="0">
                    <a:solidFill>
                      <a:srgbClr val="000000"/>
                    </a:solidFill>
                    <a:latin typeface="LMRoman17-Regular"/>
                  </a:rPr>
                </a:br>
                <a:r>
                  <a:rPr lang="es-ES" sz="1800" b="0" i="0" u="none" strike="noStrike" baseline="0" dirty="0">
                    <a:solidFill>
                      <a:srgbClr val="000000"/>
                    </a:solidFill>
                    <a:latin typeface="LMRoman17-Regular"/>
                  </a:rPr>
                  <a:t>La Mecánica Estadística  conecta las ecuaciones del movimiento microscópicas de un sistema de partículas con sus propiedades termodinámicas macroscópicas. Sin embargo, en la práctica, sólo podemos realizar de forma analítica alguna de esas integrales </a:t>
                </a:r>
                <a14:m>
                  <m:oMath xmlns:m="http://schemas.openxmlformats.org/officeDocument/2006/math">
                    <m:r>
                      <a:rPr lang="es-ES" sz="1800" b="0" i="1" u="none" strike="noStrike" baseline="0" smtClean="0">
                        <a:solidFill>
                          <a:srgbClr val="000000"/>
                        </a:solidFill>
                        <a:latin typeface="Cambria Math" panose="02040503050406030204" pitchFamily="18" charset="0"/>
                      </a:rPr>
                      <m:t>𝑁</m:t>
                    </m:r>
                  </m:oMath>
                </a14:m>
                <a:r>
                  <a:rPr lang="es-ES" sz="1800" b="0" i="1" u="none" strike="noStrike" baseline="0" dirty="0">
                    <a:solidFill>
                      <a:srgbClr val="000000"/>
                    </a:solidFill>
                    <a:latin typeface="LMMathItalic12-Regular"/>
                  </a:rPr>
                  <a:t> </a:t>
                </a:r>
                <a:r>
                  <a:rPr lang="es-ES" sz="1800" b="0" i="0" u="none" strike="noStrike" baseline="0" dirty="0">
                    <a:solidFill>
                      <a:srgbClr val="000000"/>
                    </a:solidFill>
                    <a:latin typeface="LMRoman17-Regular"/>
                  </a:rPr>
                  <a:t>dimensionales en unos pocos casos de interés. De esta forma debemos de acudir a </a:t>
                </a:r>
                <a:r>
                  <a:rPr lang="es-ES" sz="1800" b="0" i="0" u="none" strike="noStrike" baseline="0" dirty="0">
                    <a:solidFill>
                      <a:srgbClr val="B020A9"/>
                    </a:solidFill>
                    <a:latin typeface="LMRoman17-Regular"/>
                  </a:rPr>
                  <a:t>métodos numéricos </a:t>
                </a:r>
                <a:r>
                  <a:rPr lang="es-ES" sz="1800" b="0" i="0" u="none" strike="noStrike" baseline="0" dirty="0">
                    <a:solidFill>
                      <a:srgbClr val="000000"/>
                    </a:solidFill>
                    <a:latin typeface="LMRoman17-Regular"/>
                  </a:rPr>
                  <a:t>para conocer el comportamiento del sistema. </a:t>
                </a:r>
              </a:p>
              <a:p>
                <a:pPr>
                  <a:lnSpc>
                    <a:spcPct val="120000"/>
                  </a:lnSpc>
                </a:pPr>
                <a:r>
                  <a:rPr lang="es-ES" sz="1800" b="0" i="0" u="none" strike="noStrike" baseline="0" dirty="0">
                    <a:solidFill>
                      <a:srgbClr val="000000"/>
                    </a:solidFill>
                    <a:latin typeface="LMRoman17-Regular"/>
                  </a:rPr>
                  <a:t>La estrategia más natural que se aplica es usar la ley de los grandes números. Ésta nos dice que</a:t>
                </a:r>
                <a:r>
                  <a:rPr lang="es-ES" sz="1800" b="1" i="0" u="none" strike="noStrike" baseline="0" dirty="0">
                    <a:solidFill>
                      <a:srgbClr val="7030A0"/>
                    </a:solidFill>
                    <a:latin typeface="LMRoman17-Regular"/>
                  </a:rPr>
                  <a:t>, </a:t>
                </a:r>
                <a:r>
                  <a:rPr lang="es-ES" sz="1800" b="1" i="0" u="none" strike="noStrike" baseline="0" dirty="0">
                    <a:solidFill>
                      <a:srgbClr val="B020A9"/>
                    </a:solidFill>
                    <a:latin typeface="LMRoman17-Regular"/>
                  </a:rPr>
                  <a:t>independientemente</a:t>
                </a:r>
                <a:r>
                  <a:rPr lang="es-ES" sz="1800" b="1" i="0" u="none" strike="noStrike" baseline="0" dirty="0">
                    <a:solidFill>
                      <a:srgbClr val="7030A0"/>
                    </a:solidFill>
                    <a:latin typeface="LMRoman17-Regular"/>
                  </a:rPr>
                  <a:t> </a:t>
                </a:r>
                <a:r>
                  <a:rPr lang="es-ES" sz="1800" b="0" i="0" u="none" strike="noStrike" baseline="0" dirty="0">
                    <a:solidFill>
                      <a:srgbClr val="000000"/>
                    </a:solidFill>
                    <a:latin typeface="LMRoman17-Regular"/>
                  </a:rPr>
                  <a:t>de la distribución de probabilidad </a:t>
                </a:r>
                <a14:m>
                  <m:oMath xmlns:m="http://schemas.openxmlformats.org/officeDocument/2006/math">
                    <m:sSub>
                      <m:sSubPr>
                        <m:ctrlPr>
                          <a:rPr lang="en-US" sz="1800" b="0" i="1" u="none" strike="noStrike" baseline="0" smtClean="0">
                            <a:solidFill>
                              <a:srgbClr val="000000"/>
                            </a:solidFill>
                            <a:latin typeface="Cambria Math" panose="02040503050406030204" pitchFamily="18" charset="0"/>
                          </a:rPr>
                        </m:ctrlPr>
                      </m:sSubPr>
                      <m:e>
                        <m:r>
                          <a:rPr lang="en-US" sz="1800" b="0" i="1" u="none" strike="noStrike" baseline="0" smtClean="0">
                            <a:solidFill>
                              <a:srgbClr val="000000"/>
                            </a:solidFill>
                            <a:latin typeface="Cambria Math" panose="02040503050406030204" pitchFamily="18" charset="0"/>
                          </a:rPr>
                          <m:t>𝑃</m:t>
                        </m:r>
                      </m:e>
                      <m:sub>
                        <m:r>
                          <a:rPr lang="en-US" sz="1800" b="0" i="1" u="none" strike="noStrike" baseline="0" smtClean="0">
                            <a:solidFill>
                              <a:srgbClr val="000000"/>
                            </a:solidFill>
                            <a:latin typeface="Cambria Math" panose="02040503050406030204" pitchFamily="18" charset="0"/>
                          </a:rPr>
                          <m:t>𝑁</m:t>
                        </m:r>
                      </m:sub>
                    </m:sSub>
                    <m:r>
                      <a:rPr lang="en-US" sz="1800" b="0" i="1" u="none" strike="noStrike" baseline="0" smtClean="0">
                        <a:solidFill>
                          <a:srgbClr val="000000"/>
                        </a:solidFill>
                        <a:latin typeface="Cambria Math" panose="02040503050406030204" pitchFamily="18" charset="0"/>
                      </a:rPr>
                      <m:t>(</m:t>
                    </m:r>
                    <m:r>
                      <a:rPr lang="en-US" sz="1800" b="0" i="1" u="none" strike="noStrike" baseline="0" smtClean="0">
                        <a:solidFill>
                          <a:srgbClr val="000000"/>
                        </a:solidFill>
                        <a:latin typeface="Cambria Math" panose="02040503050406030204" pitchFamily="18" charset="0"/>
                      </a:rPr>
                      <m:t>𝑋</m:t>
                    </m:r>
                    <m:r>
                      <a:rPr lang="en-US" sz="1800" b="0" i="1" u="none" strike="noStrike" baseline="0" smtClean="0">
                        <a:solidFill>
                          <a:srgbClr val="000000"/>
                        </a:solidFill>
                        <a:latin typeface="Cambria Math" panose="02040503050406030204" pitchFamily="18" charset="0"/>
                      </a:rPr>
                      <m:t>)</m:t>
                    </m:r>
                  </m:oMath>
                </a14:m>
                <a:r>
                  <a:rPr lang="es-ES" sz="1800" b="0" i="0" u="none" strike="noStrike" baseline="0" dirty="0">
                    <a:solidFill>
                      <a:srgbClr val="000000"/>
                    </a:solidFill>
                    <a:latin typeface="LMRoman17-Regular"/>
                  </a:rPr>
                  <a:t>, </a:t>
                </a:r>
                <a:r>
                  <a:rPr lang="es-ES" sz="1800" b="0" i="0" u="none" strike="noStrike" baseline="0" dirty="0">
                    <a:solidFill>
                      <a:srgbClr val="B020A9"/>
                    </a:solidFill>
                    <a:latin typeface="LMRoman17-Regular"/>
                  </a:rPr>
                  <a:t>el valor esperado de cualquier observable puede ser hallado mediante sumas parciales de </a:t>
                </a:r>
                <a:r>
                  <a:rPr lang="es-ES" sz="1800" b="0" i="1" u="none" strike="noStrike" baseline="0" dirty="0">
                    <a:solidFill>
                      <a:srgbClr val="B020A9"/>
                    </a:solidFill>
                    <a:latin typeface="LMMathItalic12-Regular"/>
                  </a:rPr>
                  <a:t>M </a:t>
                </a:r>
                <a:r>
                  <a:rPr lang="es-ES" sz="1800" b="0" i="1" u="none" strike="noStrike" baseline="0" dirty="0">
                    <a:solidFill>
                      <a:srgbClr val="B020A9"/>
                    </a:solidFill>
                    <a:latin typeface="LMRoman12-Italic"/>
                  </a:rPr>
                  <a:t>realizaciones concretas </a:t>
                </a:r>
                <a:r>
                  <a:rPr lang="es-ES" sz="1800" b="0" i="0" u="none" strike="noStrike" baseline="0" dirty="0">
                    <a:solidFill>
                      <a:srgbClr val="B020A9"/>
                    </a:solidFill>
                    <a:latin typeface="LMRoman17-Regular"/>
                  </a:rPr>
                  <a:t>de los mismos</a:t>
                </a:r>
                <a:r>
                  <a:rPr lang="es-ES" sz="1800" b="0" i="0" u="none" strike="noStrike" baseline="0" dirty="0">
                    <a:solidFill>
                      <a:srgbClr val="000000"/>
                    </a:solidFill>
                    <a:latin typeface="LMRoman17-Regular"/>
                  </a:rPr>
                  <a:t>, esto es </a:t>
                </a:r>
                <a:br>
                  <a:rPr lang="es-ES" sz="1800" b="0" i="0" u="none" strike="noStrike" baseline="0" dirty="0">
                    <a:solidFill>
                      <a:srgbClr val="000000"/>
                    </a:solidFill>
                    <a:latin typeface="LMRoman17-Regular"/>
                  </a:rPr>
                </a:br>
                <a14:m>
                  <m:oMath xmlns:m="http://schemas.openxmlformats.org/officeDocument/2006/math">
                    <m:d>
                      <m:dPr>
                        <m:begChr m:val="⟨"/>
                        <m:endChr m:val="⟩"/>
                        <m:ctrlPr>
                          <a:rPr lang="es-ES" sz="1800" b="0" i="1" u="none" strike="noStrike" baseline="0" smtClean="0">
                            <a:solidFill>
                              <a:srgbClr val="000000"/>
                            </a:solidFill>
                            <a:latin typeface="Cambria Math" panose="02040503050406030204" pitchFamily="18" charset="0"/>
                          </a:rPr>
                        </m:ctrlPr>
                      </m:dPr>
                      <m:e>
                        <m:r>
                          <a:rPr lang="en-US" sz="1800" b="0" i="1" u="none" strike="noStrike" baseline="0" smtClean="0">
                            <a:solidFill>
                              <a:srgbClr val="000000"/>
                            </a:solidFill>
                            <a:latin typeface="Cambria Math" panose="02040503050406030204" pitchFamily="18" charset="0"/>
                          </a:rPr>
                          <m:t>𝐴</m:t>
                        </m:r>
                      </m:e>
                    </m:d>
                    <m:r>
                      <a:rPr lang="en-US" sz="1800" b="0" i="1" u="none" strike="noStrike" baseline="0" smtClean="0">
                        <a:solidFill>
                          <a:srgbClr val="000000"/>
                        </a:solidFill>
                        <a:latin typeface="Cambria Math" panose="02040503050406030204" pitchFamily="18" charset="0"/>
                      </a:rPr>
                      <m:t>=</m:t>
                    </m:r>
                    <m:sSup>
                      <m:sSupPr>
                        <m:ctrlPr>
                          <a:rPr lang="en-US" sz="1800" b="0" i="1" u="none" strike="noStrike" baseline="0" smtClean="0">
                            <a:solidFill>
                              <a:srgbClr val="000000"/>
                            </a:solidFill>
                            <a:latin typeface="Cambria Math" panose="02040503050406030204" pitchFamily="18" charset="0"/>
                          </a:rPr>
                        </m:ctrlPr>
                      </m:sSupPr>
                      <m:e>
                        <m:r>
                          <a:rPr lang="en-US" sz="1800" b="0" i="1" u="none" strike="noStrike" baseline="0" smtClean="0">
                            <a:solidFill>
                              <a:srgbClr val="000000"/>
                            </a:solidFill>
                            <a:latin typeface="Cambria Math" panose="02040503050406030204" pitchFamily="18" charset="0"/>
                          </a:rPr>
                          <m:t>𝑀</m:t>
                        </m:r>
                      </m:e>
                      <m:sup>
                        <m:r>
                          <a:rPr lang="en-US" sz="1800" b="0" i="1" u="none" strike="noStrike" baseline="0" smtClean="0">
                            <a:solidFill>
                              <a:srgbClr val="000000"/>
                            </a:solidFill>
                            <a:latin typeface="Cambria Math" panose="02040503050406030204" pitchFamily="18" charset="0"/>
                          </a:rPr>
                          <m:t>−1</m:t>
                        </m:r>
                      </m:sup>
                    </m:sSup>
                    <m:nary>
                      <m:naryPr>
                        <m:chr m:val="∑"/>
                        <m:ctrlPr>
                          <a:rPr lang="en-US" sz="1800" b="0" i="1" u="none" strike="noStrike" baseline="0" smtClean="0">
                            <a:solidFill>
                              <a:srgbClr val="000000"/>
                            </a:solidFill>
                            <a:latin typeface="Cambria Math" panose="02040503050406030204" pitchFamily="18" charset="0"/>
                          </a:rPr>
                        </m:ctrlPr>
                      </m:naryPr>
                      <m:sub>
                        <m:r>
                          <m:rPr>
                            <m:brk m:alnAt="23"/>
                          </m:rPr>
                          <a:rPr lang="en-US" sz="1800" b="0" i="1" u="none" strike="noStrike" baseline="0" smtClean="0">
                            <a:solidFill>
                              <a:srgbClr val="000000"/>
                            </a:solidFill>
                            <a:latin typeface="Cambria Math" panose="02040503050406030204" pitchFamily="18" charset="0"/>
                          </a:rPr>
                          <m:t>𝑖</m:t>
                        </m:r>
                        <m:r>
                          <a:rPr lang="en-US" sz="1800" b="0" i="1" u="none" strike="noStrike" baseline="0" smtClean="0">
                            <a:solidFill>
                              <a:srgbClr val="000000"/>
                            </a:solidFill>
                            <a:latin typeface="Cambria Math" panose="02040503050406030204" pitchFamily="18" charset="0"/>
                          </a:rPr>
                          <m:t>=1</m:t>
                        </m:r>
                      </m:sub>
                      <m:sup>
                        <m:r>
                          <a:rPr lang="en-US" sz="1800" b="0" i="1" u="none" strike="noStrike" baseline="0" smtClean="0">
                            <a:solidFill>
                              <a:srgbClr val="000000"/>
                            </a:solidFill>
                            <a:latin typeface="Cambria Math" panose="02040503050406030204" pitchFamily="18" charset="0"/>
                          </a:rPr>
                          <m:t>𝑀</m:t>
                        </m:r>
                      </m:sup>
                      <m:e>
                        <m:r>
                          <a:rPr lang="en-US" sz="1800" b="0" i="1" u="none" strike="noStrike" baseline="0" smtClean="0">
                            <a:solidFill>
                              <a:srgbClr val="000000"/>
                            </a:solidFill>
                            <a:latin typeface="Cambria Math" panose="02040503050406030204" pitchFamily="18" charset="0"/>
                          </a:rPr>
                          <m:t>𝐴</m:t>
                        </m:r>
                        <m:d>
                          <m:dPr>
                            <m:ctrlPr>
                              <a:rPr lang="en-US" sz="1800" b="0" i="1" u="none" strike="noStrike" baseline="0" smtClean="0">
                                <a:solidFill>
                                  <a:srgbClr val="000000"/>
                                </a:solidFill>
                                <a:latin typeface="Cambria Math" panose="02040503050406030204" pitchFamily="18" charset="0"/>
                              </a:rPr>
                            </m:ctrlPr>
                          </m:dPr>
                          <m:e>
                            <m:sSub>
                              <m:sSubPr>
                                <m:ctrlPr>
                                  <a:rPr lang="en-US" sz="1800" b="0" i="1" u="none" strike="noStrike" baseline="0" smtClean="0">
                                    <a:solidFill>
                                      <a:srgbClr val="000000"/>
                                    </a:solidFill>
                                    <a:latin typeface="Cambria Math" panose="02040503050406030204" pitchFamily="18" charset="0"/>
                                  </a:rPr>
                                </m:ctrlPr>
                              </m:sSubPr>
                              <m:e>
                                <m:r>
                                  <a:rPr lang="en-US" sz="1800" b="0" i="1" u="none" strike="noStrike" baseline="0" smtClean="0">
                                    <a:solidFill>
                                      <a:srgbClr val="000000"/>
                                    </a:solidFill>
                                    <a:latin typeface="Cambria Math" panose="02040503050406030204" pitchFamily="18" charset="0"/>
                                  </a:rPr>
                                  <m:t>𝑋</m:t>
                                </m:r>
                              </m:e>
                              <m:sub>
                                <m:r>
                                  <a:rPr lang="en-US" sz="1800" b="0" i="1" u="none" strike="noStrike" baseline="0" smtClean="0">
                                    <a:solidFill>
                                      <a:srgbClr val="000000"/>
                                    </a:solidFill>
                                    <a:latin typeface="Cambria Math" panose="02040503050406030204" pitchFamily="18" charset="0"/>
                                  </a:rPr>
                                  <m:t>𝑖</m:t>
                                </m:r>
                              </m:sub>
                            </m:sSub>
                          </m:e>
                        </m:d>
                        <m:r>
                          <a:rPr lang="en-US" sz="1800" b="0" i="1" u="none" strike="noStrike" baseline="0" smtClean="0">
                            <a:solidFill>
                              <a:srgbClr val="000000"/>
                            </a:solidFill>
                            <a:latin typeface="Cambria Math" panose="02040503050406030204" pitchFamily="18" charset="0"/>
                          </a:rPr>
                          <m:t>+</m:t>
                        </m:r>
                        <m:r>
                          <a:rPr lang="en-US" sz="1800" b="0" i="1" u="none" strike="noStrike" baseline="0" smtClean="0">
                            <a:solidFill>
                              <a:srgbClr val="000000"/>
                            </a:solidFill>
                            <a:latin typeface="Cambria Math" panose="02040503050406030204" pitchFamily="18" charset="0"/>
                          </a:rPr>
                          <m:t>𝑂</m:t>
                        </m:r>
                        <m:r>
                          <a:rPr lang="en-US" sz="1800" b="0" i="1" u="none" strike="noStrike" baseline="0" smtClean="0">
                            <a:solidFill>
                              <a:srgbClr val="000000"/>
                            </a:solidFill>
                            <a:latin typeface="Cambria Math" panose="02040503050406030204" pitchFamily="18" charset="0"/>
                          </a:rPr>
                          <m:t>(</m:t>
                        </m:r>
                        <m:sSup>
                          <m:sSupPr>
                            <m:ctrlPr>
                              <a:rPr lang="en-US" sz="1800" b="0" i="1" u="none" strike="noStrike" baseline="0" smtClean="0">
                                <a:solidFill>
                                  <a:srgbClr val="000000"/>
                                </a:solidFill>
                                <a:latin typeface="Cambria Math" panose="02040503050406030204" pitchFamily="18" charset="0"/>
                              </a:rPr>
                            </m:ctrlPr>
                          </m:sSupPr>
                          <m:e>
                            <m:r>
                              <a:rPr lang="en-US" sz="1800" b="0" i="1" u="none" strike="noStrike" baseline="0" smtClean="0">
                                <a:solidFill>
                                  <a:srgbClr val="000000"/>
                                </a:solidFill>
                                <a:latin typeface="Cambria Math" panose="02040503050406030204" pitchFamily="18" charset="0"/>
                              </a:rPr>
                              <m:t>𝑀</m:t>
                            </m:r>
                          </m:e>
                          <m:sup>
                            <m:r>
                              <a:rPr lang="en-US" sz="1800" b="0" i="1" u="none" strike="noStrike" baseline="0" smtClean="0">
                                <a:solidFill>
                                  <a:srgbClr val="000000"/>
                                </a:solidFill>
                                <a:latin typeface="Cambria Math" panose="02040503050406030204" pitchFamily="18" charset="0"/>
                              </a:rPr>
                              <m:t>−</m:t>
                            </m:r>
                            <m:f>
                              <m:fPr>
                                <m:ctrlPr>
                                  <a:rPr lang="en-US" sz="1800" b="0" i="1" u="none" strike="noStrike" baseline="0" smtClean="0">
                                    <a:solidFill>
                                      <a:srgbClr val="000000"/>
                                    </a:solidFill>
                                    <a:latin typeface="Cambria Math" panose="02040503050406030204" pitchFamily="18" charset="0"/>
                                  </a:rPr>
                                </m:ctrlPr>
                              </m:fPr>
                              <m:num>
                                <m:r>
                                  <a:rPr lang="en-US" sz="1800" b="0" i="1" u="none" strike="noStrike" baseline="0" smtClean="0">
                                    <a:solidFill>
                                      <a:srgbClr val="000000"/>
                                    </a:solidFill>
                                    <a:latin typeface="Cambria Math" panose="02040503050406030204" pitchFamily="18" charset="0"/>
                                  </a:rPr>
                                  <m:t>1</m:t>
                                </m:r>
                              </m:num>
                              <m:den>
                                <m:r>
                                  <a:rPr lang="en-US" sz="1800" b="0" i="1" u="none" strike="noStrike" baseline="0" smtClean="0">
                                    <a:solidFill>
                                      <a:srgbClr val="000000"/>
                                    </a:solidFill>
                                    <a:latin typeface="Cambria Math" panose="02040503050406030204" pitchFamily="18" charset="0"/>
                                  </a:rPr>
                                  <m:t>2</m:t>
                                </m:r>
                              </m:den>
                            </m:f>
                          </m:sup>
                        </m:sSup>
                        <m:r>
                          <a:rPr lang="en-US" sz="1800" b="0" i="1" u="none" strike="noStrike" baseline="0" smtClean="0">
                            <a:solidFill>
                              <a:srgbClr val="000000"/>
                            </a:solidFill>
                            <a:latin typeface="Cambria Math" panose="02040503050406030204" pitchFamily="18" charset="0"/>
                          </a:rPr>
                          <m:t>)</m:t>
                        </m:r>
                      </m:e>
                    </m:nary>
                    <m:r>
                      <a:rPr lang="en-US" sz="1800" b="0" i="1" u="none" strike="noStrike" baseline="0" smtClean="0">
                        <a:solidFill>
                          <a:srgbClr val="000000"/>
                        </a:solidFill>
                        <a:latin typeface="Cambria Math" panose="02040503050406030204" pitchFamily="18" charset="0"/>
                      </a:rPr>
                      <m:t> </m:t>
                    </m:r>
                  </m:oMath>
                </a14:m>
                <a:br>
                  <a:rPr lang="en-US" sz="1800" b="0" i="0" u="none" strike="noStrike" baseline="0" dirty="0">
                    <a:solidFill>
                      <a:srgbClr val="000000"/>
                    </a:solidFill>
                    <a:latin typeface="LMRoman17-Regular"/>
                  </a:rPr>
                </a:br>
                <a:r>
                  <a:rPr lang="es-ES" sz="1800" b="0" i="0" u="none" strike="noStrike" baseline="0" dirty="0">
                    <a:solidFill>
                      <a:srgbClr val="000000"/>
                    </a:solidFill>
                    <a:latin typeface="LMRoman17-Regular"/>
                  </a:rPr>
                  <a:t>donde </a:t>
                </a:r>
                <a14:m>
                  <m:oMath xmlns:m="http://schemas.openxmlformats.org/officeDocument/2006/math">
                    <m:sSub>
                      <m:sSubPr>
                        <m:ctrlPr>
                          <a:rPr lang="es-ES" sz="1800" b="0" i="1" u="none" strike="noStrike" baseline="0" smtClean="0">
                            <a:solidFill>
                              <a:srgbClr val="000000"/>
                            </a:solidFill>
                            <a:latin typeface="Cambria Math" panose="02040503050406030204" pitchFamily="18" charset="0"/>
                          </a:rPr>
                        </m:ctrlPr>
                      </m:sSubPr>
                      <m:e>
                        <m:r>
                          <a:rPr lang="en-US" sz="1800" b="0" i="1" u="none" strike="noStrike" baseline="0" smtClean="0">
                            <a:solidFill>
                              <a:srgbClr val="000000"/>
                            </a:solidFill>
                            <a:latin typeface="Cambria Math" panose="02040503050406030204" pitchFamily="18" charset="0"/>
                          </a:rPr>
                          <m:t>𝑋</m:t>
                        </m:r>
                      </m:e>
                      <m:sub>
                        <m:r>
                          <a:rPr lang="es-ES" sz="1800" b="0" i="1" u="none" strike="noStrike" baseline="0" smtClean="0">
                            <a:solidFill>
                              <a:srgbClr val="000000"/>
                            </a:solidFill>
                            <a:latin typeface="Cambria Math" panose="02040503050406030204" pitchFamily="18" charset="0"/>
                          </a:rPr>
                          <m:t>𝑖</m:t>
                        </m:r>
                      </m:sub>
                    </m:sSub>
                  </m:oMath>
                </a14:m>
                <a:r>
                  <a:rPr lang="es-ES" sz="1800" b="0" i="1" u="none" strike="noStrike" baseline="0" dirty="0">
                    <a:solidFill>
                      <a:srgbClr val="000000"/>
                    </a:solidFill>
                    <a:latin typeface="LMMathItalic12-Regular"/>
                  </a:rPr>
                  <a:t> </a:t>
                </a:r>
                <a:r>
                  <a:rPr lang="es-ES" sz="1800" b="0" i="0" u="none" strike="noStrike" baseline="0" dirty="0">
                    <a:solidFill>
                      <a:srgbClr val="000000"/>
                    </a:solidFill>
                    <a:latin typeface="LMRoman17-Regular"/>
                  </a:rPr>
                  <a:t>deben de seguir las distribución </a:t>
                </a:r>
                <a14:m>
                  <m:oMath xmlns:m="http://schemas.openxmlformats.org/officeDocument/2006/math">
                    <m:sSub>
                      <m:sSubPr>
                        <m:ctrlPr>
                          <a:rPr lang="en-US" sz="1800" b="0" i="1" u="none" strike="noStrike" baseline="0" smtClean="0">
                            <a:solidFill>
                              <a:srgbClr val="000000"/>
                            </a:solidFill>
                            <a:latin typeface="Cambria Math" panose="02040503050406030204" pitchFamily="18" charset="0"/>
                          </a:rPr>
                        </m:ctrlPr>
                      </m:sSubPr>
                      <m:e>
                        <m:r>
                          <a:rPr lang="en-US" sz="1800" b="0" i="1" u="none" strike="noStrike" baseline="0" smtClean="0">
                            <a:solidFill>
                              <a:srgbClr val="000000"/>
                            </a:solidFill>
                            <a:latin typeface="Cambria Math" panose="02040503050406030204" pitchFamily="18" charset="0"/>
                          </a:rPr>
                          <m:t>𝑃</m:t>
                        </m:r>
                      </m:e>
                      <m:sub>
                        <m:r>
                          <a:rPr lang="en-US" sz="1800" b="0" i="1" u="none" strike="noStrike" baseline="0" smtClean="0">
                            <a:solidFill>
                              <a:srgbClr val="000000"/>
                            </a:solidFill>
                            <a:latin typeface="Cambria Math" panose="02040503050406030204" pitchFamily="18" charset="0"/>
                          </a:rPr>
                          <m:t>𝑁</m:t>
                        </m:r>
                      </m:sub>
                    </m:sSub>
                    <m:r>
                      <a:rPr lang="en-US" sz="1800" b="0" i="1" u="none" strike="noStrike" baseline="0" smtClean="0">
                        <a:solidFill>
                          <a:srgbClr val="000000"/>
                        </a:solidFill>
                        <a:latin typeface="Cambria Math" panose="02040503050406030204" pitchFamily="18" charset="0"/>
                      </a:rPr>
                      <m:t>(</m:t>
                    </m:r>
                    <m:r>
                      <a:rPr lang="en-US" sz="1800" b="0" i="1" u="none" strike="noStrike" baseline="0" smtClean="0">
                        <a:solidFill>
                          <a:srgbClr val="000000"/>
                        </a:solidFill>
                        <a:latin typeface="Cambria Math" panose="02040503050406030204" pitchFamily="18" charset="0"/>
                      </a:rPr>
                      <m:t>𝑋</m:t>
                    </m:r>
                    <m:r>
                      <a:rPr lang="en-US" sz="1800" b="0" i="1" u="none" strike="noStrike" baseline="0" smtClean="0">
                        <a:solidFill>
                          <a:srgbClr val="000000"/>
                        </a:solidFill>
                        <a:latin typeface="Cambria Math" panose="02040503050406030204" pitchFamily="18" charset="0"/>
                      </a:rPr>
                      <m:t>)</m:t>
                    </m:r>
                  </m:oMath>
                </a14:m>
                <a:r>
                  <a:rPr lang="es-ES" sz="1800" b="0" i="0" u="none" strike="noStrike" baseline="0" dirty="0">
                    <a:solidFill>
                      <a:srgbClr val="000000"/>
                    </a:solidFill>
                    <a:latin typeface="LMRoman17-Regular"/>
                  </a:rPr>
                  <a:t> y han de ser </a:t>
                </a:r>
                <a:r>
                  <a:rPr lang="es-ES" sz="1800" b="0" i="0" u="none" strike="noStrike" baseline="0" dirty="0">
                    <a:solidFill>
                      <a:srgbClr val="0000FF"/>
                    </a:solidFill>
                    <a:latin typeface="LMRoman17-Regular"/>
                  </a:rPr>
                  <a:t>estadísticamente independientes</a:t>
                </a:r>
                <a:r>
                  <a:rPr lang="es-ES" sz="1800" b="0" i="0" u="none" strike="noStrike" baseline="0" dirty="0">
                    <a:solidFill>
                      <a:srgbClr val="000000"/>
                    </a:solidFill>
                    <a:latin typeface="LMRoman17-Regular"/>
                  </a:rPr>
                  <a:t>.</a:t>
                </a:r>
                <a:endParaRPr lang="es-ES" dirty="0"/>
              </a:p>
            </p:txBody>
          </p:sp>
        </mc:Choice>
        <mc:Fallback xmlns="">
          <p:sp>
            <p:nvSpPr>
              <p:cNvPr id="3" name="Marcador de contenido 2">
                <a:extLst>
                  <a:ext uri="{FF2B5EF4-FFF2-40B4-BE49-F238E27FC236}">
                    <a16:creationId xmlns:a16="http://schemas.microsoft.com/office/drawing/2014/main" id="{CA592C29-954E-4281-EEAF-A57F37617AD1}"/>
                  </a:ext>
                </a:extLst>
              </p:cNvPr>
              <p:cNvSpPr>
                <a:spLocks noGrp="1" noRot="1" noChangeAspect="1" noMove="1" noResize="1" noEditPoints="1" noAdjustHandles="1" noChangeArrowheads="1" noChangeShapeType="1" noTextEdit="1"/>
              </p:cNvSpPr>
              <p:nvPr>
                <p:ph idx="1"/>
              </p:nvPr>
            </p:nvSpPr>
            <p:spPr>
              <a:xfrm>
                <a:off x="838200" y="1048872"/>
                <a:ext cx="10618694" cy="5351928"/>
              </a:xfrm>
              <a:blipFill>
                <a:blip r:embed="rId2"/>
                <a:stretch>
                  <a:fillRect l="-115" t="-228"/>
                </a:stretch>
              </a:blipFill>
            </p:spPr>
            <p:txBody>
              <a:bodyPr/>
              <a:lstStyle/>
              <a:p>
                <a:r>
                  <a:rPr lang="es-ES">
                    <a:noFill/>
                  </a:rPr>
                  <a:t> </a:t>
                </a:r>
              </a:p>
            </p:txBody>
          </p:sp>
        </mc:Fallback>
      </mc:AlternateContent>
    </p:spTree>
    <p:extLst>
      <p:ext uri="{BB962C8B-B14F-4D97-AF65-F5344CB8AC3E}">
        <p14:creationId xmlns:p14="http://schemas.microsoft.com/office/powerpoint/2010/main" val="2211237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598E124-4239-3DEE-312E-0935065CAADE}"/>
                  </a:ext>
                </a:extLst>
              </p:cNvPr>
              <p:cNvSpPr>
                <a:spLocks noGrp="1"/>
              </p:cNvSpPr>
              <p:nvPr>
                <p:ph idx="1"/>
              </p:nvPr>
            </p:nvSpPr>
            <p:spPr>
              <a:xfrm>
                <a:off x="838200" y="1057836"/>
                <a:ext cx="10515600" cy="5119128"/>
              </a:xfrm>
            </p:spPr>
            <p:txBody>
              <a:bodyPr>
                <a:normAutofit fontScale="85000" lnSpcReduction="10000"/>
              </a:bodyPr>
              <a:lstStyle/>
              <a:p>
                <a:pPr>
                  <a:lnSpc>
                    <a:spcPct val="110000"/>
                  </a:lnSpc>
                </a:pPr>
                <a:r>
                  <a:rPr lang="es-ES" sz="1800" b="0" i="0" u="none" strike="noStrike" baseline="0" dirty="0">
                    <a:solidFill>
                      <a:srgbClr val="000000"/>
                    </a:solidFill>
                    <a:latin typeface="LMRoman17-Regular"/>
                  </a:rPr>
                  <a:t>Para generar esas configuraciones podemos utilizar la </a:t>
                </a:r>
                <a:r>
                  <a:rPr lang="es-ES" sz="1800" b="0" i="0" u="none" strike="noStrike" baseline="0" dirty="0">
                    <a:solidFill>
                      <a:srgbClr val="B020A9"/>
                    </a:solidFill>
                    <a:latin typeface="LMRoman17-Regular"/>
                  </a:rPr>
                  <a:t>técnica del rechazo</a:t>
                </a:r>
                <a:r>
                  <a:rPr lang="es-ES" sz="1800" b="0" i="0" u="none" strike="noStrike" baseline="0" dirty="0">
                    <a:solidFill>
                      <a:srgbClr val="000000"/>
                    </a:solidFill>
                    <a:latin typeface="LMRoman17-Regular"/>
                  </a:rPr>
                  <a:t>. Ésta, se basa en el hecho obvio de que si </a:t>
                </a:r>
                <a14:m>
                  <m:oMath xmlns:m="http://schemas.openxmlformats.org/officeDocument/2006/math">
                    <m:r>
                      <a:rPr lang="en-US" sz="1800" b="0" i="1" u="none" strike="noStrike" baseline="0" smtClean="0">
                        <a:solidFill>
                          <a:srgbClr val="000000"/>
                        </a:solidFill>
                        <a:latin typeface="Cambria Math" panose="02040503050406030204" pitchFamily="18" charset="0"/>
                      </a:rPr>
                      <m:t>𝑓</m:t>
                    </m:r>
                    <m:r>
                      <a:rPr lang="en-US" sz="1800" b="0" i="1" u="none" strike="noStrike" baseline="0" smtClean="0">
                        <a:solidFill>
                          <a:srgbClr val="000000"/>
                        </a:solidFill>
                        <a:latin typeface="Cambria Math" panose="02040503050406030204" pitchFamily="18" charset="0"/>
                      </a:rPr>
                      <m:t>(</m:t>
                    </m:r>
                    <m:r>
                      <a:rPr lang="en-US" sz="1800" b="0" i="1" u="none" strike="noStrike" baseline="0" smtClean="0">
                        <a:solidFill>
                          <a:srgbClr val="000000"/>
                        </a:solidFill>
                        <a:latin typeface="Cambria Math" panose="02040503050406030204" pitchFamily="18" charset="0"/>
                      </a:rPr>
                      <m:t>𝑥</m:t>
                    </m:r>
                    <m:r>
                      <a:rPr lang="en-US" sz="1800" b="0" i="1" u="none" strike="noStrike" baseline="0" smtClean="0">
                        <a:solidFill>
                          <a:srgbClr val="000000"/>
                        </a:solidFill>
                        <a:latin typeface="Cambria Math" panose="02040503050406030204" pitchFamily="18" charset="0"/>
                      </a:rPr>
                      <m:t>)</m:t>
                    </m:r>
                  </m:oMath>
                </a14:m>
                <a:r>
                  <a:rPr lang="es-ES" sz="1800" b="0" i="0" u="none" strike="noStrike" baseline="0" dirty="0">
                    <a:solidFill>
                      <a:srgbClr val="000000"/>
                    </a:solidFill>
                    <a:latin typeface="LMRoman17-Regular"/>
                  </a:rPr>
                  <a:t> es una cierta densidad de probabilidad, entonces si </a:t>
                </a:r>
                <a14:m>
                  <m:oMath xmlns:m="http://schemas.openxmlformats.org/officeDocument/2006/math">
                    <m:r>
                      <a:rPr lang="en-US" sz="1800" b="0" i="1" u="none" strike="noStrike" baseline="0" smtClean="0">
                        <a:solidFill>
                          <a:srgbClr val="000000"/>
                        </a:solidFill>
                        <a:latin typeface="Cambria Math" panose="02040503050406030204" pitchFamily="18" charset="0"/>
                      </a:rPr>
                      <m:t>𝑓</m:t>
                    </m:r>
                    <m:d>
                      <m:dPr>
                        <m:ctrlPr>
                          <a:rPr lang="en-US" sz="1800" b="0" i="1" u="none" strike="noStrike" baseline="0" smtClean="0">
                            <a:solidFill>
                              <a:srgbClr val="000000"/>
                            </a:solidFill>
                            <a:latin typeface="Cambria Math" panose="02040503050406030204" pitchFamily="18" charset="0"/>
                          </a:rPr>
                        </m:ctrlPr>
                      </m:dPr>
                      <m:e>
                        <m:r>
                          <a:rPr lang="en-US" sz="1800" b="0" i="1" u="none" strike="noStrike" baseline="0" smtClean="0">
                            <a:solidFill>
                              <a:srgbClr val="000000"/>
                            </a:solidFill>
                            <a:latin typeface="Cambria Math" panose="02040503050406030204" pitchFamily="18" charset="0"/>
                          </a:rPr>
                          <m:t>𝑦</m:t>
                        </m:r>
                      </m:e>
                    </m:d>
                    <m:r>
                      <a:rPr lang="en-US" sz="1800" b="0" i="1" u="none" strike="noStrike" baseline="0" smtClean="0">
                        <a:solidFill>
                          <a:srgbClr val="000000"/>
                        </a:solidFill>
                        <a:latin typeface="Cambria Math" panose="02040503050406030204" pitchFamily="18" charset="0"/>
                      </a:rPr>
                      <m:t>=2</m:t>
                    </m:r>
                    <m:r>
                      <a:rPr lang="en-US" sz="1800" b="0" i="1" u="none" strike="noStrike" baseline="0" smtClean="0">
                        <a:solidFill>
                          <a:srgbClr val="000000"/>
                        </a:solidFill>
                        <a:latin typeface="Cambria Math" panose="02040503050406030204" pitchFamily="18" charset="0"/>
                      </a:rPr>
                      <m:t>𝑓</m:t>
                    </m:r>
                    <m:r>
                      <a:rPr lang="en-US" sz="1800" b="0" i="1" u="none" strike="noStrike" baseline="0" smtClean="0">
                        <a:solidFill>
                          <a:srgbClr val="000000"/>
                        </a:solidFill>
                        <a:latin typeface="Cambria Math" panose="02040503050406030204" pitchFamily="18" charset="0"/>
                      </a:rPr>
                      <m:t>(</m:t>
                    </m:r>
                    <m:r>
                      <a:rPr lang="en-US" sz="1800" b="0" i="1" u="none" strike="noStrike" baseline="0" smtClean="0">
                        <a:solidFill>
                          <a:srgbClr val="000000"/>
                        </a:solidFill>
                        <a:latin typeface="Cambria Math" panose="02040503050406030204" pitchFamily="18" charset="0"/>
                      </a:rPr>
                      <m:t>𝑥</m:t>
                    </m:r>
                    <m:r>
                      <a:rPr lang="en-US" sz="1800" b="0" i="1" u="none" strike="noStrike" baseline="0" smtClean="0">
                        <a:solidFill>
                          <a:srgbClr val="000000"/>
                        </a:solidFill>
                        <a:latin typeface="Cambria Math" panose="02040503050406030204" pitchFamily="18" charset="0"/>
                      </a:rPr>
                      <m:t>)</m:t>
                    </m:r>
                  </m:oMath>
                </a14:m>
                <a:r>
                  <a:rPr lang="es-ES" sz="1800" b="0" i="0" u="none" strike="noStrike" baseline="0" dirty="0">
                    <a:solidFill>
                      <a:srgbClr val="000000"/>
                    </a:solidFill>
                    <a:latin typeface="LMRoman17-Regular"/>
                  </a:rPr>
                  <a:t>, entonces </a:t>
                </a:r>
                <a14:m>
                  <m:oMath xmlns:m="http://schemas.openxmlformats.org/officeDocument/2006/math">
                    <m:r>
                      <a:rPr lang="en-US" sz="1800" b="0" i="1" u="none" strike="noStrike" baseline="0" smtClean="0">
                        <a:solidFill>
                          <a:srgbClr val="000000"/>
                        </a:solidFill>
                        <a:latin typeface="Cambria Math" panose="02040503050406030204" pitchFamily="18" charset="0"/>
                      </a:rPr>
                      <m:t>𝑦</m:t>
                    </m:r>
                  </m:oMath>
                </a14:m>
                <a:r>
                  <a:rPr lang="es-ES" sz="1800" b="0" i="1" u="none" strike="noStrike" baseline="0" dirty="0">
                    <a:solidFill>
                      <a:srgbClr val="000000"/>
                    </a:solidFill>
                    <a:latin typeface="LMMathItalic12-Regular"/>
                  </a:rPr>
                  <a:t> </a:t>
                </a:r>
                <a:r>
                  <a:rPr lang="es-ES" sz="1800" b="0" i="0" u="none" strike="noStrike" baseline="0" dirty="0">
                    <a:solidFill>
                      <a:srgbClr val="000000"/>
                    </a:solidFill>
                    <a:latin typeface="LMRoman17-Regular"/>
                  </a:rPr>
                  <a:t>es dos veces más probable que </a:t>
                </a:r>
                <a14:m>
                  <m:oMath xmlns:m="http://schemas.openxmlformats.org/officeDocument/2006/math">
                    <m:r>
                      <a:rPr lang="en-US" sz="1800" b="0" i="1" u="none" strike="noStrike" baseline="0" smtClean="0">
                        <a:solidFill>
                          <a:srgbClr val="000000"/>
                        </a:solidFill>
                        <a:latin typeface="Cambria Math" panose="02040503050406030204" pitchFamily="18" charset="0"/>
                      </a:rPr>
                      <m:t>𝑥</m:t>
                    </m:r>
                  </m:oMath>
                </a14:m>
                <a:r>
                  <a:rPr lang="es-ES" sz="1800" b="0" i="0" u="none" strike="noStrike" baseline="0" dirty="0">
                    <a:solidFill>
                      <a:srgbClr val="000000"/>
                    </a:solidFill>
                    <a:latin typeface="LMRoman17-Regular"/>
                  </a:rPr>
                  <a:t> . Por </a:t>
                </a:r>
                <a:r>
                  <a:rPr lang="es-ES" sz="1800" dirty="0">
                    <a:solidFill>
                      <a:srgbClr val="000000"/>
                    </a:solidFill>
                    <a:latin typeface="LMRoman17-Regular"/>
                  </a:rPr>
                  <a:t>tanto, para reconstruir </a:t>
                </a:r>
                <a14:m>
                  <m:oMath xmlns:m="http://schemas.openxmlformats.org/officeDocument/2006/math">
                    <m:r>
                      <a:rPr lang="en-US" sz="1800" b="0" i="1" u="none" strike="noStrike" baseline="0" smtClean="0">
                        <a:solidFill>
                          <a:srgbClr val="000000"/>
                        </a:solidFill>
                        <a:latin typeface="Cambria Math" panose="02040503050406030204" pitchFamily="18" charset="0"/>
                      </a:rPr>
                      <m:t>𝑓</m:t>
                    </m:r>
                    <m:r>
                      <a:rPr lang="en-US" sz="1800" b="0" i="1" u="none" strike="noStrike" baseline="0" smtClean="0">
                        <a:solidFill>
                          <a:srgbClr val="000000"/>
                        </a:solidFill>
                        <a:latin typeface="Cambria Math" panose="02040503050406030204" pitchFamily="18" charset="0"/>
                      </a:rPr>
                      <m:t>(</m:t>
                    </m:r>
                    <m:r>
                      <a:rPr lang="en-US" sz="1800" b="0" i="1" u="none" strike="noStrike" baseline="0" smtClean="0">
                        <a:solidFill>
                          <a:srgbClr val="000000"/>
                        </a:solidFill>
                        <a:latin typeface="Cambria Math" panose="02040503050406030204" pitchFamily="18" charset="0"/>
                      </a:rPr>
                      <m:t>𝑥</m:t>
                    </m:r>
                    <m:r>
                      <a:rPr lang="en-US" sz="1800" b="0" i="1" u="none" strike="noStrike" baseline="0" smtClean="0">
                        <a:solidFill>
                          <a:srgbClr val="000000"/>
                        </a:solidFill>
                        <a:latin typeface="Cambria Math" panose="02040503050406030204" pitchFamily="18" charset="0"/>
                      </a:rPr>
                      <m:t>)</m:t>
                    </m:r>
                  </m:oMath>
                </a14:m>
                <a:r>
                  <a:rPr lang="es-ES" sz="1800" b="0" i="0" u="none" strike="noStrike" baseline="0" dirty="0">
                    <a:solidFill>
                      <a:srgbClr val="000000"/>
                    </a:solidFill>
                    <a:latin typeface="LMRoman17-Regular"/>
                  </a:rPr>
                  <a:t> </a:t>
                </a:r>
                <a:r>
                  <a:rPr lang="es-ES" sz="1800" dirty="0">
                    <a:solidFill>
                      <a:srgbClr val="000000"/>
                    </a:solidFill>
                    <a:latin typeface="LMRoman17-Regular"/>
                  </a:rPr>
                  <a:t>basta con </a:t>
                </a:r>
                <a:r>
                  <a:rPr lang="es-ES" sz="1800" dirty="0">
                    <a:solidFill>
                      <a:srgbClr val="B020A9"/>
                    </a:solidFill>
                    <a:latin typeface="LMRoman17-Regular"/>
                  </a:rPr>
                  <a:t>encontrar </a:t>
                </a:r>
                <a:r>
                  <a:rPr lang="es-ES" sz="1800" b="0" i="0" u="none" strike="noStrike" baseline="0" dirty="0">
                    <a:solidFill>
                      <a:srgbClr val="B020A9"/>
                    </a:solidFill>
                    <a:latin typeface="LMRoman17-Regular"/>
                  </a:rPr>
                  <a:t>la frecuencia relativa </a:t>
                </a:r>
                <a:r>
                  <a:rPr lang="es-ES" sz="1800" b="0" i="0" u="none" strike="noStrike" baseline="0" dirty="0">
                    <a:solidFill>
                      <a:srgbClr val="000000"/>
                    </a:solidFill>
                    <a:latin typeface="LMRoman17-Regular"/>
                  </a:rPr>
                  <a:t>entre eventos. Uno podría</a:t>
                </a:r>
                <a:r>
                  <a:rPr lang="es-ES" sz="1800" b="0" i="0" u="none" strike="noStrike" dirty="0">
                    <a:solidFill>
                      <a:srgbClr val="000000"/>
                    </a:solidFill>
                    <a:latin typeface="LMRoman17-Regular"/>
                  </a:rPr>
                  <a:t> por tanto plantear el siguiente algoritmo: </a:t>
                </a:r>
              </a:p>
              <a:p>
                <a:pPr marL="800100" lvl="1" indent="-342900">
                  <a:lnSpc>
                    <a:spcPct val="110000"/>
                  </a:lnSpc>
                  <a:buFont typeface="+mj-lt"/>
                  <a:buAutoNum type="arabicPeriod"/>
                </a:pPr>
                <a:r>
                  <a:rPr lang="es-ES" sz="1800" b="0" i="0" u="none" strike="noStrike" baseline="0" dirty="0">
                    <a:solidFill>
                      <a:srgbClr val="000000"/>
                    </a:solidFill>
                    <a:latin typeface="LMRoman17-Regular"/>
                  </a:rPr>
                  <a:t>Generar un valor </a:t>
                </a:r>
                <a14:m>
                  <m:oMath xmlns:m="http://schemas.openxmlformats.org/officeDocument/2006/math">
                    <m:r>
                      <a:rPr lang="en-US" sz="1800" b="0" i="1" u="none" strike="noStrike" baseline="0" smtClean="0">
                        <a:solidFill>
                          <a:srgbClr val="000000"/>
                        </a:solidFill>
                        <a:latin typeface="Cambria Math" panose="02040503050406030204" pitchFamily="18" charset="0"/>
                      </a:rPr>
                      <m:t>𝑥</m:t>
                    </m:r>
                  </m:oMath>
                </a14:m>
                <a:r>
                  <a:rPr lang="es-ES" sz="1800" b="0" i="0" u="none" strike="noStrike" baseline="0" dirty="0">
                    <a:solidFill>
                      <a:srgbClr val="000000"/>
                    </a:solidFill>
                    <a:latin typeface="LMRoman17-Regular"/>
                  </a:rPr>
                  <a:t> aleatoriamente y uniformemente distribuido en su dominio de definición.</a:t>
                </a:r>
              </a:p>
              <a:p>
                <a:pPr marL="800100" lvl="1" indent="-342900">
                  <a:lnSpc>
                    <a:spcPct val="110000"/>
                  </a:lnSpc>
                  <a:buFont typeface="+mj-lt"/>
                  <a:buAutoNum type="arabicPeriod"/>
                </a:pPr>
                <a:r>
                  <a:rPr lang="es-ES" sz="1800" b="0" i="0" u="none" strike="noStrike" baseline="0" dirty="0">
                    <a:solidFill>
                      <a:srgbClr val="000000"/>
                    </a:solidFill>
                    <a:latin typeface="LMRoman17-Regular"/>
                  </a:rPr>
                  <a:t>Generar un número aleatorio uniforme </a:t>
                </a:r>
                <a14:m>
                  <m:oMath xmlns:m="http://schemas.openxmlformats.org/officeDocument/2006/math">
                    <m:r>
                      <a:rPr lang="es-ES" sz="1800" b="0" i="1" u="none" strike="noStrike" baseline="0" smtClean="0">
                        <a:solidFill>
                          <a:srgbClr val="000000"/>
                        </a:solidFill>
                        <a:latin typeface="Cambria Math" panose="02040503050406030204" pitchFamily="18" charset="0"/>
                      </a:rPr>
                      <m:t>𝑢</m:t>
                    </m:r>
                    <m:r>
                      <a:rPr lang="en-US" sz="1800" b="0" i="1" u="none" strike="noStrike" baseline="0" smtClean="0">
                        <a:solidFill>
                          <a:srgbClr val="000000"/>
                        </a:solidFill>
                        <a:latin typeface="Cambria Math" panose="02040503050406030204" pitchFamily="18" charset="0"/>
                      </a:rPr>
                      <m:t>∈[0,1]</m:t>
                    </m:r>
                  </m:oMath>
                </a14:m>
                <a:r>
                  <a:rPr lang="es-ES" sz="1800" b="0" i="0" u="none" strike="noStrike" baseline="0" dirty="0">
                    <a:solidFill>
                      <a:srgbClr val="000000"/>
                    </a:solidFill>
                    <a:latin typeface="LMRoman17-Regular"/>
                  </a:rPr>
                  <a:t>. </a:t>
                </a:r>
              </a:p>
              <a:p>
                <a:pPr marL="800100" lvl="1" indent="-342900">
                  <a:lnSpc>
                    <a:spcPct val="110000"/>
                  </a:lnSpc>
                  <a:buFont typeface="+mj-lt"/>
                  <a:buAutoNum type="arabicPeriod"/>
                </a:pPr>
                <a:r>
                  <a:rPr lang="es-ES" sz="1800" b="0" i="0" u="none" strike="noStrike" baseline="0" dirty="0">
                    <a:solidFill>
                      <a:srgbClr val="000000"/>
                    </a:solidFill>
                    <a:latin typeface="LMRoman17-Regular"/>
                  </a:rPr>
                  <a:t>Si </a:t>
                </a:r>
                <a14:m>
                  <m:oMath xmlns:m="http://schemas.openxmlformats.org/officeDocument/2006/math">
                    <m:r>
                      <m:rPr>
                        <m:sty m:val="p"/>
                      </m:rPr>
                      <a:rPr lang="en-US" sz="1800" b="0" i="0" u="none" strike="noStrike" baseline="0" smtClean="0">
                        <a:solidFill>
                          <a:srgbClr val="000000"/>
                        </a:solidFill>
                        <a:latin typeface="Cambria Math" panose="02040503050406030204" pitchFamily="18" charset="0"/>
                      </a:rPr>
                      <m:t>u</m:t>
                    </m:r>
                    <m:r>
                      <a:rPr lang="en-US" sz="1800" b="0" i="1" u="none" strike="noStrike" baseline="0" smtClean="0">
                        <a:solidFill>
                          <a:srgbClr val="000000"/>
                        </a:solidFill>
                        <a:latin typeface="Cambria Math" panose="02040503050406030204" pitchFamily="18" charset="0"/>
                      </a:rPr>
                      <m:t>&lt;</m:t>
                    </m:r>
                    <m:f>
                      <m:fPr>
                        <m:ctrlPr>
                          <a:rPr lang="en-US" sz="1800" b="0" i="1" u="none" strike="noStrike" baseline="0" smtClean="0">
                            <a:solidFill>
                              <a:srgbClr val="000000"/>
                            </a:solidFill>
                            <a:latin typeface="Cambria Math" panose="02040503050406030204" pitchFamily="18" charset="0"/>
                          </a:rPr>
                        </m:ctrlPr>
                      </m:fPr>
                      <m:num>
                        <m:r>
                          <a:rPr lang="en-US" sz="1800" b="0" i="1" u="none" strike="noStrike" baseline="0" smtClean="0">
                            <a:solidFill>
                              <a:srgbClr val="000000"/>
                            </a:solidFill>
                            <a:latin typeface="Cambria Math" panose="02040503050406030204" pitchFamily="18" charset="0"/>
                          </a:rPr>
                          <m:t>𝑓</m:t>
                        </m:r>
                        <m:d>
                          <m:dPr>
                            <m:ctrlPr>
                              <a:rPr lang="en-US" sz="1800" b="0" i="1" u="none" strike="noStrike" baseline="0" smtClean="0">
                                <a:solidFill>
                                  <a:srgbClr val="000000"/>
                                </a:solidFill>
                                <a:latin typeface="Cambria Math" panose="02040503050406030204" pitchFamily="18" charset="0"/>
                              </a:rPr>
                            </m:ctrlPr>
                          </m:dPr>
                          <m:e>
                            <m:r>
                              <a:rPr lang="en-US" sz="1800" b="0" i="1" u="none" strike="noStrike" baseline="0" smtClean="0">
                                <a:solidFill>
                                  <a:srgbClr val="000000"/>
                                </a:solidFill>
                                <a:latin typeface="Cambria Math" panose="02040503050406030204" pitchFamily="18" charset="0"/>
                              </a:rPr>
                              <m:t>𝑥</m:t>
                            </m:r>
                          </m:e>
                        </m:d>
                      </m:num>
                      <m:den>
                        <m:sSub>
                          <m:sSubPr>
                            <m:ctrlPr>
                              <a:rPr lang="en-US" sz="1800" b="0" i="1" u="none" strike="noStrike" baseline="0" smtClean="0">
                                <a:solidFill>
                                  <a:srgbClr val="000000"/>
                                </a:solidFill>
                                <a:latin typeface="Cambria Math" panose="02040503050406030204" pitchFamily="18" charset="0"/>
                              </a:rPr>
                            </m:ctrlPr>
                          </m:sSubPr>
                          <m:e>
                            <m:r>
                              <a:rPr lang="en-US" sz="1800" b="0" i="1" u="none" strike="noStrike" baseline="0" smtClean="0">
                                <a:solidFill>
                                  <a:srgbClr val="000000"/>
                                </a:solidFill>
                                <a:latin typeface="Cambria Math" panose="02040503050406030204" pitchFamily="18" charset="0"/>
                              </a:rPr>
                              <m:t>𝑚𝑎𝑥</m:t>
                            </m:r>
                          </m:e>
                          <m:sub>
                            <m:r>
                              <a:rPr lang="en-US" sz="1800" b="0" i="1" u="none" strike="noStrike" baseline="0" smtClean="0">
                                <a:solidFill>
                                  <a:srgbClr val="000000"/>
                                </a:solidFill>
                                <a:latin typeface="Cambria Math" panose="02040503050406030204" pitchFamily="18" charset="0"/>
                              </a:rPr>
                              <m:t>𝑦</m:t>
                            </m:r>
                          </m:sub>
                        </m:sSub>
                        <m:r>
                          <a:rPr lang="en-US" sz="1800" b="0" i="1" u="none" strike="noStrike" baseline="0" smtClean="0">
                            <a:solidFill>
                              <a:srgbClr val="000000"/>
                            </a:solidFill>
                            <a:latin typeface="Cambria Math" panose="02040503050406030204" pitchFamily="18" charset="0"/>
                          </a:rPr>
                          <m:t>𝑓</m:t>
                        </m:r>
                        <m:r>
                          <a:rPr lang="en-US" sz="1800" b="0" i="1" u="none" strike="noStrike" baseline="0" smtClean="0">
                            <a:solidFill>
                              <a:srgbClr val="000000"/>
                            </a:solidFill>
                            <a:latin typeface="Cambria Math" panose="02040503050406030204" pitchFamily="18" charset="0"/>
                          </a:rPr>
                          <m:t>(</m:t>
                        </m:r>
                        <m:r>
                          <a:rPr lang="en-US" sz="1800" b="0" i="1" u="none" strike="noStrike" baseline="0" smtClean="0">
                            <a:solidFill>
                              <a:srgbClr val="000000"/>
                            </a:solidFill>
                            <a:latin typeface="Cambria Math" panose="02040503050406030204" pitchFamily="18" charset="0"/>
                          </a:rPr>
                          <m:t>𝑦</m:t>
                        </m:r>
                        <m:r>
                          <a:rPr lang="en-US" sz="1800" b="0" i="1" u="none" strike="noStrike" baseline="0" smtClean="0">
                            <a:solidFill>
                              <a:srgbClr val="000000"/>
                            </a:solidFill>
                            <a:latin typeface="Cambria Math" panose="02040503050406030204" pitchFamily="18" charset="0"/>
                          </a:rPr>
                          <m:t>)</m:t>
                        </m:r>
                      </m:den>
                    </m:f>
                  </m:oMath>
                </a14:m>
                <a:r>
                  <a:rPr lang="es-ES" sz="1800" b="0" i="1" u="none" strike="noStrike" baseline="0" dirty="0">
                    <a:solidFill>
                      <a:srgbClr val="000000"/>
                    </a:solidFill>
                    <a:latin typeface="LMMathItalic12-Regular"/>
                  </a:rPr>
                  <a:t>, </a:t>
                </a:r>
                <a:r>
                  <a:rPr lang="es-ES" sz="1800" b="0" i="0" u="none" strike="noStrike" baseline="0" dirty="0">
                    <a:solidFill>
                      <a:srgbClr val="000000"/>
                    </a:solidFill>
                    <a:latin typeface="LMRoman17-Regular"/>
                  </a:rPr>
                  <a:t>entonces </a:t>
                </a:r>
                <a14:m>
                  <m:oMath xmlns:m="http://schemas.openxmlformats.org/officeDocument/2006/math">
                    <m:r>
                      <m:rPr>
                        <m:sty m:val="p"/>
                      </m:rPr>
                      <a:rPr lang="en-US" sz="1800" b="0" i="0" u="none" strike="noStrike" baseline="0" smtClean="0">
                        <a:solidFill>
                          <a:srgbClr val="000000"/>
                        </a:solidFill>
                        <a:latin typeface="Cambria Math" panose="02040503050406030204" pitchFamily="18" charset="0"/>
                      </a:rPr>
                      <m:t>x</m:t>
                    </m:r>
                  </m:oMath>
                </a14:m>
                <a:r>
                  <a:rPr lang="es-ES" sz="1800" b="0" i="1" u="none" strike="noStrike" baseline="0" dirty="0">
                    <a:solidFill>
                      <a:srgbClr val="000000"/>
                    </a:solidFill>
                    <a:latin typeface="LMMathItalic12-Regular"/>
                  </a:rPr>
                  <a:t> </a:t>
                </a:r>
                <a:r>
                  <a:rPr lang="es-ES" sz="1800" b="0" i="0" u="none" strike="noStrike" baseline="0" dirty="0">
                    <a:solidFill>
                      <a:srgbClr val="000000"/>
                    </a:solidFill>
                    <a:latin typeface="LMRoman17-Regular"/>
                  </a:rPr>
                  <a:t>se acepta como representante de la distribución </a:t>
                </a:r>
                <a14:m>
                  <m:oMath xmlns:m="http://schemas.openxmlformats.org/officeDocument/2006/math">
                    <m:r>
                      <a:rPr lang="en-US" sz="1800" b="0" i="1" u="none" strike="noStrike" baseline="0" smtClean="0">
                        <a:solidFill>
                          <a:srgbClr val="000000"/>
                        </a:solidFill>
                        <a:latin typeface="Cambria Math" panose="02040503050406030204" pitchFamily="18" charset="0"/>
                      </a:rPr>
                      <m:t>𝑓</m:t>
                    </m:r>
                    <m:r>
                      <a:rPr lang="en-US" sz="1800" b="0" i="1" u="none" strike="noStrike" baseline="0" smtClean="0">
                        <a:solidFill>
                          <a:srgbClr val="000000"/>
                        </a:solidFill>
                        <a:latin typeface="Cambria Math" panose="02040503050406030204" pitchFamily="18" charset="0"/>
                      </a:rPr>
                      <m:t>(</m:t>
                    </m:r>
                    <m:r>
                      <a:rPr lang="en-US" sz="1800" b="0" i="1" u="none" strike="noStrike" baseline="0" smtClean="0">
                        <a:solidFill>
                          <a:srgbClr val="000000"/>
                        </a:solidFill>
                        <a:latin typeface="Cambria Math" panose="02040503050406030204" pitchFamily="18" charset="0"/>
                      </a:rPr>
                      <m:t>𝑥</m:t>
                    </m:r>
                    <m:r>
                      <a:rPr lang="en-US" sz="1800" b="0" i="1" u="none" strike="noStrike" baseline="0" smtClean="0">
                        <a:solidFill>
                          <a:srgbClr val="000000"/>
                        </a:solidFill>
                        <a:latin typeface="Cambria Math" panose="02040503050406030204" pitchFamily="18" charset="0"/>
                      </a:rPr>
                      <m:t>)</m:t>
                    </m:r>
                  </m:oMath>
                </a14:m>
                <a:r>
                  <a:rPr lang="es-ES" sz="1800" b="0" i="0" u="none" strike="noStrike" baseline="0" dirty="0">
                    <a:solidFill>
                      <a:srgbClr val="000000"/>
                    </a:solidFill>
                    <a:latin typeface="LMRoman17-Regular"/>
                  </a:rPr>
                  <a:t>. </a:t>
                </a:r>
              </a:p>
              <a:p>
                <a:pPr marL="800100" lvl="1" indent="-342900">
                  <a:lnSpc>
                    <a:spcPct val="110000"/>
                  </a:lnSpc>
                  <a:buFont typeface="+mj-lt"/>
                  <a:buAutoNum type="arabicPeriod"/>
                </a:pPr>
                <a:r>
                  <a:rPr lang="es-ES" sz="1800" b="0" i="0" u="none" strike="noStrike" baseline="0" dirty="0">
                    <a:solidFill>
                      <a:srgbClr val="000000"/>
                    </a:solidFill>
                    <a:latin typeface="LMRoman17-Regular"/>
                  </a:rPr>
                  <a:t>Ir a </a:t>
                </a:r>
                <a:r>
                  <a:rPr lang="es-ES" sz="1800" b="0" i="1" u="none" strike="noStrike" baseline="0" dirty="0">
                    <a:solidFill>
                      <a:srgbClr val="000000"/>
                    </a:solidFill>
                    <a:latin typeface="LMRoman12-Italic"/>
                  </a:rPr>
                  <a:t>(1)</a:t>
                </a:r>
                <a:r>
                  <a:rPr lang="es-ES" sz="1800" b="0" i="0" u="none" strike="noStrike" baseline="0" dirty="0">
                    <a:solidFill>
                      <a:srgbClr val="000000"/>
                    </a:solidFill>
                    <a:latin typeface="LMRoman17-Regular"/>
                  </a:rPr>
                  <a:t>.</a:t>
                </a:r>
              </a:p>
              <a:p>
                <a:pPr>
                  <a:lnSpc>
                    <a:spcPct val="110000"/>
                  </a:lnSpc>
                </a:pPr>
                <a:r>
                  <a:rPr lang="es-ES" sz="1800" b="0" i="0" u="none" strike="noStrike" baseline="0" dirty="0">
                    <a:solidFill>
                      <a:srgbClr val="000000"/>
                    </a:solidFill>
                    <a:latin typeface="LMRoman17-Regular"/>
                  </a:rPr>
                  <a:t>Si intentamos utilizar este sencillo algoritmo para generar configuraciones que sigan la distribución </a:t>
                </a:r>
                <a14:m>
                  <m:oMath xmlns:m="http://schemas.openxmlformats.org/officeDocument/2006/math">
                    <m:sSub>
                      <m:sSubPr>
                        <m:ctrlPr>
                          <a:rPr lang="en-US" sz="1800" b="0" i="1" u="none" strike="noStrike" baseline="0" smtClean="0">
                            <a:solidFill>
                              <a:srgbClr val="000000"/>
                            </a:solidFill>
                            <a:latin typeface="Cambria Math" panose="02040503050406030204" pitchFamily="18" charset="0"/>
                          </a:rPr>
                        </m:ctrlPr>
                      </m:sSubPr>
                      <m:e>
                        <m:r>
                          <a:rPr lang="en-US" sz="1800" b="0" i="1" u="none" strike="noStrike" baseline="0" smtClean="0">
                            <a:solidFill>
                              <a:srgbClr val="000000"/>
                            </a:solidFill>
                            <a:latin typeface="Cambria Math" panose="02040503050406030204" pitchFamily="18" charset="0"/>
                          </a:rPr>
                          <m:t>𝑃</m:t>
                        </m:r>
                      </m:e>
                      <m:sub>
                        <m:r>
                          <a:rPr lang="en-US" sz="1800" b="0" i="1" u="none" strike="noStrike" baseline="0" smtClean="0">
                            <a:solidFill>
                              <a:srgbClr val="000000"/>
                            </a:solidFill>
                            <a:latin typeface="Cambria Math" panose="02040503050406030204" pitchFamily="18" charset="0"/>
                          </a:rPr>
                          <m:t>𝑁</m:t>
                        </m:r>
                      </m:sub>
                    </m:sSub>
                    <m:r>
                      <a:rPr lang="en-US" sz="1800" b="0" i="1" u="none" strike="noStrike" baseline="0" smtClean="0">
                        <a:solidFill>
                          <a:srgbClr val="000000"/>
                        </a:solidFill>
                        <a:latin typeface="Cambria Math" panose="02040503050406030204" pitchFamily="18" charset="0"/>
                      </a:rPr>
                      <m:t>(</m:t>
                    </m:r>
                    <m:r>
                      <a:rPr lang="en-US" sz="1800" b="0" i="1" u="none" strike="noStrike" baseline="0" smtClean="0">
                        <a:solidFill>
                          <a:srgbClr val="000000"/>
                        </a:solidFill>
                        <a:latin typeface="Cambria Math" panose="02040503050406030204" pitchFamily="18" charset="0"/>
                      </a:rPr>
                      <m:t>𝑋</m:t>
                    </m:r>
                    <m:r>
                      <a:rPr lang="en-US" sz="1800" b="0" i="1" u="none" strike="noStrike" baseline="0" smtClean="0">
                        <a:solidFill>
                          <a:srgbClr val="000000"/>
                        </a:solidFill>
                        <a:latin typeface="Cambria Math" panose="02040503050406030204" pitchFamily="18" charset="0"/>
                      </a:rPr>
                      <m:t>)</m:t>
                    </m:r>
                  </m:oMath>
                </a14:m>
                <a:r>
                  <a:rPr lang="es-ES" sz="1800" b="0" i="0" u="none" strike="noStrike" baseline="0" dirty="0">
                    <a:solidFill>
                      <a:srgbClr val="000000"/>
                    </a:solidFill>
                    <a:latin typeface="LMRoman17-Regular"/>
                  </a:rPr>
                  <a:t>, nos pasaríamos </a:t>
                </a:r>
                <a:r>
                  <a:rPr lang="es-ES" sz="1800" i="0" u="none" strike="noStrike" baseline="0" dirty="0">
                    <a:solidFill>
                      <a:srgbClr val="B020A9"/>
                    </a:solidFill>
                    <a:latin typeface="LMRoman12-Bold"/>
                  </a:rPr>
                  <a:t>todo el tiempo rechazando configuraciones</a:t>
                </a:r>
                <a:r>
                  <a:rPr lang="es-ES" sz="1800" b="0" i="0" u="none" strike="noStrike" baseline="0" dirty="0">
                    <a:solidFill>
                      <a:srgbClr val="000000"/>
                    </a:solidFill>
                    <a:latin typeface="LMRoman17-Regular"/>
                  </a:rPr>
                  <a:t>. Esto es debido a que cuando</a:t>
                </a:r>
                <a:r>
                  <a:rPr lang="en-US" sz="1800" b="0" u="none" strike="noStrike" baseline="0" dirty="0">
                    <a:solidFill>
                      <a:srgbClr val="000000"/>
                    </a:solidFill>
                  </a:rPr>
                  <a:t> </a:t>
                </a:r>
                <a14:m>
                  <m:oMath xmlns:m="http://schemas.openxmlformats.org/officeDocument/2006/math">
                    <m:r>
                      <m:rPr>
                        <m:sty m:val="p"/>
                      </m:rPr>
                      <a:rPr lang="en-US" sz="1800" b="0" i="0" u="none" strike="noStrike" baseline="0" smtClean="0">
                        <a:solidFill>
                          <a:srgbClr val="000000"/>
                        </a:solidFill>
                        <a:latin typeface="Cambria Math" panose="02040503050406030204" pitchFamily="18" charset="0"/>
                      </a:rPr>
                      <m:t>N</m:t>
                    </m:r>
                  </m:oMath>
                </a14:m>
                <a:r>
                  <a:rPr lang="es-ES" sz="1800" b="0" i="1" u="none" strike="noStrike" baseline="0" dirty="0">
                    <a:solidFill>
                      <a:srgbClr val="000000"/>
                    </a:solidFill>
                    <a:latin typeface="LMMathItalic12-Regular"/>
                  </a:rPr>
                  <a:t> </a:t>
                </a:r>
                <a:r>
                  <a:rPr lang="es-ES" sz="1800" b="0" i="0" u="none" strike="noStrike" baseline="0" dirty="0">
                    <a:solidFill>
                      <a:srgbClr val="000000"/>
                    </a:solidFill>
                    <a:latin typeface="LMRoman17-Regular"/>
                  </a:rPr>
                  <a:t>es grande (como es el caso en los sistemas que se quieren simular), el hamiltoniano es una variable extensiva en </a:t>
                </a:r>
                <a14:m>
                  <m:oMath xmlns:m="http://schemas.openxmlformats.org/officeDocument/2006/math">
                    <m:r>
                      <m:rPr>
                        <m:sty m:val="p"/>
                      </m:rPr>
                      <a:rPr lang="en-US" sz="1800" b="0" i="0" u="none" strike="noStrike" baseline="0" smtClean="0">
                        <a:solidFill>
                          <a:srgbClr val="000000"/>
                        </a:solidFill>
                        <a:latin typeface="Cambria Math" panose="02040503050406030204" pitchFamily="18" charset="0"/>
                      </a:rPr>
                      <m:t>N</m:t>
                    </m:r>
                  </m:oMath>
                </a14:m>
                <a:r>
                  <a:rPr lang="es-ES" sz="1800" b="0" i="1" u="none" strike="noStrike" baseline="0" dirty="0">
                    <a:solidFill>
                      <a:srgbClr val="000000"/>
                    </a:solidFill>
                    <a:latin typeface="LMMathItalic12-Regular"/>
                  </a:rPr>
                  <a:t> </a:t>
                </a:r>
                <a:r>
                  <a:rPr lang="es-ES" sz="1800" b="0" i="0" u="none" strike="noStrike" baseline="0" dirty="0">
                    <a:solidFill>
                      <a:srgbClr val="000000"/>
                    </a:solidFill>
                    <a:latin typeface="LMRoman17-Regular"/>
                  </a:rPr>
                  <a:t>y la distribución de probabilidad es </a:t>
                </a:r>
                <a:br>
                  <a:rPr lang="es-ES" sz="1800" b="0" i="0" u="none" strike="noStrike" baseline="0" dirty="0">
                    <a:solidFill>
                      <a:srgbClr val="000000"/>
                    </a:solidFill>
                    <a:latin typeface="LMRoman17-Regular"/>
                  </a:rPr>
                </a:br>
                <a14:m>
                  <m:oMath xmlns:m="http://schemas.openxmlformats.org/officeDocument/2006/math">
                    <m:sSub>
                      <m:sSubPr>
                        <m:ctrlPr>
                          <a:rPr lang="en-US" sz="1800" b="0" i="1" u="none" strike="noStrike" baseline="0" smtClean="0">
                            <a:solidFill>
                              <a:srgbClr val="000000"/>
                            </a:solidFill>
                            <a:latin typeface="Cambria Math" panose="02040503050406030204" pitchFamily="18" charset="0"/>
                          </a:rPr>
                        </m:ctrlPr>
                      </m:sSubPr>
                      <m:e>
                        <m:r>
                          <a:rPr lang="en-US" sz="1800" b="0" i="1" u="none" strike="noStrike" baseline="0" smtClean="0">
                            <a:solidFill>
                              <a:srgbClr val="000000"/>
                            </a:solidFill>
                            <a:latin typeface="Cambria Math" panose="02040503050406030204" pitchFamily="18" charset="0"/>
                          </a:rPr>
                          <m:t>𝑃</m:t>
                        </m:r>
                      </m:e>
                      <m:sub>
                        <m:r>
                          <a:rPr lang="en-US" sz="1800" b="0" i="1" u="none" strike="noStrike" baseline="0" smtClean="0">
                            <a:solidFill>
                              <a:srgbClr val="000000"/>
                            </a:solidFill>
                            <a:latin typeface="Cambria Math" panose="02040503050406030204" pitchFamily="18" charset="0"/>
                          </a:rPr>
                          <m:t>𝑁</m:t>
                        </m:r>
                      </m:sub>
                    </m:sSub>
                    <m:r>
                      <a:rPr lang="en-US" sz="1800" b="0" i="1" u="none" strike="noStrike" baseline="0" smtClean="0">
                        <a:solidFill>
                          <a:srgbClr val="000000"/>
                        </a:solidFill>
                        <a:latin typeface="Cambria Math" panose="02040503050406030204" pitchFamily="18" charset="0"/>
                      </a:rPr>
                      <m:t>≈</m:t>
                    </m:r>
                    <m:sSup>
                      <m:sSupPr>
                        <m:ctrlPr>
                          <a:rPr lang="en-US" sz="1800" b="0" i="1" u="none" strike="noStrike" baseline="0" smtClean="0">
                            <a:solidFill>
                              <a:srgbClr val="000000"/>
                            </a:solidFill>
                            <a:latin typeface="Cambria Math" panose="02040503050406030204" pitchFamily="18" charset="0"/>
                          </a:rPr>
                        </m:ctrlPr>
                      </m:sSupPr>
                      <m:e>
                        <m:r>
                          <a:rPr lang="en-US" sz="1800" b="0" i="1" u="none" strike="noStrike" baseline="0" smtClean="0">
                            <a:solidFill>
                              <a:srgbClr val="000000"/>
                            </a:solidFill>
                            <a:latin typeface="Cambria Math" panose="02040503050406030204" pitchFamily="18" charset="0"/>
                          </a:rPr>
                          <m:t>𝑒</m:t>
                        </m:r>
                      </m:e>
                      <m:sup>
                        <m:r>
                          <a:rPr lang="en-US" sz="1800" b="0" i="1" u="none" strike="noStrike" baseline="0" smtClean="0">
                            <a:solidFill>
                              <a:srgbClr val="000000"/>
                            </a:solidFill>
                            <a:latin typeface="Cambria Math" panose="02040503050406030204" pitchFamily="18" charset="0"/>
                          </a:rPr>
                          <m:t>−</m:t>
                        </m:r>
                        <m:r>
                          <a:rPr lang="en-US" sz="1800" b="0" i="1" u="none" strike="noStrike" baseline="0" smtClean="0">
                            <a:solidFill>
                              <a:srgbClr val="000000"/>
                            </a:solidFill>
                            <a:latin typeface="Cambria Math" panose="02040503050406030204" pitchFamily="18" charset="0"/>
                          </a:rPr>
                          <m:t>𝑁</m:t>
                        </m:r>
                        <m:d>
                          <m:dPr>
                            <m:ctrlPr>
                              <a:rPr lang="en-US" sz="1800" b="0" i="1" u="none" strike="noStrike" baseline="0" smtClean="0">
                                <a:solidFill>
                                  <a:srgbClr val="000000"/>
                                </a:solidFill>
                                <a:latin typeface="Cambria Math" panose="02040503050406030204" pitchFamily="18" charset="0"/>
                              </a:rPr>
                            </m:ctrlPr>
                          </m:dPr>
                          <m:e>
                            <m:r>
                              <a:rPr lang="en-US" sz="1800" b="0" i="1" u="none" strike="noStrike" baseline="0" smtClean="0">
                                <a:solidFill>
                                  <a:srgbClr val="000000"/>
                                </a:solidFill>
                                <a:latin typeface="Cambria Math" panose="02040503050406030204" pitchFamily="18" charset="0"/>
                              </a:rPr>
                              <m:t>𝑒</m:t>
                            </m:r>
                            <m:d>
                              <m:dPr>
                                <m:ctrlPr>
                                  <a:rPr lang="en-US" sz="1800" b="0" i="1" u="none" strike="noStrike" baseline="0" smtClean="0">
                                    <a:solidFill>
                                      <a:srgbClr val="000000"/>
                                    </a:solidFill>
                                    <a:latin typeface="Cambria Math" panose="02040503050406030204" pitchFamily="18" charset="0"/>
                                  </a:rPr>
                                </m:ctrlPr>
                              </m:dPr>
                              <m:e>
                                <m:r>
                                  <a:rPr lang="en-US" sz="1800" b="0" i="1" u="none" strike="noStrike" baseline="0" smtClean="0">
                                    <a:solidFill>
                                      <a:srgbClr val="000000"/>
                                    </a:solidFill>
                                    <a:latin typeface="Cambria Math" panose="02040503050406030204" pitchFamily="18" charset="0"/>
                                  </a:rPr>
                                  <m:t>𝑋</m:t>
                                </m:r>
                              </m:e>
                            </m:d>
                            <m:r>
                              <a:rPr lang="en-US" sz="1800" b="0" i="1" u="none" strike="noStrike" baseline="0" smtClean="0">
                                <a:solidFill>
                                  <a:srgbClr val="000000"/>
                                </a:solidFill>
                                <a:latin typeface="Cambria Math" panose="02040503050406030204" pitchFamily="18" charset="0"/>
                              </a:rPr>
                              <m:t>−</m:t>
                            </m:r>
                            <m:d>
                              <m:dPr>
                                <m:begChr m:val="⟨"/>
                                <m:endChr m:val="⟩"/>
                                <m:ctrlPr>
                                  <a:rPr lang="en-US" sz="1800" b="0" i="1" u="none" strike="noStrike" baseline="0" smtClean="0">
                                    <a:solidFill>
                                      <a:srgbClr val="000000"/>
                                    </a:solidFill>
                                    <a:latin typeface="Cambria Math" panose="02040503050406030204" pitchFamily="18" charset="0"/>
                                  </a:rPr>
                                </m:ctrlPr>
                              </m:dPr>
                              <m:e>
                                <m:r>
                                  <a:rPr lang="en-US" sz="1800" b="0" i="1" u="none" strike="noStrike" baseline="0" smtClean="0">
                                    <a:solidFill>
                                      <a:srgbClr val="000000"/>
                                    </a:solidFill>
                                    <a:latin typeface="Cambria Math" panose="02040503050406030204" pitchFamily="18" charset="0"/>
                                  </a:rPr>
                                  <m:t>𝑒</m:t>
                                </m:r>
                              </m:e>
                            </m:d>
                          </m:e>
                        </m:d>
                      </m:sup>
                    </m:sSup>
                    <m:r>
                      <a:rPr lang="en-US" sz="1800" b="0" i="1" u="none" strike="noStrike" baseline="0" smtClean="0">
                        <a:solidFill>
                          <a:srgbClr val="000000"/>
                        </a:solidFill>
                        <a:latin typeface="Cambria Math" panose="02040503050406030204" pitchFamily="18" charset="0"/>
                      </a:rPr>
                      <m:t>,</m:t>
                    </m:r>
                  </m:oMath>
                </a14:m>
                <a:br>
                  <a:rPr lang="en-US" sz="1800" b="0" i="1" u="none" strike="noStrike" baseline="0" dirty="0">
                    <a:solidFill>
                      <a:srgbClr val="000000"/>
                    </a:solidFill>
                    <a:latin typeface="LMMathItalic12-Regular"/>
                  </a:rPr>
                </a:br>
                <a:r>
                  <a:rPr lang="es-ES" sz="1800" b="0" i="0" u="none" strike="noStrike" baseline="0" dirty="0">
                    <a:solidFill>
                      <a:srgbClr val="000000"/>
                    </a:solidFill>
                    <a:latin typeface="LMRoman17-Regular"/>
                  </a:rPr>
                  <a:t>lo que la hace </a:t>
                </a:r>
                <a:r>
                  <a:rPr lang="es-ES" sz="1800" b="0" i="0" u="none" strike="noStrike" baseline="0" dirty="0">
                    <a:solidFill>
                      <a:srgbClr val="B020A9"/>
                    </a:solidFill>
                    <a:latin typeface="LMRoman17-Regular"/>
                  </a:rPr>
                  <a:t>extremadamente picuda alrededor de sus valores de equilibrio termodinámico</a:t>
                </a:r>
                <a:r>
                  <a:rPr lang="es-ES" sz="1800" b="0" i="0" u="none" strike="noStrike" baseline="0" dirty="0">
                    <a:solidFill>
                      <a:srgbClr val="000000"/>
                    </a:solidFill>
                    <a:latin typeface="LMRoman17-Regular"/>
                  </a:rPr>
                  <a:t>. </a:t>
                </a:r>
              </a:p>
              <a:p>
                <a:pPr>
                  <a:lnSpc>
                    <a:spcPct val="110000"/>
                  </a:lnSpc>
                </a:pPr>
                <a:r>
                  <a:rPr lang="es-ES" sz="1800" b="0" i="0" u="none" strike="noStrike" baseline="0" dirty="0">
                    <a:solidFill>
                      <a:srgbClr val="000000"/>
                    </a:solidFill>
                    <a:latin typeface="LMRoman17-Regular"/>
                  </a:rPr>
                  <a:t>De esta forma si aplicamos el </a:t>
                </a:r>
                <a:r>
                  <a:rPr lang="es-ES" sz="1800" b="0" i="0" u="none" strike="noStrike" baseline="0" dirty="0">
                    <a:solidFill>
                      <a:srgbClr val="B020A9"/>
                    </a:solidFill>
                    <a:latin typeface="LMRoman17-Regular"/>
                  </a:rPr>
                  <a:t>algoritmo de rechazo </a:t>
                </a:r>
                <a:r>
                  <a:rPr lang="es-ES" sz="1800" b="0" i="0" u="none" strike="noStrike" baseline="0" dirty="0">
                    <a:solidFill>
                      <a:srgbClr val="000000"/>
                    </a:solidFill>
                    <a:latin typeface="LMRoman17-Regular"/>
                  </a:rPr>
                  <a:t>tendríamos dos efectos adversos: </a:t>
                </a:r>
                <a:r>
                  <a:rPr lang="es-ES" sz="1800" b="1" i="0" u="none" strike="noStrike" baseline="0" dirty="0">
                    <a:solidFill>
                      <a:srgbClr val="000000"/>
                    </a:solidFill>
                    <a:latin typeface="LMRoman17-Regular"/>
                  </a:rPr>
                  <a:t>(1)</a:t>
                </a:r>
                <a:r>
                  <a:rPr lang="es-ES" sz="1800" b="0" i="0" u="none" strike="noStrike" baseline="0" dirty="0">
                    <a:solidFill>
                      <a:srgbClr val="000000"/>
                    </a:solidFill>
                    <a:latin typeface="LMRoman17-Regular"/>
                  </a:rPr>
                  <a:t> las configuraciones aleatorias son, normalmente, mucho más numerosas que las demás y por lo tanto, la probabilidad de escoger al azar una configuración aleatoria es prácticamente uno y </a:t>
                </a:r>
                <a:r>
                  <a:rPr lang="es-ES" sz="1800" b="1" i="0" u="none" strike="noStrike" baseline="0" dirty="0">
                    <a:solidFill>
                      <a:srgbClr val="000000"/>
                    </a:solidFill>
                    <a:latin typeface="LMRoman17-Regular"/>
                  </a:rPr>
                  <a:t>(2)</a:t>
                </a:r>
                <a:r>
                  <a:rPr lang="es-ES" sz="1800" b="0" i="0" u="none" strike="noStrike" baseline="0" dirty="0">
                    <a:solidFill>
                      <a:srgbClr val="000000"/>
                    </a:solidFill>
                    <a:latin typeface="LMRoman17-Regular"/>
                  </a:rPr>
                  <a:t> las configuraciones aleatorias son las que tienen más energía (las correspondientes en un gas a temperatura infinita) por lo que </a:t>
                </a:r>
                <a14:m>
                  <m:oMath xmlns:m="http://schemas.openxmlformats.org/officeDocument/2006/math">
                    <m:sSub>
                      <m:sSubPr>
                        <m:ctrlPr>
                          <a:rPr lang="en-US" sz="1800" b="0" i="1" u="none" strike="noStrike" baseline="0" smtClean="0">
                            <a:solidFill>
                              <a:srgbClr val="000000"/>
                            </a:solidFill>
                            <a:latin typeface="Cambria Math" panose="02040503050406030204" pitchFamily="18" charset="0"/>
                          </a:rPr>
                        </m:ctrlPr>
                      </m:sSubPr>
                      <m:e>
                        <m:r>
                          <a:rPr lang="en-US" sz="1800" b="0" i="1" u="none" strike="noStrike" baseline="0" smtClean="0">
                            <a:solidFill>
                              <a:srgbClr val="000000"/>
                            </a:solidFill>
                            <a:latin typeface="Cambria Math" panose="02040503050406030204" pitchFamily="18" charset="0"/>
                          </a:rPr>
                          <m:t>𝑃</m:t>
                        </m:r>
                      </m:e>
                      <m:sub>
                        <m:r>
                          <a:rPr lang="en-US" sz="1800" b="0" i="1" u="none" strike="noStrike" baseline="0" smtClean="0">
                            <a:solidFill>
                              <a:srgbClr val="000000"/>
                            </a:solidFill>
                            <a:latin typeface="Cambria Math" panose="02040503050406030204" pitchFamily="18" charset="0"/>
                          </a:rPr>
                          <m:t>𝑁</m:t>
                        </m:r>
                      </m:sub>
                    </m:sSub>
                    <m:d>
                      <m:dPr>
                        <m:ctrlPr>
                          <a:rPr lang="en-US" sz="1800" b="0" i="1" u="none" strike="noStrike" baseline="0" smtClean="0">
                            <a:solidFill>
                              <a:srgbClr val="000000"/>
                            </a:solidFill>
                            <a:latin typeface="Cambria Math" panose="02040503050406030204" pitchFamily="18" charset="0"/>
                          </a:rPr>
                        </m:ctrlPr>
                      </m:dPr>
                      <m:e>
                        <m:r>
                          <a:rPr lang="en-US" sz="1800" b="0" i="1" u="none" strike="noStrike" baseline="0" smtClean="0">
                            <a:solidFill>
                              <a:srgbClr val="000000"/>
                            </a:solidFill>
                            <a:latin typeface="Cambria Math" panose="02040503050406030204" pitchFamily="18" charset="0"/>
                          </a:rPr>
                          <m:t>𝑋</m:t>
                        </m:r>
                      </m:e>
                    </m:d>
                    <m:r>
                      <a:rPr lang="en-US" sz="1800" b="0" i="1" u="none" strike="noStrike" baseline="0" smtClean="0">
                        <a:solidFill>
                          <a:srgbClr val="000000"/>
                        </a:solidFill>
                        <a:latin typeface="Cambria Math" panose="02040503050406030204" pitchFamily="18" charset="0"/>
                      </a:rPr>
                      <m:t>≈0 </m:t>
                    </m:r>
                  </m:oMath>
                </a14:m>
                <a:r>
                  <a:rPr lang="es-ES" sz="1800" b="0" i="0" u="none" strike="noStrike" baseline="0" dirty="0">
                    <a:solidFill>
                      <a:srgbClr val="000000"/>
                    </a:solidFill>
                    <a:latin typeface="LMRoman17-Regular"/>
                  </a:rPr>
                  <a:t>y </a:t>
                </a:r>
                <a:r>
                  <a:rPr lang="es-ES" sz="1800" b="0" i="0" u="none" strike="noStrike" baseline="0" dirty="0">
                    <a:solidFill>
                      <a:srgbClr val="B020A9"/>
                    </a:solidFill>
                    <a:latin typeface="LMRoman17-Regular"/>
                  </a:rPr>
                  <a:t>rechazaríamos</a:t>
                </a:r>
                <a:r>
                  <a:rPr lang="es-ES" sz="1800" b="0" i="0" u="none" strike="noStrike" dirty="0">
                    <a:solidFill>
                      <a:srgbClr val="B020A9"/>
                    </a:solidFill>
                    <a:latin typeface="LMRoman17-Regular"/>
                  </a:rPr>
                  <a:t> la inmensa mayoría de las configuraciones generadas</a:t>
                </a:r>
                <a:r>
                  <a:rPr lang="es-ES" sz="1800" b="0" i="0" u="none" strike="noStrike" baseline="0" dirty="0">
                    <a:solidFill>
                      <a:srgbClr val="000000"/>
                    </a:solidFill>
                    <a:latin typeface="LMRoman17-Regular"/>
                  </a:rPr>
                  <a:t>.</a:t>
                </a:r>
              </a:p>
            </p:txBody>
          </p:sp>
        </mc:Choice>
        <mc:Fallback xmlns="">
          <p:sp>
            <p:nvSpPr>
              <p:cNvPr id="3" name="Marcador de contenido 2">
                <a:extLst>
                  <a:ext uri="{FF2B5EF4-FFF2-40B4-BE49-F238E27FC236}">
                    <a16:creationId xmlns:a16="http://schemas.microsoft.com/office/drawing/2014/main" id="{C598E124-4239-3DEE-312E-0935065CAADE}"/>
                  </a:ext>
                </a:extLst>
              </p:cNvPr>
              <p:cNvSpPr>
                <a:spLocks noGrp="1" noRot="1" noChangeAspect="1" noMove="1" noResize="1" noEditPoints="1" noAdjustHandles="1" noChangeArrowheads="1" noChangeShapeType="1" noTextEdit="1"/>
              </p:cNvSpPr>
              <p:nvPr>
                <p:ph idx="1"/>
              </p:nvPr>
            </p:nvSpPr>
            <p:spPr>
              <a:xfrm>
                <a:off x="838200" y="1057836"/>
                <a:ext cx="10515600" cy="5119128"/>
              </a:xfrm>
              <a:blipFill>
                <a:blip r:embed="rId2"/>
                <a:stretch>
                  <a:fillRect l="-174" t="-358"/>
                </a:stretch>
              </a:blipFill>
            </p:spPr>
            <p:txBody>
              <a:bodyPr/>
              <a:lstStyle/>
              <a:p>
                <a:r>
                  <a:rPr lang="es-ES">
                    <a:noFill/>
                  </a:rPr>
                  <a:t> </a:t>
                </a:r>
              </a:p>
            </p:txBody>
          </p:sp>
        </mc:Fallback>
      </mc:AlternateContent>
      <p:sp>
        <p:nvSpPr>
          <p:cNvPr id="7" name="Título 1">
            <a:extLst>
              <a:ext uri="{FF2B5EF4-FFF2-40B4-BE49-F238E27FC236}">
                <a16:creationId xmlns:a16="http://schemas.microsoft.com/office/drawing/2014/main" id="{F926D69A-43D2-B31F-47F3-294857D7F96B}"/>
              </a:ext>
            </a:extLst>
          </p:cNvPr>
          <p:cNvSpPr txBox="1">
            <a:spLocks/>
          </p:cNvSpPr>
          <p:nvPr/>
        </p:nvSpPr>
        <p:spPr>
          <a:xfrm>
            <a:off x="-62754" y="87220"/>
            <a:ext cx="12254753" cy="809252"/>
          </a:xfrm>
          <a:prstGeom prst="rect">
            <a:avLst/>
          </a:prstGeom>
          <a:solidFill>
            <a:schemeClr val="accent5">
              <a:lumMod val="40000"/>
              <a:lumOff val="6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a:t>Física Estadística y Métodos Monte Carlo</a:t>
            </a:r>
            <a:endParaRPr lang="es-ES" sz="2800" dirty="0"/>
          </a:p>
        </p:txBody>
      </p:sp>
    </p:spTree>
    <p:extLst>
      <p:ext uri="{BB962C8B-B14F-4D97-AF65-F5344CB8AC3E}">
        <p14:creationId xmlns:p14="http://schemas.microsoft.com/office/powerpoint/2010/main" val="2726795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90C686A3-A6F1-56A8-DAFE-4F34FCFEA9F7}"/>
                  </a:ext>
                </a:extLst>
              </p:cNvPr>
              <p:cNvSpPr>
                <a:spLocks noGrp="1"/>
              </p:cNvSpPr>
              <p:nvPr>
                <p:ph idx="1"/>
              </p:nvPr>
            </p:nvSpPr>
            <p:spPr>
              <a:xfrm>
                <a:off x="632012" y="1143841"/>
                <a:ext cx="10744200" cy="5543830"/>
              </a:xfrm>
            </p:spPr>
            <p:txBody>
              <a:bodyPr>
                <a:normAutofit fontScale="55000" lnSpcReduction="20000"/>
              </a:bodyPr>
              <a:lstStyle/>
              <a:p>
                <a:pPr>
                  <a:lnSpc>
                    <a:spcPct val="120000"/>
                  </a:lnSpc>
                  <a:spcAft>
                    <a:spcPts val="600"/>
                  </a:spcAft>
                </a:pPr>
                <a:r>
                  <a:rPr lang="es-ES" sz="2800" b="0" i="0" u="none" strike="noStrike" baseline="0" dirty="0">
                    <a:solidFill>
                      <a:srgbClr val="000000"/>
                    </a:solidFill>
                    <a:latin typeface="LMRoman17-Regular"/>
                  </a:rPr>
                  <a:t>Para solucionar este problema, </a:t>
                </a:r>
                <a:r>
                  <a:rPr lang="es-ES" sz="2800" b="0" i="0" u="none" strike="noStrike" baseline="0" dirty="0" err="1">
                    <a:solidFill>
                      <a:srgbClr val="0000FF"/>
                    </a:solidFill>
                    <a:latin typeface="LMRoman17-Regular"/>
                  </a:rPr>
                  <a:t>Metropolis</a:t>
                </a:r>
                <a:r>
                  <a:rPr lang="es-ES" sz="2800" b="0" i="0" u="none" strike="noStrike" baseline="0" dirty="0">
                    <a:solidFill>
                      <a:srgbClr val="0000FF"/>
                    </a:solidFill>
                    <a:latin typeface="LMRoman17-Regular"/>
                  </a:rPr>
                  <a:t>, </a:t>
                </a:r>
                <a:r>
                  <a:rPr lang="es-ES" sz="2800" b="0" i="0" u="none" strike="noStrike" baseline="0" dirty="0" err="1">
                    <a:solidFill>
                      <a:srgbClr val="0000FF"/>
                    </a:solidFill>
                    <a:latin typeface="LMRoman17-Regular"/>
                  </a:rPr>
                  <a:t>Rosenbluth</a:t>
                </a:r>
                <a:r>
                  <a:rPr lang="es-ES" sz="2800" b="0" i="0" u="none" strike="noStrike" baseline="0" dirty="0">
                    <a:solidFill>
                      <a:srgbClr val="0000FF"/>
                    </a:solidFill>
                    <a:latin typeface="LMRoman17-Regular"/>
                  </a:rPr>
                  <a:t>, </a:t>
                </a:r>
                <a:r>
                  <a:rPr lang="es-ES" sz="2800" b="0" i="0" u="none" strike="noStrike" baseline="0" dirty="0" err="1">
                    <a:solidFill>
                      <a:srgbClr val="0000FF"/>
                    </a:solidFill>
                    <a:latin typeface="LMRoman17-Regular"/>
                  </a:rPr>
                  <a:t>Rosenbluth</a:t>
                </a:r>
                <a:r>
                  <a:rPr lang="es-ES" sz="2800" b="0" i="0" u="none" strike="noStrike" baseline="0" dirty="0">
                    <a:solidFill>
                      <a:srgbClr val="0000FF"/>
                    </a:solidFill>
                    <a:latin typeface="LMRoman17-Regular"/>
                  </a:rPr>
                  <a:t>, </a:t>
                </a:r>
                <a:r>
                  <a:rPr lang="es-ES" sz="2800" b="0" i="0" u="none" strike="noStrike" baseline="0" dirty="0" err="1">
                    <a:solidFill>
                      <a:srgbClr val="0000FF"/>
                    </a:solidFill>
                    <a:latin typeface="LMRoman17-Regular"/>
                  </a:rPr>
                  <a:t>Teller</a:t>
                </a:r>
                <a:r>
                  <a:rPr lang="es-ES" sz="2800" b="0" i="0" u="none" strike="noStrike" baseline="0" dirty="0">
                    <a:solidFill>
                      <a:srgbClr val="0000FF"/>
                    </a:solidFill>
                    <a:latin typeface="LMRoman17-Regular"/>
                  </a:rPr>
                  <a:t> y </a:t>
                </a:r>
                <a:r>
                  <a:rPr lang="es-ES" sz="2800" b="0" i="0" u="none" strike="noStrike" baseline="0" dirty="0" err="1">
                    <a:solidFill>
                      <a:srgbClr val="0000FF"/>
                    </a:solidFill>
                    <a:latin typeface="LMRoman17-Regular"/>
                  </a:rPr>
                  <a:t>Teller</a:t>
                </a:r>
                <a:r>
                  <a:rPr lang="es-ES" sz="2800" b="0" i="0" u="none" strike="noStrike" baseline="0" dirty="0">
                    <a:solidFill>
                      <a:srgbClr val="0000FF"/>
                    </a:solidFill>
                    <a:latin typeface="LMRoman17-Regular"/>
                  </a:rPr>
                  <a:t> </a:t>
                </a:r>
                <a:r>
                  <a:rPr lang="es-ES" sz="2800" b="0" i="0" u="none" strike="noStrike" baseline="0" dirty="0">
                    <a:solidFill>
                      <a:srgbClr val="000000"/>
                    </a:solidFill>
                    <a:latin typeface="LMRoman17-Regular"/>
                  </a:rPr>
                  <a:t>desarrollaron en 1953 un algoritmo que abandona la idea original de generar configuraciones estadísticamente independientes. En este caso, las configuraciones son construidas a través de </a:t>
                </a:r>
                <a:r>
                  <a:rPr lang="es-ES" sz="2800" b="0" i="0" u="none" strike="noStrike" baseline="0" dirty="0">
                    <a:solidFill>
                      <a:srgbClr val="B020A9"/>
                    </a:solidFill>
                    <a:latin typeface="LMRoman17-Regular"/>
                  </a:rPr>
                  <a:t>cadenas de </a:t>
                </a:r>
                <a:r>
                  <a:rPr lang="es-ES" sz="2800" b="0" i="0" u="none" strike="noStrike" baseline="0" dirty="0" err="1">
                    <a:solidFill>
                      <a:srgbClr val="B020A9"/>
                    </a:solidFill>
                    <a:latin typeface="LMRoman17-Regular"/>
                  </a:rPr>
                  <a:t>Markov</a:t>
                </a:r>
                <a:r>
                  <a:rPr lang="es-ES" sz="2800" b="0" i="0" u="none" strike="noStrike" baseline="0" dirty="0">
                    <a:solidFill>
                      <a:srgbClr val="000000"/>
                    </a:solidFill>
                    <a:latin typeface="LMRoman17-Regular"/>
                  </a:rPr>
                  <a:t>. Una cadena de </a:t>
                </a:r>
                <a:r>
                  <a:rPr lang="es-ES" sz="2800" b="0" i="0" u="none" strike="noStrike" baseline="0" dirty="0" err="1">
                    <a:solidFill>
                      <a:srgbClr val="000000"/>
                    </a:solidFill>
                    <a:latin typeface="LMRoman17-Regular"/>
                  </a:rPr>
                  <a:t>Markov</a:t>
                </a:r>
                <a:r>
                  <a:rPr lang="es-ES" sz="2800" b="0" i="0" u="none" strike="noStrike" baseline="0" dirty="0">
                    <a:solidFill>
                      <a:srgbClr val="000000"/>
                    </a:solidFill>
                    <a:latin typeface="LMRoman17-Regular"/>
                  </a:rPr>
                  <a:t> de eventos </a:t>
                </a:r>
                <a:r>
                  <a:rPr lang="es-ES" sz="2800" b="0" i="0" u="none" strike="noStrike" baseline="0" dirty="0">
                    <a:latin typeface="LMRoman17-Regular"/>
                  </a:rPr>
                  <a:t>sucesivos </a:t>
                </a:r>
                <a14:m>
                  <m:oMath xmlns:m="http://schemas.openxmlformats.org/officeDocument/2006/math">
                    <m:sSub>
                      <m:sSubPr>
                        <m:ctrlPr>
                          <a:rPr lang="en-US" sz="2800" b="0" i="1" u="none" strike="noStrike" baseline="0" smtClean="0">
                            <a:latin typeface="Cambria Math" panose="02040503050406030204" pitchFamily="18" charset="0"/>
                          </a:rPr>
                        </m:ctrlPr>
                      </m:sSubPr>
                      <m:e>
                        <m:r>
                          <a:rPr lang="es-ES" sz="2800" b="0" i="1" u="none" strike="noStrike" baseline="0" smtClean="0">
                            <a:latin typeface="Cambria Math" panose="02040503050406030204" pitchFamily="18" charset="0"/>
                          </a:rPr>
                          <m:t>𝑋</m:t>
                        </m:r>
                      </m:e>
                      <m:sub>
                        <m:r>
                          <a:rPr lang="en-US" sz="2800" b="0" i="1" u="none" strike="noStrike" baseline="0" smtClean="0">
                            <a:latin typeface="Cambria Math" panose="02040503050406030204" pitchFamily="18" charset="0"/>
                          </a:rPr>
                          <m:t>0</m:t>
                        </m:r>
                      </m:sub>
                    </m:sSub>
                    <m:r>
                      <a:rPr lang="en-US" sz="2800" b="0" i="1" u="none" strike="noStrike" baseline="0" smtClean="0">
                        <a:latin typeface="Cambria Math" panose="02040503050406030204" pitchFamily="18" charset="0"/>
                      </a:rPr>
                      <m:t>, </m:t>
                    </m:r>
                    <m:sSub>
                      <m:sSubPr>
                        <m:ctrlPr>
                          <a:rPr lang="en-US" sz="2800" b="0" i="1" u="none" strike="noStrike" baseline="0" smtClean="0">
                            <a:latin typeface="Cambria Math" panose="02040503050406030204" pitchFamily="18" charset="0"/>
                          </a:rPr>
                        </m:ctrlPr>
                      </m:sSubPr>
                      <m:e>
                        <m:r>
                          <a:rPr lang="en-US" sz="2800" b="0" i="1" u="none" strike="noStrike" baseline="0" smtClean="0">
                            <a:latin typeface="Cambria Math" panose="02040503050406030204" pitchFamily="18" charset="0"/>
                          </a:rPr>
                          <m:t>𝑋</m:t>
                        </m:r>
                      </m:e>
                      <m:sub>
                        <m:r>
                          <a:rPr lang="en-US" sz="2800" b="0" i="1" u="none" strike="noStrike" baseline="0" smtClean="0">
                            <a:latin typeface="Cambria Math" panose="02040503050406030204" pitchFamily="18" charset="0"/>
                          </a:rPr>
                          <m:t>1</m:t>
                        </m:r>
                      </m:sub>
                    </m:sSub>
                    <m:r>
                      <a:rPr lang="en-US" sz="2800" b="0" i="1" u="none" strike="noStrike" baseline="0" smtClean="0">
                        <a:latin typeface="Cambria Math" panose="02040503050406030204" pitchFamily="18" charset="0"/>
                      </a:rPr>
                      <m:t>, …, </m:t>
                    </m:r>
                    <m:sSub>
                      <m:sSubPr>
                        <m:ctrlPr>
                          <a:rPr lang="en-US" sz="2800" b="0" i="1" u="none" strike="noStrike" baseline="0" smtClean="0">
                            <a:latin typeface="Cambria Math" panose="02040503050406030204" pitchFamily="18" charset="0"/>
                          </a:rPr>
                        </m:ctrlPr>
                      </m:sSubPr>
                      <m:e>
                        <m:r>
                          <a:rPr lang="en-US" sz="2800" b="0" i="1" u="none" strike="noStrike" baseline="0" smtClean="0">
                            <a:latin typeface="Cambria Math" panose="02040503050406030204" pitchFamily="18" charset="0"/>
                          </a:rPr>
                          <m:t>𝑋</m:t>
                        </m:r>
                      </m:e>
                      <m:sub>
                        <m:r>
                          <a:rPr lang="en-US" sz="2800" b="0" i="1" u="none" strike="noStrike" baseline="0" smtClean="0">
                            <a:latin typeface="Cambria Math" panose="02040503050406030204" pitchFamily="18" charset="0"/>
                          </a:rPr>
                          <m:t>𝑁</m:t>
                        </m:r>
                        <m:r>
                          <a:rPr lang="en-US" sz="2800" b="0" i="1" u="none" strike="noStrike" baseline="0" smtClean="0">
                            <a:latin typeface="Cambria Math" panose="02040503050406030204" pitchFamily="18" charset="0"/>
                          </a:rPr>
                          <m:t>−1</m:t>
                        </m:r>
                      </m:sub>
                    </m:sSub>
                    <m:r>
                      <a:rPr lang="en-US" sz="2800" b="0" i="0" u="none" strike="noStrike" baseline="0" smtClean="0">
                        <a:latin typeface="Cambria Math" panose="02040503050406030204" pitchFamily="18" charset="0"/>
                      </a:rPr>
                      <m:t> </m:t>
                    </m:r>
                  </m:oMath>
                </a14:m>
                <a:r>
                  <a:rPr lang="es-ES" sz="2800" b="0" i="0" u="none" strike="noStrike" baseline="0" dirty="0">
                    <a:latin typeface="LMRoman17-Regular"/>
                  </a:rPr>
                  <a:t>tiene como probabilidad:</a:t>
                </a:r>
                <a:br>
                  <a:rPr lang="es-ES" sz="2800" b="0" i="0" u="none" strike="noStrike" baseline="0" dirty="0">
                    <a:latin typeface="LMRoman17-Regular"/>
                  </a:rPr>
                </a:br>
                <a:br>
                  <a:rPr lang="es-ES" sz="2800" b="0" i="0" u="none" strike="noStrike" baseline="0" dirty="0">
                    <a:latin typeface="LMRoman17-Regular"/>
                  </a:rPr>
                </a:br>
                <a14:m>
                  <m:oMath xmlns:m="http://schemas.openxmlformats.org/officeDocument/2006/math">
                    <m:sSub>
                      <m:sSubPr>
                        <m:ctrlPr>
                          <a:rPr lang="en-US" sz="2800" b="0" i="1" u="none" strike="noStrike" baseline="0" smtClean="0">
                            <a:latin typeface="Cambria Math" panose="02040503050406030204" pitchFamily="18" charset="0"/>
                          </a:rPr>
                        </m:ctrlPr>
                      </m:sSubPr>
                      <m:e>
                        <m:r>
                          <a:rPr lang="en-US" sz="2800" b="0" i="1" u="none" strike="noStrike" baseline="0" smtClean="0">
                            <a:latin typeface="Cambria Math" panose="02040503050406030204" pitchFamily="18" charset="0"/>
                          </a:rPr>
                          <m:t>𝑃</m:t>
                        </m:r>
                      </m:e>
                      <m:sub>
                        <m:r>
                          <a:rPr lang="en-US" sz="2800" b="0" i="1" u="none" strike="noStrike" baseline="0" smtClean="0">
                            <a:latin typeface="Cambria Math" panose="02040503050406030204" pitchFamily="18" charset="0"/>
                          </a:rPr>
                          <m:t>𝑁</m:t>
                        </m:r>
                      </m:sub>
                    </m:sSub>
                    <m:d>
                      <m:dPr>
                        <m:ctrlPr>
                          <a:rPr lang="en-US" sz="2800" b="0" i="1" u="none" strike="noStrike" baseline="0" smtClean="0">
                            <a:latin typeface="Cambria Math" panose="02040503050406030204" pitchFamily="18" charset="0"/>
                          </a:rPr>
                        </m:ctrlPr>
                      </m:dPr>
                      <m:e>
                        <m:sSub>
                          <m:sSubPr>
                            <m:ctrlPr>
                              <a:rPr lang="en-US" sz="2800" b="0" i="1" u="none" strike="noStrike" baseline="0" smtClean="0">
                                <a:latin typeface="Cambria Math" panose="02040503050406030204" pitchFamily="18" charset="0"/>
                              </a:rPr>
                            </m:ctrlPr>
                          </m:sSubPr>
                          <m:e>
                            <m:r>
                              <a:rPr lang="en-US" sz="2800" b="0" i="1" u="none" strike="noStrike" baseline="0" smtClean="0">
                                <a:latin typeface="Cambria Math" panose="02040503050406030204" pitchFamily="18" charset="0"/>
                              </a:rPr>
                              <m:t>𝑋</m:t>
                            </m:r>
                          </m:e>
                          <m:sub>
                            <m:r>
                              <a:rPr lang="en-US" sz="2800" b="0" i="1" u="none" strike="noStrike" baseline="0" smtClean="0">
                                <a:latin typeface="Cambria Math" panose="02040503050406030204" pitchFamily="18" charset="0"/>
                              </a:rPr>
                              <m:t>0</m:t>
                            </m:r>
                          </m:sub>
                        </m:sSub>
                        <m:r>
                          <a:rPr lang="en-US" sz="2800" b="0" i="1" u="none" strike="noStrike" baseline="0" smtClean="0">
                            <a:latin typeface="Cambria Math" panose="02040503050406030204" pitchFamily="18" charset="0"/>
                          </a:rPr>
                          <m:t>,</m:t>
                        </m:r>
                        <m:sSub>
                          <m:sSubPr>
                            <m:ctrlPr>
                              <a:rPr lang="en-US" sz="2800" b="0" i="1" u="none" strike="noStrike" baseline="0" smtClean="0">
                                <a:latin typeface="Cambria Math" panose="02040503050406030204" pitchFamily="18" charset="0"/>
                              </a:rPr>
                            </m:ctrlPr>
                          </m:sSubPr>
                          <m:e>
                            <m:r>
                              <a:rPr lang="en-US" sz="2800" b="0" i="1" u="none" strike="noStrike" baseline="0" smtClean="0">
                                <a:latin typeface="Cambria Math" panose="02040503050406030204" pitchFamily="18" charset="0"/>
                              </a:rPr>
                              <m:t>𝑋</m:t>
                            </m:r>
                          </m:e>
                          <m:sub>
                            <m:r>
                              <a:rPr lang="en-US" sz="2800" b="0" i="1" u="none" strike="noStrike" baseline="0" smtClean="0">
                                <a:latin typeface="Cambria Math" panose="02040503050406030204" pitchFamily="18" charset="0"/>
                              </a:rPr>
                              <m:t>1</m:t>
                            </m:r>
                          </m:sub>
                        </m:sSub>
                        <m:r>
                          <a:rPr lang="en-US" sz="2800" b="0" i="1" u="none" strike="noStrike" baseline="0" smtClean="0">
                            <a:latin typeface="Cambria Math" panose="02040503050406030204" pitchFamily="18" charset="0"/>
                          </a:rPr>
                          <m:t>,…,</m:t>
                        </m:r>
                        <m:sSub>
                          <m:sSubPr>
                            <m:ctrlPr>
                              <a:rPr lang="en-US" sz="2800" b="0" i="1" u="none" strike="noStrike" baseline="0" smtClean="0">
                                <a:latin typeface="Cambria Math" panose="02040503050406030204" pitchFamily="18" charset="0"/>
                              </a:rPr>
                            </m:ctrlPr>
                          </m:sSubPr>
                          <m:e>
                            <m:r>
                              <a:rPr lang="en-US" sz="2800" b="0" i="1" u="none" strike="noStrike" baseline="0" smtClean="0">
                                <a:latin typeface="Cambria Math" panose="02040503050406030204" pitchFamily="18" charset="0"/>
                              </a:rPr>
                              <m:t>𝑋</m:t>
                            </m:r>
                          </m:e>
                          <m:sub>
                            <m:r>
                              <a:rPr lang="en-US" sz="2800" b="0" i="1" u="none" strike="noStrike" baseline="0" smtClean="0">
                                <a:latin typeface="Cambria Math" panose="02040503050406030204" pitchFamily="18" charset="0"/>
                              </a:rPr>
                              <m:t>𝑁</m:t>
                            </m:r>
                            <m:r>
                              <a:rPr lang="en-US" sz="2800" b="0" i="1" u="none" strike="noStrike" baseline="0" smtClean="0">
                                <a:latin typeface="Cambria Math" panose="02040503050406030204" pitchFamily="18" charset="0"/>
                              </a:rPr>
                              <m:t>−1</m:t>
                            </m:r>
                          </m:sub>
                        </m:sSub>
                      </m:e>
                    </m:d>
                    <m:r>
                      <a:rPr lang="en-US" sz="2800" b="0" i="1" u="none" strike="noStrike" baseline="0" smtClean="0">
                        <a:latin typeface="Cambria Math" panose="02040503050406030204" pitchFamily="18" charset="0"/>
                      </a:rPr>
                      <m:t>=</m:t>
                    </m:r>
                    <m:sSub>
                      <m:sSubPr>
                        <m:ctrlPr>
                          <a:rPr lang="en-US" sz="2800" b="0" i="1" u="none" strike="noStrike" baseline="0" smtClean="0">
                            <a:latin typeface="Cambria Math" panose="02040503050406030204" pitchFamily="18" charset="0"/>
                          </a:rPr>
                        </m:ctrlPr>
                      </m:sSubPr>
                      <m:e>
                        <m:r>
                          <a:rPr lang="en-US" sz="2800" b="0" i="1" u="none" strike="noStrike" baseline="0" smtClean="0">
                            <a:latin typeface="Cambria Math" panose="02040503050406030204" pitchFamily="18" charset="0"/>
                          </a:rPr>
                          <m:t>𝑃</m:t>
                        </m:r>
                      </m:e>
                      <m:sub>
                        <m:r>
                          <a:rPr lang="en-US" sz="2800" b="0" i="1" u="none" strike="noStrike" baseline="0" smtClean="0">
                            <a:latin typeface="Cambria Math" panose="02040503050406030204" pitchFamily="18" charset="0"/>
                          </a:rPr>
                          <m:t>0</m:t>
                        </m:r>
                      </m:sub>
                    </m:sSub>
                    <m:d>
                      <m:dPr>
                        <m:ctrlPr>
                          <a:rPr lang="en-US" sz="2800" b="0" i="1" u="none" strike="noStrike" baseline="0" smtClean="0">
                            <a:latin typeface="Cambria Math" panose="02040503050406030204" pitchFamily="18" charset="0"/>
                          </a:rPr>
                        </m:ctrlPr>
                      </m:dPr>
                      <m:e>
                        <m:sSub>
                          <m:sSubPr>
                            <m:ctrlPr>
                              <a:rPr lang="en-US" sz="2800" b="0" i="1" u="none" strike="noStrike" baseline="0" smtClean="0">
                                <a:latin typeface="Cambria Math" panose="02040503050406030204" pitchFamily="18" charset="0"/>
                              </a:rPr>
                            </m:ctrlPr>
                          </m:sSubPr>
                          <m:e>
                            <m:r>
                              <a:rPr lang="en-US" sz="2800" b="0" i="1" u="none" strike="noStrike" baseline="0" smtClean="0">
                                <a:latin typeface="Cambria Math" panose="02040503050406030204" pitchFamily="18" charset="0"/>
                              </a:rPr>
                              <m:t>𝑋</m:t>
                            </m:r>
                          </m:e>
                          <m:sub>
                            <m:r>
                              <a:rPr lang="en-US" sz="2800" b="0" i="1" u="none" strike="noStrike" baseline="0" smtClean="0">
                                <a:latin typeface="Cambria Math" panose="02040503050406030204" pitchFamily="18" charset="0"/>
                              </a:rPr>
                              <m:t>0</m:t>
                            </m:r>
                          </m:sub>
                        </m:sSub>
                      </m:e>
                    </m:d>
                    <m:r>
                      <a:rPr lang="en-US" sz="2800" b="0" i="1" u="none" strike="noStrike" baseline="0" smtClean="0">
                        <a:latin typeface="Cambria Math" panose="02040503050406030204" pitchFamily="18" charset="0"/>
                      </a:rPr>
                      <m:t>𝑇</m:t>
                    </m:r>
                    <m:d>
                      <m:dPr>
                        <m:ctrlPr>
                          <a:rPr lang="en-US" sz="2800" b="0" i="1" u="none" strike="noStrike" baseline="0" smtClean="0">
                            <a:latin typeface="Cambria Math" panose="02040503050406030204" pitchFamily="18" charset="0"/>
                          </a:rPr>
                        </m:ctrlPr>
                      </m:dPr>
                      <m:e>
                        <m:sSub>
                          <m:sSubPr>
                            <m:ctrlPr>
                              <a:rPr lang="en-US" sz="2800" b="0" i="1" u="none" strike="noStrike" baseline="0" smtClean="0">
                                <a:latin typeface="Cambria Math" panose="02040503050406030204" pitchFamily="18" charset="0"/>
                              </a:rPr>
                            </m:ctrlPr>
                          </m:sSubPr>
                          <m:e>
                            <m:r>
                              <a:rPr lang="en-US" sz="2800" b="0" i="1" u="none" strike="noStrike" baseline="0" smtClean="0">
                                <a:latin typeface="Cambria Math" panose="02040503050406030204" pitchFamily="18" charset="0"/>
                              </a:rPr>
                              <m:t>𝑋</m:t>
                            </m:r>
                          </m:e>
                          <m:sub>
                            <m:r>
                              <a:rPr lang="en-US" sz="2800" b="0" i="1" u="none" strike="noStrike" baseline="0" smtClean="0">
                                <a:latin typeface="Cambria Math" panose="02040503050406030204" pitchFamily="18" charset="0"/>
                              </a:rPr>
                              <m:t>0</m:t>
                            </m:r>
                          </m:sub>
                        </m:sSub>
                        <m:r>
                          <a:rPr lang="en-US" sz="2800" b="0" i="1" u="none" strike="noStrike" baseline="0" smtClean="0">
                            <a:latin typeface="Cambria Math" panose="02040503050406030204" pitchFamily="18" charset="0"/>
                            <a:ea typeface="Cambria Math" panose="02040503050406030204" pitchFamily="18" charset="0"/>
                          </a:rPr>
                          <m:t>→</m:t>
                        </m:r>
                        <m:sSub>
                          <m:sSubPr>
                            <m:ctrlPr>
                              <a:rPr lang="en-US" sz="2800" b="0" i="1" u="none" strike="noStrike" baseline="0" smtClean="0">
                                <a:latin typeface="Cambria Math" panose="02040503050406030204" pitchFamily="18" charset="0"/>
                                <a:ea typeface="Cambria Math" panose="02040503050406030204" pitchFamily="18" charset="0"/>
                              </a:rPr>
                            </m:ctrlPr>
                          </m:sSubPr>
                          <m:e>
                            <m:r>
                              <a:rPr lang="en-US" sz="2800" b="0" i="1" u="none" strike="noStrike" baseline="0" smtClean="0">
                                <a:latin typeface="Cambria Math" panose="02040503050406030204" pitchFamily="18" charset="0"/>
                                <a:ea typeface="Cambria Math" panose="02040503050406030204" pitchFamily="18" charset="0"/>
                              </a:rPr>
                              <m:t>𝑋</m:t>
                            </m:r>
                          </m:e>
                          <m:sub>
                            <m:r>
                              <a:rPr lang="en-US" sz="2800" b="0" i="1" u="none" strike="noStrike" baseline="0" smtClean="0">
                                <a:latin typeface="Cambria Math" panose="02040503050406030204" pitchFamily="18" charset="0"/>
                                <a:ea typeface="Cambria Math" panose="02040503050406030204" pitchFamily="18" charset="0"/>
                              </a:rPr>
                              <m:t>1</m:t>
                            </m:r>
                          </m:sub>
                        </m:sSub>
                      </m:e>
                    </m:d>
                    <m:r>
                      <a:rPr lang="en-US" sz="2800" b="0" i="1" u="none" strike="noStrike" baseline="0" smtClean="0">
                        <a:latin typeface="Cambria Math" panose="02040503050406030204" pitchFamily="18" charset="0"/>
                        <a:ea typeface="Cambria Math" panose="02040503050406030204" pitchFamily="18" charset="0"/>
                      </a:rPr>
                      <m:t>𝑇</m:t>
                    </m:r>
                    <m:d>
                      <m:dPr>
                        <m:ctrlPr>
                          <a:rPr lang="en-US" sz="2800" b="0" i="1" u="none" strike="noStrike" baseline="0" smtClean="0">
                            <a:latin typeface="Cambria Math" panose="02040503050406030204" pitchFamily="18" charset="0"/>
                            <a:ea typeface="Cambria Math" panose="02040503050406030204" pitchFamily="18" charset="0"/>
                          </a:rPr>
                        </m:ctrlPr>
                      </m:dPr>
                      <m:e>
                        <m:sSub>
                          <m:sSubPr>
                            <m:ctrlPr>
                              <a:rPr lang="en-US" sz="2800" b="0" i="1" u="none" strike="noStrike" baseline="0" smtClean="0">
                                <a:latin typeface="Cambria Math" panose="02040503050406030204" pitchFamily="18" charset="0"/>
                                <a:ea typeface="Cambria Math" panose="02040503050406030204" pitchFamily="18" charset="0"/>
                              </a:rPr>
                            </m:ctrlPr>
                          </m:sSubPr>
                          <m:e>
                            <m:r>
                              <a:rPr lang="en-US" sz="2800" b="0" i="1" u="none" strike="noStrike" baseline="0" smtClean="0">
                                <a:latin typeface="Cambria Math" panose="02040503050406030204" pitchFamily="18" charset="0"/>
                                <a:ea typeface="Cambria Math" panose="02040503050406030204" pitchFamily="18" charset="0"/>
                              </a:rPr>
                              <m:t>𝑋</m:t>
                            </m:r>
                          </m:e>
                          <m:sub>
                            <m:r>
                              <a:rPr lang="en-US" sz="2800" b="0" i="1" u="none" strike="noStrike" baseline="0" smtClean="0">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sSub>
                          <m:sSubPr>
                            <m:ctrlPr>
                              <a:rPr lang="en-US" sz="2800" b="0" i="1" u="none" strike="noStrike" baseline="0"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2</m:t>
                            </m:r>
                          </m:sub>
                        </m:sSub>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𝑇</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−2</m:t>
                            </m:r>
                          </m:sub>
                        </m:sSub>
                        <m:r>
                          <a:rPr lang="en-US" i="1">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𝑋</m:t>
                            </m:r>
                          </m:e>
                          <m:sub>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−1</m:t>
                            </m:r>
                          </m:sub>
                        </m:sSub>
                      </m:e>
                    </m:d>
                  </m:oMath>
                </a14:m>
                <a:br>
                  <a:rPr lang="es-ES" dirty="0"/>
                </a:br>
                <a:br>
                  <a:rPr lang="en-US" dirty="0"/>
                </a:br>
                <a:r>
                  <a:rPr lang="en-US" dirty="0" err="1"/>
                  <a:t>donde</a:t>
                </a:r>
                <a:r>
                  <a:rPr lang="en-US" dirty="0"/>
                  <a:t> </a:t>
                </a:r>
                <a14:m>
                  <m:oMath xmlns:m="http://schemas.openxmlformats.org/officeDocument/2006/math">
                    <m:r>
                      <a:rPr lang="en-US" b="0" i="1" smtClean="0">
                        <a:latin typeface="Cambria Math" panose="02040503050406030204" pitchFamily="18" charset="0"/>
                        <a:ea typeface="Cambria Math" panose="02040503050406030204" pitchFamily="18" charset="0"/>
                      </a:rPr>
                      <m:t>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r>
                      <a:rPr lang="en-US" b="0" i="1" smtClean="0">
                        <a:latin typeface="Cambria Math" panose="02040503050406030204" pitchFamily="18" charset="0"/>
                        <a:ea typeface="Cambria Math" panose="02040503050406030204" pitchFamily="18" charset="0"/>
                      </a:rPr>
                      <m:t>)</m:t>
                    </m:r>
                  </m:oMath>
                </a14:m>
                <a:r>
                  <a:rPr lang="es-ES" dirty="0"/>
                  <a:t> es la probabilidad de transición del estado </a:t>
                </a:r>
                <a14:m>
                  <m:oMath xmlns:m="http://schemas.openxmlformats.org/officeDocument/2006/math">
                    <m:r>
                      <a:rPr lang="es-ES" b="0" i="1" smtClean="0">
                        <a:latin typeface="Cambria Math" panose="02040503050406030204" pitchFamily="18" charset="0"/>
                        <a:ea typeface="Cambria Math" panose="02040503050406030204" pitchFamily="18" charset="0"/>
                      </a:rPr>
                      <m:t>𝑋</m:t>
                    </m:r>
                  </m:oMath>
                </a14:m>
                <a:r>
                  <a:rPr lang="es-ES" dirty="0"/>
                  <a:t> al estado </a:t>
                </a:r>
                <a14:m>
                  <m:oMath xmlns:m="http://schemas.openxmlformats.org/officeDocument/2006/math">
                    <m:r>
                      <a:rPr lang="es-ES" b="0" i="1" smtClean="0">
                        <a:latin typeface="Cambria Math" panose="02040503050406030204" pitchFamily="18" charset="0"/>
                        <a:ea typeface="Cambria Math" panose="02040503050406030204" pitchFamily="18" charset="0"/>
                      </a:rPr>
                      <m:t>𝑌</m:t>
                    </m:r>
                  </m:oMath>
                </a14:m>
                <a:r>
                  <a:rPr lang="es-ES" dirty="0"/>
                  <a:t> (obviamente </a:t>
                </a:r>
                <a14:m>
                  <m:oMath xmlns:m="http://schemas.openxmlformats.org/officeDocument/2006/math">
                    <m:nary>
                      <m:naryPr>
                        <m:chr m:val="∑"/>
                        <m:supHide m:val="on"/>
                        <m:ctrlPr>
                          <a:rPr lang="en-US" b="0" i="1" smtClean="0">
                            <a:latin typeface="Cambria Math" panose="02040503050406030204" pitchFamily="18" charset="0"/>
                            <a:ea typeface="Cambria Math" panose="02040503050406030204" pitchFamily="18" charset="0"/>
                          </a:rPr>
                        </m:ctrlPr>
                      </m:naryPr>
                      <m:sub>
                        <m:r>
                          <a:rPr lang="en-US" b="0" i="1" smtClean="0">
                            <a:latin typeface="Cambria Math" panose="02040503050406030204" pitchFamily="18" charset="0"/>
                            <a:ea typeface="Cambria Math" panose="02040503050406030204" pitchFamily="18" charset="0"/>
                          </a:rPr>
                          <m:t>𝑌</m:t>
                        </m:r>
                      </m:sub>
                      <m:sup/>
                      <m:e>
                        <m:r>
                          <a:rPr lang="en-US" b="0" i="1" smtClean="0">
                            <a:latin typeface="Cambria Math" panose="02040503050406030204" pitchFamily="18" charset="0"/>
                            <a:ea typeface="Cambria Math" panose="02040503050406030204" pitchFamily="18" charset="0"/>
                          </a:rPr>
                          <m:t>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r>
                          <a:rPr lang="en-US" b="0" i="1" smtClean="0">
                            <a:latin typeface="Cambria Math" panose="02040503050406030204" pitchFamily="18" charset="0"/>
                            <a:ea typeface="Cambria Math" panose="02040503050406030204" pitchFamily="18" charset="0"/>
                          </a:rPr>
                          <m:t>)</m:t>
                        </m:r>
                      </m:e>
                    </m:nary>
                    <m:r>
                      <a:rPr lang="en-US" b="0" i="1" smtClean="0">
                        <a:latin typeface="Cambria Math" panose="02040503050406030204" pitchFamily="18" charset="0"/>
                        <a:ea typeface="Cambria Math" panose="02040503050406030204" pitchFamily="18" charset="0"/>
                      </a:rPr>
                      <m:t>=1</m:t>
                    </m:r>
                  </m:oMath>
                </a14:m>
                <a:r>
                  <a:rPr lang="es-ES" dirty="0"/>
                  <a:t>). En el contexto del modelo de </a:t>
                </a:r>
                <a:r>
                  <a:rPr lang="es-ES" dirty="0" err="1"/>
                  <a:t>Hopfield</a:t>
                </a:r>
                <a:r>
                  <a:rPr lang="es-ES" dirty="0"/>
                  <a:t>, </a:t>
                </a:r>
                <a14:m>
                  <m:oMath xmlns:m="http://schemas.openxmlformats.org/officeDocument/2006/math">
                    <m:r>
                      <a:rPr lang="en-US" b="0" i="1" smtClean="0">
                        <a:latin typeface="Cambria Math" panose="02040503050406030204" pitchFamily="18" charset="0"/>
                        <a:ea typeface="Cambria Math" panose="02040503050406030204" pitchFamily="18" charset="0"/>
                      </a:rPr>
                      <m:t>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𝑌</m:t>
                    </m:r>
                    <m:r>
                      <a:rPr lang="en-US" b="0" i="1" smtClean="0">
                        <a:latin typeface="Cambria Math" panose="02040503050406030204" pitchFamily="18" charset="0"/>
                        <a:ea typeface="Cambria Math" panose="02040503050406030204" pitchFamily="18" charset="0"/>
                      </a:rPr>
                      <m:t>)</m:t>
                    </m:r>
                  </m:oMath>
                </a14:m>
                <a:r>
                  <a:rPr lang="es-ES" dirty="0"/>
                  <a:t> se conoce también como </a:t>
                </a:r>
                <a:r>
                  <a:rPr lang="es-ES" dirty="0">
                    <a:solidFill>
                      <a:srgbClr val="B020A9"/>
                    </a:solidFill>
                  </a:rPr>
                  <a:t>función de transferencia</a:t>
                </a:r>
                <a:r>
                  <a:rPr lang="es-ES" dirty="0"/>
                  <a:t>. </a:t>
                </a:r>
              </a:p>
              <a:p>
                <a:pPr>
                  <a:lnSpc>
                    <a:spcPct val="120000"/>
                  </a:lnSpc>
                  <a:spcAft>
                    <a:spcPts val="600"/>
                  </a:spcAft>
                </a:pPr>
                <a:r>
                  <a:rPr lang="es-ES" dirty="0"/>
                  <a:t>Si </a:t>
                </a:r>
                <a14:m>
                  <m:oMath xmlns:m="http://schemas.openxmlformats.org/officeDocument/2006/math">
                    <m:r>
                      <a:rPr lang="en-US" b="0" i="1" smtClean="0">
                        <a:latin typeface="Cambria Math" panose="02040503050406030204" pitchFamily="18" charset="0"/>
                      </a:rPr>
                      <m:t>𝑔</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s-ES" dirty="0"/>
                  <a:t> es la probabilidad de que en el paso </a:t>
                </a:r>
                <a14:m>
                  <m:oMath xmlns:m="http://schemas.openxmlformats.org/officeDocument/2006/math">
                    <m:r>
                      <a:rPr lang="en-US" b="0" i="1" smtClean="0">
                        <a:latin typeface="Cambria Math" panose="02040503050406030204" pitchFamily="18" charset="0"/>
                      </a:rPr>
                      <m:t>𝑡</m:t>
                    </m:r>
                  </m:oMath>
                </a14:m>
                <a:r>
                  <a:rPr lang="es-ES" dirty="0"/>
                  <a:t> de la cadena de </a:t>
                </a:r>
                <a:r>
                  <a:rPr lang="es-ES" dirty="0" err="1"/>
                  <a:t>Markov</a:t>
                </a:r>
                <a:r>
                  <a:rPr lang="es-ES" dirty="0"/>
                  <a:t> nos encontremos en el estado </a:t>
                </a:r>
                <a14:m>
                  <m:oMath xmlns:m="http://schemas.openxmlformats.org/officeDocument/2006/math">
                    <m:r>
                      <a:rPr lang="en-US" b="0" i="1" smtClean="0">
                        <a:latin typeface="Cambria Math" panose="02040503050406030204" pitchFamily="18" charset="0"/>
                        <a:ea typeface="Cambria Math" panose="02040503050406030204" pitchFamily="18" charset="0"/>
                      </a:rPr>
                      <m:t>𝑋</m:t>
                    </m:r>
                  </m:oMath>
                </a14:m>
                <a:r>
                  <a:rPr lang="es-ES" dirty="0"/>
                  <a:t>, entonces podemos derivar la </a:t>
                </a:r>
                <a:r>
                  <a:rPr lang="es-ES" b="1" dirty="0">
                    <a:solidFill>
                      <a:srgbClr val="B020A9"/>
                    </a:solidFill>
                  </a:rPr>
                  <a:t>ecuación maestra</a:t>
                </a:r>
                <a:r>
                  <a:rPr lang="es-ES" dirty="0"/>
                  <a:t>:</a:t>
                </a:r>
                <a:br>
                  <a:rPr lang="es-ES" dirty="0"/>
                </a:br>
                <a14:m>
                  <m:oMath xmlns:m="http://schemas.openxmlformats.org/officeDocument/2006/math">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+1</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𝑋</m:t>
                        </m:r>
                        <m:r>
                          <a:rPr lang="en-US" b="0" i="1" smtClean="0">
                            <a:latin typeface="Cambria Math" panose="02040503050406030204" pitchFamily="18" charset="0"/>
                          </a:rPr>
                          <m:t>′</m:t>
                        </m:r>
                      </m:sub>
                      <m:sup/>
                      <m:e>
                        <m:r>
                          <a:rPr lang="en-US" b="0" i="1" smtClean="0">
                            <a:latin typeface="Cambria Math" panose="02040503050406030204" pitchFamily="18" charset="0"/>
                          </a:rPr>
                          <m:t>𝑔</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𝑡</m:t>
                            </m:r>
                          </m:e>
                        </m:d>
                        <m:r>
                          <a:rPr lang="en-US" b="0" i="1" smtClean="0">
                            <a:latin typeface="Cambria Math" panose="02040503050406030204" pitchFamily="18" charset="0"/>
                          </a:rPr>
                          <m:t>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e>
                    </m:nary>
                  </m:oMath>
                </a14:m>
                <a:br>
                  <a:rPr lang="en-US" b="0" i="1" dirty="0">
                    <a:latin typeface="Cambria Math" panose="02040503050406030204" pitchFamily="18" charset="0"/>
                  </a:rPr>
                </a:br>
                <a14:m>
                  <m:oMath xmlns:m="http://schemas.openxmlformats.org/officeDocument/2006/math">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𝑋</m:t>
                        </m:r>
                      </m:sub>
                      <m:sup/>
                      <m:e>
                        <m:r>
                          <a:rPr lang="en-US" b="0" i="1" smtClean="0">
                            <a:latin typeface="Cambria Math" panose="02040503050406030204" pitchFamily="18" charset="0"/>
                          </a:rPr>
                          <m:t>𝑔</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𝑡</m:t>
                            </m:r>
                          </m:e>
                        </m:d>
                        <m:r>
                          <a:rPr lang="en-US" b="0" i="1" smtClean="0">
                            <a:latin typeface="Cambria Math" panose="02040503050406030204" pitchFamily="18" charset="0"/>
                          </a:rPr>
                          <m:t>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e>
                    </m:nary>
                    <m:r>
                      <a:rPr lang="en-US" b="0" i="1" smtClean="0">
                        <a:latin typeface="Cambria Math" panose="02040503050406030204" pitchFamily="18" charset="0"/>
                      </a:rPr>
                      <m:t>+</m:t>
                    </m:r>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𝑡</m:t>
                        </m:r>
                      </m:e>
                    </m:d>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e>
                    </m:d>
                  </m:oMath>
                </a14:m>
                <a:br>
                  <a:rPr lang="en-US" b="0" i="1" dirty="0">
                    <a:latin typeface="Cambria Math" panose="02040503050406030204" pitchFamily="18" charset="0"/>
                    <a:ea typeface="Cambria Math" panose="02040503050406030204" pitchFamily="18" charset="0"/>
                  </a:rPr>
                </a:br>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𝑔</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ea typeface="Cambria Math" panose="02040503050406030204" pitchFamily="18" charset="0"/>
                      </a:rPr>
                      <m:t>+</m:t>
                    </m:r>
                    <m:nary>
                      <m:naryPr>
                        <m:chr m:val="∑"/>
                        <m:supHide m:val="on"/>
                        <m:ctrlPr>
                          <a:rPr lang="en-US" b="0" i="1" smtClean="0">
                            <a:latin typeface="Cambria Math" panose="02040503050406030204" pitchFamily="18" charset="0"/>
                            <a:ea typeface="Cambria Math" panose="02040503050406030204" pitchFamily="18" charset="0"/>
                          </a:rPr>
                        </m:ctrlPr>
                      </m:naryPr>
                      <m:sub>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sub>
                      <m:sup/>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𝑔</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ea typeface="Cambria Math" panose="02040503050406030204" pitchFamily="18" charset="0"/>
                          </a:rPr>
                          <m:t>𝑇</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𝑔</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ea typeface="Cambria Math" panose="02040503050406030204" pitchFamily="18" charset="0"/>
                          </a:rPr>
                          <m:t>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e>
                    </m:nary>
                  </m:oMath>
                </a14:m>
                <a:endParaRPr lang="es-ES" dirty="0"/>
              </a:p>
              <a:p>
                <a:pPr>
                  <a:lnSpc>
                    <a:spcPct val="120000"/>
                  </a:lnSpc>
                  <a:spcAft>
                    <a:spcPts val="600"/>
                  </a:spcAft>
                </a:pPr>
                <a:r>
                  <a:rPr lang="es-ES" dirty="0"/>
                  <a:t>Encontramos una solución estacionaria al proceso de </a:t>
                </a:r>
                <a:r>
                  <a:rPr lang="es-ES" dirty="0" err="1"/>
                  <a:t>Markov</a:t>
                </a:r>
                <a:r>
                  <a:rPr lang="es-ES" dirty="0"/>
                  <a:t> imponiendo </a:t>
                </a:r>
                <a:br>
                  <a:rPr lang="es-ES" dirty="0"/>
                </a:br>
                <a14:m>
                  <m:oMath xmlns:m="http://schemas.openxmlformats.org/officeDocument/2006/math">
                    <m:r>
                      <a:rPr lang="en-US" b="0" i="1" smtClean="0">
                        <a:latin typeface="Cambria Math" panose="02040503050406030204" pitchFamily="18" charset="0"/>
                        <a:ea typeface="Cambria Math" panose="02040503050406030204" pitchFamily="18" charset="0"/>
                      </a:rPr>
                      <m:t>𝑔</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𝑇</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𝑔</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𝑋</m:t>
                        </m:r>
                      </m:e>
                    </m:d>
                    <m:r>
                      <a:rPr lang="en-US" b="0" i="1" smtClean="0">
                        <a:latin typeface="Cambria Math" panose="02040503050406030204" pitchFamily="18" charset="0"/>
                        <a:ea typeface="Cambria Math" panose="02040503050406030204" pitchFamily="18" charset="0"/>
                      </a:rPr>
                      <m:t>𝑇</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𝑋</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𝑋</m:t>
                            </m:r>
                          </m:e>
                          <m:sup>
                            <m:r>
                              <a:rPr lang="en-US" b="0" i="1" smtClean="0">
                                <a:latin typeface="Cambria Math" panose="02040503050406030204" pitchFamily="18" charset="0"/>
                                <a:ea typeface="Cambria Math" panose="02040503050406030204" pitchFamily="18" charset="0"/>
                              </a:rPr>
                              <m:t>′</m:t>
                            </m:r>
                          </m:sup>
                        </m:sSup>
                      </m:e>
                    </m:d>
                  </m:oMath>
                </a14:m>
                <a:br>
                  <a:rPr lang="en-US" dirty="0"/>
                </a:br>
                <a:r>
                  <a:rPr lang="en-US" dirty="0" err="1"/>
                  <a:t>donde</a:t>
                </a:r>
                <a:r>
                  <a:rPr lang="en-US" dirty="0"/>
                  <a:t> </a:t>
                </a:r>
                <a14:m>
                  <m:oMath xmlns:m="http://schemas.openxmlformats.org/officeDocument/2006/math">
                    <m:r>
                      <a:rPr lang="en-US" b="0" i="1" smtClean="0">
                        <a:latin typeface="Cambria Math" panose="02040503050406030204" pitchFamily="18" charset="0"/>
                        <a:ea typeface="Cambria Math" panose="02040503050406030204" pitchFamily="18" charset="0"/>
                      </a:rPr>
                      <m:t>𝑔</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𝑋</m:t>
                        </m:r>
                      </m:e>
                    </m:d>
                  </m:oMath>
                </a14:m>
                <a:r>
                  <a:rPr lang="en-US" dirty="0"/>
                  <a:t> </a:t>
                </a:r>
                <a:r>
                  <a:rPr lang="es-ES" dirty="0"/>
                  <a:t>es la probabilidad estacionaria de que el sistema se encuentre en el estado </a:t>
                </a:r>
                <a:r>
                  <a:rPr lang="es-ES" i="1" dirty="0"/>
                  <a:t>X</a:t>
                </a:r>
                <a:r>
                  <a:rPr lang="es-ES" dirty="0"/>
                  <a:t>. Esta condición suficiente se denomina </a:t>
                </a:r>
                <a:r>
                  <a:rPr lang="es-ES" b="1" dirty="0">
                    <a:solidFill>
                      <a:srgbClr val="B020A9"/>
                    </a:solidFill>
                  </a:rPr>
                  <a:t>condición de balance detallado</a:t>
                </a:r>
                <a:r>
                  <a:rPr lang="es-ES" dirty="0">
                    <a:solidFill>
                      <a:srgbClr val="B020A9"/>
                    </a:solidFill>
                  </a:rPr>
                  <a:t>.</a:t>
                </a:r>
              </a:p>
            </p:txBody>
          </p:sp>
        </mc:Choice>
        <mc:Fallback xmlns="">
          <p:sp>
            <p:nvSpPr>
              <p:cNvPr id="3" name="Marcador de contenido 2">
                <a:extLst>
                  <a:ext uri="{FF2B5EF4-FFF2-40B4-BE49-F238E27FC236}">
                    <a16:creationId xmlns:a16="http://schemas.microsoft.com/office/drawing/2014/main" id="{90C686A3-A6F1-56A8-DAFE-4F34FCFEA9F7}"/>
                  </a:ext>
                </a:extLst>
              </p:cNvPr>
              <p:cNvSpPr>
                <a:spLocks noGrp="1" noRot="1" noChangeAspect="1" noMove="1" noResize="1" noEditPoints="1" noAdjustHandles="1" noChangeArrowheads="1" noChangeShapeType="1" noTextEdit="1"/>
              </p:cNvSpPr>
              <p:nvPr>
                <p:ph idx="1"/>
              </p:nvPr>
            </p:nvSpPr>
            <p:spPr>
              <a:xfrm>
                <a:off x="632012" y="1143841"/>
                <a:ext cx="10744200" cy="5543830"/>
              </a:xfrm>
              <a:blipFill>
                <a:blip r:embed="rId2"/>
                <a:stretch>
                  <a:fillRect l="-170" t="-330" r="-568"/>
                </a:stretch>
              </a:blipFill>
            </p:spPr>
            <p:txBody>
              <a:bodyPr/>
              <a:lstStyle/>
              <a:p>
                <a:r>
                  <a:rPr lang="es-ES">
                    <a:noFill/>
                  </a:rPr>
                  <a:t> </a:t>
                </a:r>
              </a:p>
            </p:txBody>
          </p:sp>
        </mc:Fallback>
      </mc:AlternateContent>
      <p:sp>
        <p:nvSpPr>
          <p:cNvPr id="8" name="Título 1">
            <a:extLst>
              <a:ext uri="{FF2B5EF4-FFF2-40B4-BE49-F238E27FC236}">
                <a16:creationId xmlns:a16="http://schemas.microsoft.com/office/drawing/2014/main" id="{EDCE7E56-C406-EE2F-C6CE-30D22F623B68}"/>
              </a:ext>
            </a:extLst>
          </p:cNvPr>
          <p:cNvSpPr>
            <a:spLocks noGrp="1"/>
          </p:cNvSpPr>
          <p:nvPr>
            <p:ph type="title"/>
          </p:nvPr>
        </p:nvSpPr>
        <p:spPr>
          <a:xfrm>
            <a:off x="-62754" y="87220"/>
            <a:ext cx="12254753" cy="809252"/>
          </a:xfrm>
          <a:solidFill>
            <a:schemeClr val="accent5">
              <a:lumMod val="40000"/>
              <a:lumOff val="60000"/>
            </a:schemeClr>
          </a:solidFill>
        </p:spPr>
        <p:txBody>
          <a:bodyPr>
            <a:normAutofit/>
          </a:bodyPr>
          <a:lstStyle/>
          <a:p>
            <a:pPr algn="r"/>
            <a:r>
              <a:rPr lang="es-ES" sz="2800" dirty="0"/>
              <a:t>Física Estadística y Métodos Monte Carlo</a:t>
            </a:r>
          </a:p>
        </p:txBody>
      </p:sp>
    </p:spTree>
    <p:extLst>
      <p:ext uri="{BB962C8B-B14F-4D97-AF65-F5344CB8AC3E}">
        <p14:creationId xmlns:p14="http://schemas.microsoft.com/office/powerpoint/2010/main" val="1469273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09DF978-C28C-40C2-BDBE-40DEA458F1A2}"/>
                  </a:ext>
                </a:extLst>
              </p:cNvPr>
              <p:cNvSpPr>
                <a:spLocks noGrp="1"/>
              </p:cNvSpPr>
              <p:nvPr>
                <p:ph idx="1"/>
              </p:nvPr>
            </p:nvSpPr>
            <p:spPr>
              <a:xfrm>
                <a:off x="551330" y="1083142"/>
                <a:ext cx="10515600" cy="4691716"/>
              </a:xfrm>
            </p:spPr>
            <p:txBody>
              <a:bodyPr>
                <a:noAutofit/>
              </a:bodyPr>
              <a:lstStyle/>
              <a:p>
                <a:pPr>
                  <a:lnSpc>
                    <a:spcPct val="110000"/>
                  </a:lnSpc>
                </a:pPr>
                <a:r>
                  <a:rPr lang="es-ES" sz="1400" b="0" i="0" u="none" strike="noStrike" baseline="0" dirty="0">
                    <a:latin typeface="LMRoman17-Regular"/>
                  </a:rPr>
                  <a:t>En este contexto, la estrategia a seguir para generar estados </a:t>
                </a:r>
                <a:r>
                  <a:rPr lang="es-ES" sz="1400" b="0" i="1" u="none" strike="noStrike" baseline="0" dirty="0">
                    <a:latin typeface="LMMathItalic12-Regular"/>
                  </a:rPr>
                  <a:t>X </a:t>
                </a:r>
                <a:r>
                  <a:rPr lang="es-ES" sz="1400" b="0" i="0" u="none" strike="noStrike" baseline="0" dirty="0">
                    <a:latin typeface="LMRoman17-Regular"/>
                  </a:rPr>
                  <a:t>cuya distribución estacionaria sea </a:t>
                </a:r>
                <a14:m>
                  <m:oMath xmlns:m="http://schemas.openxmlformats.org/officeDocument/2006/math">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𝑃</m:t>
                        </m:r>
                      </m:e>
                      <m:sub>
                        <m:r>
                          <a:rPr lang="en-US" sz="1400" b="0" i="1" smtClean="0">
                            <a:latin typeface="Cambria Math" panose="02040503050406030204" pitchFamily="18" charset="0"/>
                            <a:ea typeface="Cambria Math" panose="02040503050406030204" pitchFamily="18" charset="0"/>
                          </a:rPr>
                          <m:t>𝑁</m:t>
                        </m:r>
                      </m:sub>
                    </m:sSub>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𝑋</m:t>
                    </m:r>
                    <m:r>
                      <a:rPr lang="en-US" sz="1400" b="0" i="1" smtClean="0">
                        <a:latin typeface="Cambria Math" panose="02040503050406030204" pitchFamily="18" charset="0"/>
                        <a:ea typeface="Cambria Math" panose="02040503050406030204" pitchFamily="18" charset="0"/>
                      </a:rPr>
                      <m:t>)</m:t>
                    </m:r>
                  </m:oMath>
                </a14:m>
                <a:r>
                  <a:rPr lang="es-ES" sz="1400" b="0" i="0" u="none" strike="noStrike" baseline="0" dirty="0">
                    <a:latin typeface="LMRoman17-Regular"/>
                  </a:rPr>
                  <a:t> supuestamente conocida es la siguiente:</a:t>
                </a:r>
              </a:p>
              <a:p>
                <a:pPr marL="800100" lvl="1" indent="-342900">
                  <a:lnSpc>
                    <a:spcPct val="110000"/>
                  </a:lnSpc>
                  <a:buFont typeface="+mj-lt"/>
                  <a:buAutoNum type="arabicPeriod"/>
                </a:pPr>
                <a:r>
                  <a:rPr lang="es-ES" sz="1400" b="0" i="0" u="none" strike="noStrike" baseline="0" dirty="0">
                    <a:solidFill>
                      <a:srgbClr val="000000"/>
                    </a:solidFill>
                    <a:latin typeface="LMRoman17-Regular"/>
                  </a:rPr>
                  <a:t>Construimos una </a:t>
                </a:r>
                <a14:m>
                  <m:oMath xmlns:m="http://schemas.openxmlformats.org/officeDocument/2006/math">
                    <m:r>
                      <a:rPr lang="en-US" sz="1400" b="0" i="1" smtClean="0">
                        <a:latin typeface="Cambria Math" panose="02040503050406030204" pitchFamily="18" charset="0"/>
                        <a:ea typeface="Cambria Math" panose="02040503050406030204" pitchFamily="18" charset="0"/>
                      </a:rPr>
                      <m:t>𝑇</m:t>
                    </m:r>
                    <m:r>
                      <a:rPr lang="en-US" sz="1400" b="0" i="1" smtClean="0">
                        <a:latin typeface="Cambria Math" panose="02040503050406030204" pitchFamily="18" charset="0"/>
                        <a:ea typeface="Cambria Math" panose="02040503050406030204" pitchFamily="18" charset="0"/>
                      </a:rPr>
                      <m:t>(</m:t>
                    </m:r>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𝑋</m:t>
                        </m:r>
                      </m:e>
                      <m:sup>
                        <m:r>
                          <a:rPr lang="en-US" sz="1400" b="0" i="1" smtClean="0">
                            <a:latin typeface="Cambria Math" panose="02040503050406030204" pitchFamily="18" charset="0"/>
                            <a:ea typeface="Cambria Math" panose="02040503050406030204" pitchFamily="18" charset="0"/>
                          </a:rPr>
                          <m:t>′</m:t>
                        </m:r>
                      </m:sup>
                    </m:sSup>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𝑋</m:t>
                    </m:r>
                    <m:r>
                      <a:rPr lang="en-US" sz="1400" b="0" i="1" smtClean="0">
                        <a:latin typeface="Cambria Math" panose="02040503050406030204" pitchFamily="18" charset="0"/>
                        <a:ea typeface="Cambria Math" panose="02040503050406030204" pitchFamily="18" charset="0"/>
                      </a:rPr>
                      <m:t>)</m:t>
                    </m:r>
                  </m:oMath>
                </a14:m>
                <a:r>
                  <a:rPr lang="es-ES" sz="1400" b="0" i="0" u="none" strike="noStrike" baseline="0" dirty="0">
                    <a:solidFill>
                      <a:srgbClr val="000000"/>
                    </a:solidFill>
                    <a:latin typeface="LMRoman17-Regular"/>
                  </a:rPr>
                  <a:t> a partir de la condición de balance detallado. Dada </a:t>
                </a:r>
                <a14:m>
                  <m:oMath xmlns:m="http://schemas.openxmlformats.org/officeDocument/2006/math">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𝑃</m:t>
                        </m:r>
                      </m:e>
                      <m:sub>
                        <m:r>
                          <a:rPr lang="en-US" sz="1400" b="0" i="1" smtClean="0">
                            <a:latin typeface="Cambria Math" panose="02040503050406030204" pitchFamily="18" charset="0"/>
                            <a:ea typeface="Cambria Math" panose="02040503050406030204" pitchFamily="18" charset="0"/>
                          </a:rPr>
                          <m:t>𝑁</m:t>
                        </m:r>
                      </m:sub>
                    </m:sSub>
                    <m:d>
                      <m:dPr>
                        <m:ctrlPr>
                          <a:rPr lang="en-US" sz="1400" b="0" i="1" smtClean="0">
                            <a:latin typeface="Cambria Math" panose="02040503050406030204" pitchFamily="18" charset="0"/>
                            <a:ea typeface="Cambria Math" panose="02040503050406030204" pitchFamily="18" charset="0"/>
                          </a:rPr>
                        </m:ctrlPr>
                      </m:dPr>
                      <m:e>
                        <m:r>
                          <a:rPr lang="en-US" sz="1400" b="0" i="1" smtClean="0">
                            <a:latin typeface="Cambria Math" panose="02040503050406030204" pitchFamily="18" charset="0"/>
                            <a:ea typeface="Cambria Math" panose="02040503050406030204" pitchFamily="18" charset="0"/>
                          </a:rPr>
                          <m:t>𝑋</m:t>
                        </m:r>
                      </m:e>
                    </m:d>
                    <m:r>
                      <a:rPr lang="en-US" sz="1400" b="0" i="1" smtClean="0">
                        <a:latin typeface="Cambria Math" panose="02040503050406030204" pitchFamily="18" charset="0"/>
                        <a:ea typeface="Cambria Math" panose="02040503050406030204" pitchFamily="18" charset="0"/>
                      </a:rPr>
                      <m:t>≈</m:t>
                    </m:r>
                    <m:r>
                      <m:rPr>
                        <m:sty m:val="p"/>
                      </m:rPr>
                      <a:rPr lang="en-US" sz="1400" b="0" i="0" smtClean="0">
                        <a:latin typeface="Cambria Math" panose="02040503050406030204" pitchFamily="18" charset="0"/>
                        <a:ea typeface="Cambria Math" panose="02040503050406030204" pitchFamily="18" charset="0"/>
                      </a:rPr>
                      <m:t>exp</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𝛽</m:t>
                    </m:r>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𝐻</m:t>
                        </m:r>
                      </m:e>
                      <m:sub>
                        <m:r>
                          <a:rPr lang="en-US" sz="1400" b="0" i="1" smtClean="0">
                            <a:latin typeface="Cambria Math" panose="02040503050406030204" pitchFamily="18" charset="0"/>
                            <a:ea typeface="Cambria Math" panose="02040503050406030204" pitchFamily="18" charset="0"/>
                          </a:rPr>
                          <m:t>𝑁</m:t>
                        </m:r>
                      </m:sub>
                    </m:sSub>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𝑋</m:t>
                    </m:r>
                    <m:r>
                      <a:rPr lang="en-US" sz="1400" b="0" i="1" smtClean="0">
                        <a:latin typeface="Cambria Math" panose="02040503050406030204" pitchFamily="18" charset="0"/>
                        <a:ea typeface="Cambria Math" panose="02040503050406030204" pitchFamily="18" charset="0"/>
                      </a:rPr>
                      <m:t>)]</m:t>
                    </m:r>
                  </m:oMath>
                </a14:m>
                <a:r>
                  <a:rPr lang="es-ES" sz="1400" b="0" i="0" u="none" strike="noStrike" baseline="0" dirty="0">
                    <a:solidFill>
                      <a:srgbClr val="000000"/>
                    </a:solidFill>
                    <a:latin typeface="LMRoman17-Regular"/>
                  </a:rPr>
                  <a:t>, </a:t>
                </a:r>
                <a:r>
                  <a:rPr lang="es-ES" sz="1400" b="0" i="0" u="none" strike="noStrike" dirty="0">
                    <a:solidFill>
                      <a:srgbClr val="000000"/>
                    </a:solidFill>
                    <a:latin typeface="LMRoman17-Regular"/>
                  </a:rPr>
                  <a:t>la condici</a:t>
                </a:r>
                <a:r>
                  <a:rPr lang="es-ES" sz="1400" b="0" i="0" u="none" strike="noStrike" baseline="0" dirty="0">
                    <a:solidFill>
                      <a:srgbClr val="000000"/>
                    </a:solidFill>
                    <a:latin typeface="LMRoman17-Regular"/>
                  </a:rPr>
                  <a:t>ón de balance detallado es </a:t>
                </a:r>
                <a:br>
                  <a:rPr lang="es-ES" sz="1400" b="0" i="0" u="none" strike="noStrike" baseline="0" dirty="0">
                    <a:solidFill>
                      <a:srgbClr val="000000"/>
                    </a:solidFill>
                    <a:latin typeface="LMRoman17-Regular"/>
                  </a:rPr>
                </a:br>
                <a14:m>
                  <m:oMath xmlns:m="http://schemas.openxmlformats.org/officeDocument/2006/math">
                    <m:r>
                      <a:rPr lang="en-US" sz="1400" b="0" i="1" smtClean="0">
                        <a:latin typeface="Cambria Math" panose="02040503050406030204" pitchFamily="18" charset="0"/>
                        <a:ea typeface="Cambria Math" panose="02040503050406030204" pitchFamily="18" charset="0"/>
                      </a:rPr>
                      <m:t>𝑇</m:t>
                    </m:r>
                    <m:d>
                      <m:dPr>
                        <m:ctrlPr>
                          <a:rPr lang="en-US" sz="1400" b="0" i="1" smtClean="0">
                            <a:latin typeface="Cambria Math" panose="02040503050406030204" pitchFamily="18" charset="0"/>
                            <a:ea typeface="Cambria Math" panose="02040503050406030204" pitchFamily="18" charset="0"/>
                          </a:rPr>
                        </m:ctrlPr>
                      </m:dPr>
                      <m:e>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𝑋</m:t>
                            </m:r>
                          </m:e>
                          <m:sup>
                            <m:r>
                              <a:rPr lang="en-US" sz="1400" b="0" i="1" smtClean="0">
                                <a:latin typeface="Cambria Math" panose="02040503050406030204" pitchFamily="18" charset="0"/>
                                <a:ea typeface="Cambria Math" panose="02040503050406030204" pitchFamily="18" charset="0"/>
                              </a:rPr>
                              <m:t>′</m:t>
                            </m:r>
                          </m:sup>
                        </m:sSup>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𝑋</m:t>
                        </m:r>
                      </m:e>
                    </m:d>
                    <m:r>
                      <a:rPr lang="en-US" sz="1400" b="0" i="1" smtClean="0">
                        <a:latin typeface="Cambria Math" panose="02040503050406030204" pitchFamily="18" charset="0"/>
                        <a:ea typeface="Cambria Math" panose="02040503050406030204" pitchFamily="18" charset="0"/>
                      </a:rPr>
                      <m:t>=</m:t>
                    </m:r>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𝑒</m:t>
                        </m:r>
                      </m:e>
                      <m:sup>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𝛽</m:t>
                        </m:r>
                        <m:r>
                          <a:rPr lang="en-US" sz="1400" b="0" i="1" smtClean="0">
                            <a:latin typeface="Cambria Math" panose="02040503050406030204" pitchFamily="18" charset="0"/>
                            <a:ea typeface="Cambria Math" panose="02040503050406030204" pitchFamily="18" charset="0"/>
                          </a:rPr>
                          <m:t>[</m:t>
                        </m:r>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𝐻</m:t>
                            </m:r>
                          </m:e>
                          <m:sub>
                            <m:r>
                              <a:rPr lang="en-US" sz="1400" b="0" i="1" smtClean="0">
                                <a:latin typeface="Cambria Math" panose="02040503050406030204" pitchFamily="18" charset="0"/>
                                <a:ea typeface="Cambria Math" panose="02040503050406030204" pitchFamily="18" charset="0"/>
                              </a:rPr>
                              <m:t>𝑁</m:t>
                            </m:r>
                          </m:sub>
                        </m:sSub>
                        <m:d>
                          <m:dPr>
                            <m:ctrlPr>
                              <a:rPr lang="en-US" sz="1400" b="0" i="1" smtClean="0">
                                <a:latin typeface="Cambria Math" panose="02040503050406030204" pitchFamily="18" charset="0"/>
                                <a:ea typeface="Cambria Math" panose="02040503050406030204" pitchFamily="18" charset="0"/>
                              </a:rPr>
                            </m:ctrlPr>
                          </m:dPr>
                          <m:e>
                            <m:r>
                              <a:rPr lang="en-US" sz="1400" b="0" i="1" smtClean="0">
                                <a:latin typeface="Cambria Math" panose="02040503050406030204" pitchFamily="18" charset="0"/>
                                <a:ea typeface="Cambria Math" panose="02040503050406030204" pitchFamily="18" charset="0"/>
                              </a:rPr>
                              <m:t>𝑋</m:t>
                            </m:r>
                          </m:e>
                        </m:d>
                        <m:r>
                          <a:rPr lang="en-US" sz="1400" b="0" i="1" smtClean="0">
                            <a:latin typeface="Cambria Math" panose="02040503050406030204" pitchFamily="18" charset="0"/>
                            <a:ea typeface="Cambria Math" panose="02040503050406030204" pitchFamily="18" charset="0"/>
                          </a:rPr>
                          <m:t>−</m:t>
                        </m:r>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𝐻</m:t>
                            </m:r>
                          </m:e>
                          <m:sub>
                            <m:r>
                              <a:rPr lang="en-US" sz="1400" b="0" i="1" smtClean="0">
                                <a:latin typeface="Cambria Math" panose="02040503050406030204" pitchFamily="18" charset="0"/>
                                <a:ea typeface="Cambria Math" panose="02040503050406030204" pitchFamily="18" charset="0"/>
                              </a:rPr>
                              <m:t>𝑁</m:t>
                            </m:r>
                          </m:sub>
                        </m:sSub>
                        <m:r>
                          <a:rPr lang="en-US" sz="1400" b="0" i="1" smtClean="0">
                            <a:latin typeface="Cambria Math" panose="02040503050406030204" pitchFamily="18" charset="0"/>
                            <a:ea typeface="Cambria Math" panose="02040503050406030204" pitchFamily="18" charset="0"/>
                          </a:rPr>
                          <m:t>(</m:t>
                        </m:r>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𝑋</m:t>
                            </m:r>
                          </m:e>
                          <m:sup>
                            <m:r>
                              <a:rPr lang="en-US" sz="1400" b="0" i="1" smtClean="0">
                                <a:latin typeface="Cambria Math" panose="02040503050406030204" pitchFamily="18" charset="0"/>
                                <a:ea typeface="Cambria Math" panose="02040503050406030204" pitchFamily="18" charset="0"/>
                              </a:rPr>
                              <m:t>′</m:t>
                            </m:r>
                          </m:sup>
                        </m:sSup>
                        <m:r>
                          <a:rPr lang="en-US" sz="1400" b="0" i="1" smtClean="0">
                            <a:latin typeface="Cambria Math" panose="02040503050406030204" pitchFamily="18" charset="0"/>
                            <a:ea typeface="Cambria Math" panose="02040503050406030204" pitchFamily="18" charset="0"/>
                          </a:rPr>
                          <m:t>)]</m:t>
                        </m:r>
                      </m:sup>
                    </m:sSup>
                  </m:oMath>
                </a14:m>
                <a:br>
                  <a:rPr lang="en-US" sz="1400" b="0" i="0" u="none" strike="noStrike" baseline="0" dirty="0">
                    <a:latin typeface="LMRoman17-Regular"/>
                  </a:rPr>
                </a:br>
                <a:r>
                  <a:rPr lang="en-US" sz="1400" b="0" i="0" u="none" strike="noStrike" baseline="0" dirty="0">
                    <a:latin typeface="LMRoman17-Regular"/>
                  </a:rPr>
                  <a:t>Hay </a:t>
                </a:r>
                <a:r>
                  <a:rPr lang="en-US" sz="1400" b="0" i="0" u="none" strike="noStrike" baseline="0" dirty="0" err="1">
                    <a:latin typeface="LMRoman17-Regular"/>
                  </a:rPr>
                  <a:t>infinitas</a:t>
                </a:r>
                <a:r>
                  <a:rPr lang="en-US" sz="1400" b="0" i="0" u="none" strike="noStrike" baseline="0" dirty="0">
                    <a:latin typeface="LMRoman17-Regular"/>
                  </a:rPr>
                  <a:t> </a:t>
                </a:r>
                <a:r>
                  <a:rPr lang="en-US" sz="1400" b="0" i="0" u="none" strike="noStrike" baseline="0" dirty="0" err="1">
                    <a:latin typeface="LMRoman17-Regular"/>
                  </a:rPr>
                  <a:t>funciones</a:t>
                </a:r>
                <a14:m>
                  <m:oMath xmlns:m="http://schemas.openxmlformats.org/officeDocument/2006/math">
                    <m:r>
                      <a:rPr lang="es-ES" sz="1400" b="0" i="0" smtClean="0">
                        <a:latin typeface="Cambria Math" panose="02040503050406030204" pitchFamily="18" charset="0"/>
                        <a:ea typeface="Cambria Math" panose="02040503050406030204" pitchFamily="18" charset="0"/>
                      </a:rPr>
                      <m:t> </m:t>
                    </m:r>
                    <m:r>
                      <a:rPr lang="en-US" sz="1400" b="0" i="1" smtClean="0">
                        <a:latin typeface="Cambria Math" panose="02040503050406030204" pitchFamily="18" charset="0"/>
                        <a:ea typeface="Cambria Math" panose="02040503050406030204" pitchFamily="18" charset="0"/>
                      </a:rPr>
                      <m:t>𝑇</m:t>
                    </m:r>
                    <m:r>
                      <a:rPr lang="en-US" sz="1400" b="0" i="1" smtClean="0">
                        <a:latin typeface="Cambria Math" panose="02040503050406030204" pitchFamily="18" charset="0"/>
                        <a:ea typeface="Cambria Math" panose="02040503050406030204" pitchFamily="18" charset="0"/>
                      </a:rPr>
                      <m:t>(</m:t>
                    </m:r>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𝑋</m:t>
                        </m:r>
                      </m:e>
                      <m:sup>
                        <m:r>
                          <a:rPr lang="en-US" sz="1400" b="0" i="1" smtClean="0">
                            <a:latin typeface="Cambria Math" panose="02040503050406030204" pitchFamily="18" charset="0"/>
                            <a:ea typeface="Cambria Math" panose="02040503050406030204" pitchFamily="18" charset="0"/>
                          </a:rPr>
                          <m:t>′</m:t>
                        </m:r>
                      </m:sup>
                    </m:sSup>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𝑋</m:t>
                    </m:r>
                    <m:r>
                      <a:rPr lang="en-US" sz="1400" b="0" i="1" smtClean="0">
                        <a:latin typeface="Cambria Math" panose="02040503050406030204" pitchFamily="18" charset="0"/>
                        <a:ea typeface="Cambria Math" panose="02040503050406030204" pitchFamily="18" charset="0"/>
                      </a:rPr>
                      <m:t>)</m:t>
                    </m:r>
                  </m:oMath>
                </a14:m>
                <a:r>
                  <a:rPr lang="es-ES" sz="1400" b="0" i="0" u="none" strike="noStrike" baseline="0" dirty="0">
                    <a:solidFill>
                      <a:srgbClr val="000000"/>
                    </a:solidFill>
                    <a:latin typeface="LMRoman17-Regular"/>
                  </a:rPr>
                  <a:t> que cumplen esta ecuación. Un ejemplo de particular relevancia</a:t>
                </a:r>
                <a:r>
                  <a:rPr lang="es-ES" sz="1400" b="0" i="0" u="none" strike="noStrike" dirty="0">
                    <a:solidFill>
                      <a:srgbClr val="000000"/>
                    </a:solidFill>
                    <a:latin typeface="LMRoman17-Regular"/>
                  </a:rPr>
                  <a:t> es</a:t>
                </a:r>
                <a:r>
                  <a:rPr lang="es-ES" sz="1400" b="0" i="0" u="none" strike="noStrike" baseline="0" dirty="0">
                    <a:solidFill>
                      <a:srgbClr val="000000"/>
                    </a:solidFill>
                    <a:latin typeface="LMRoman17-Regular"/>
                  </a:rPr>
                  <a:t> la utilizada por </a:t>
                </a:r>
                <a:r>
                  <a:rPr lang="es-ES" sz="1400" b="0" i="0" u="none" strike="noStrike" baseline="0" dirty="0">
                    <a:solidFill>
                      <a:srgbClr val="B020A9"/>
                    </a:solidFill>
                    <a:latin typeface="LMRoman17-Regular"/>
                  </a:rPr>
                  <a:t>Metropolis et al.: </a:t>
                </a:r>
                <a14:m>
                  <m:oMath xmlns:m="http://schemas.openxmlformats.org/officeDocument/2006/math">
                    <m:r>
                      <a:rPr lang="en-US" sz="1400" b="0" i="1" smtClean="0">
                        <a:solidFill>
                          <a:srgbClr val="B020A9"/>
                        </a:solidFill>
                        <a:latin typeface="Cambria Math" panose="02040503050406030204" pitchFamily="18" charset="0"/>
                        <a:ea typeface="Cambria Math" panose="02040503050406030204" pitchFamily="18" charset="0"/>
                      </a:rPr>
                      <m:t>𝑇</m:t>
                    </m:r>
                    <m:d>
                      <m:dPr>
                        <m:ctrlPr>
                          <a:rPr lang="en-US" sz="1400" b="0" i="1" smtClean="0">
                            <a:solidFill>
                              <a:srgbClr val="B020A9"/>
                            </a:solidFill>
                            <a:latin typeface="Cambria Math" panose="02040503050406030204" pitchFamily="18" charset="0"/>
                            <a:ea typeface="Cambria Math" panose="02040503050406030204" pitchFamily="18" charset="0"/>
                          </a:rPr>
                        </m:ctrlPr>
                      </m:dPr>
                      <m:e>
                        <m:sSup>
                          <m:sSupPr>
                            <m:ctrlPr>
                              <a:rPr lang="en-US" sz="1400" b="0" i="1" smtClean="0">
                                <a:solidFill>
                                  <a:srgbClr val="B020A9"/>
                                </a:solidFill>
                                <a:latin typeface="Cambria Math" panose="02040503050406030204" pitchFamily="18" charset="0"/>
                                <a:ea typeface="Cambria Math" panose="02040503050406030204" pitchFamily="18" charset="0"/>
                              </a:rPr>
                            </m:ctrlPr>
                          </m:sSupPr>
                          <m:e>
                            <m:r>
                              <a:rPr lang="en-US" sz="1400" b="0" i="1" smtClean="0">
                                <a:solidFill>
                                  <a:srgbClr val="B020A9"/>
                                </a:solidFill>
                                <a:latin typeface="Cambria Math" panose="02040503050406030204" pitchFamily="18" charset="0"/>
                                <a:ea typeface="Cambria Math" panose="02040503050406030204" pitchFamily="18" charset="0"/>
                              </a:rPr>
                              <m:t>𝑋</m:t>
                            </m:r>
                          </m:e>
                          <m:sup>
                            <m:r>
                              <a:rPr lang="en-US" sz="1400" b="0" i="1" smtClean="0">
                                <a:solidFill>
                                  <a:srgbClr val="B020A9"/>
                                </a:solidFill>
                                <a:latin typeface="Cambria Math" panose="02040503050406030204" pitchFamily="18" charset="0"/>
                                <a:ea typeface="Cambria Math" panose="02040503050406030204" pitchFamily="18" charset="0"/>
                              </a:rPr>
                              <m:t>′</m:t>
                            </m:r>
                          </m:sup>
                        </m:sSup>
                        <m:r>
                          <a:rPr lang="en-US" sz="1400" b="0" i="1" smtClean="0">
                            <a:solidFill>
                              <a:srgbClr val="B020A9"/>
                            </a:solidFill>
                            <a:latin typeface="Cambria Math" panose="02040503050406030204" pitchFamily="18" charset="0"/>
                            <a:ea typeface="Cambria Math" panose="02040503050406030204" pitchFamily="18" charset="0"/>
                          </a:rPr>
                          <m:t>→</m:t>
                        </m:r>
                        <m:r>
                          <a:rPr lang="en-US" sz="1400" b="0" i="1" smtClean="0">
                            <a:solidFill>
                              <a:srgbClr val="B020A9"/>
                            </a:solidFill>
                            <a:latin typeface="Cambria Math" panose="02040503050406030204" pitchFamily="18" charset="0"/>
                            <a:ea typeface="Cambria Math" panose="02040503050406030204" pitchFamily="18" charset="0"/>
                          </a:rPr>
                          <m:t>𝑋</m:t>
                        </m:r>
                      </m:e>
                    </m:d>
                    <m:r>
                      <a:rPr lang="en-US" sz="1400" b="0" i="1" smtClean="0">
                        <a:solidFill>
                          <a:srgbClr val="B020A9"/>
                        </a:solidFill>
                        <a:latin typeface="Cambria Math" panose="02040503050406030204" pitchFamily="18" charset="0"/>
                        <a:ea typeface="Cambria Math" panose="02040503050406030204" pitchFamily="18" charset="0"/>
                      </a:rPr>
                      <m:t>=</m:t>
                    </m:r>
                    <m:func>
                      <m:funcPr>
                        <m:ctrlPr>
                          <a:rPr lang="en-US" sz="1400" b="0" i="1" smtClean="0">
                            <a:solidFill>
                              <a:srgbClr val="B020A9"/>
                            </a:solidFill>
                            <a:latin typeface="Cambria Math" panose="02040503050406030204" pitchFamily="18" charset="0"/>
                            <a:ea typeface="Cambria Math" panose="02040503050406030204" pitchFamily="18" charset="0"/>
                          </a:rPr>
                        </m:ctrlPr>
                      </m:funcPr>
                      <m:fName>
                        <m:r>
                          <m:rPr>
                            <m:sty m:val="p"/>
                          </m:rPr>
                          <a:rPr lang="en-US" sz="1400" b="0" i="0" smtClean="0">
                            <a:solidFill>
                              <a:srgbClr val="B020A9"/>
                            </a:solidFill>
                            <a:latin typeface="Cambria Math" panose="02040503050406030204" pitchFamily="18" charset="0"/>
                            <a:ea typeface="Cambria Math" panose="02040503050406030204" pitchFamily="18" charset="0"/>
                          </a:rPr>
                          <m:t>min</m:t>
                        </m:r>
                      </m:fName>
                      <m:e>
                        <m:r>
                          <a:rPr lang="en-US" sz="1400" b="0" i="1" smtClean="0">
                            <a:solidFill>
                              <a:srgbClr val="B020A9"/>
                            </a:solidFill>
                            <a:latin typeface="Cambria Math" panose="02040503050406030204" pitchFamily="18" charset="0"/>
                            <a:ea typeface="Cambria Math" panose="02040503050406030204" pitchFamily="18" charset="0"/>
                          </a:rPr>
                          <m:t>(1,</m:t>
                        </m:r>
                        <m:sSup>
                          <m:sSupPr>
                            <m:ctrlPr>
                              <a:rPr lang="en-US" sz="1400" b="0" i="1" smtClean="0">
                                <a:solidFill>
                                  <a:srgbClr val="B020A9"/>
                                </a:solidFill>
                                <a:latin typeface="Cambria Math" panose="02040503050406030204" pitchFamily="18" charset="0"/>
                                <a:ea typeface="Cambria Math" panose="02040503050406030204" pitchFamily="18" charset="0"/>
                              </a:rPr>
                            </m:ctrlPr>
                          </m:sSupPr>
                          <m:e>
                            <m:r>
                              <a:rPr lang="en-US" sz="1400" b="0" i="1" smtClean="0">
                                <a:solidFill>
                                  <a:srgbClr val="B020A9"/>
                                </a:solidFill>
                                <a:latin typeface="Cambria Math" panose="02040503050406030204" pitchFamily="18" charset="0"/>
                                <a:ea typeface="Cambria Math" panose="02040503050406030204" pitchFamily="18" charset="0"/>
                              </a:rPr>
                              <m:t>𝑒</m:t>
                            </m:r>
                          </m:e>
                          <m:sup>
                            <m:r>
                              <a:rPr lang="en-US" sz="1400" b="0" i="1" smtClean="0">
                                <a:solidFill>
                                  <a:srgbClr val="B020A9"/>
                                </a:solidFill>
                                <a:latin typeface="Cambria Math" panose="02040503050406030204" pitchFamily="18" charset="0"/>
                                <a:ea typeface="Cambria Math" panose="02040503050406030204" pitchFamily="18" charset="0"/>
                              </a:rPr>
                              <m:t>−</m:t>
                            </m:r>
                            <m:r>
                              <a:rPr lang="en-US" sz="1400" b="0" i="1" smtClean="0">
                                <a:solidFill>
                                  <a:srgbClr val="B020A9"/>
                                </a:solidFill>
                                <a:latin typeface="Cambria Math" panose="02040503050406030204" pitchFamily="18" charset="0"/>
                                <a:ea typeface="Cambria Math" panose="02040503050406030204" pitchFamily="18" charset="0"/>
                              </a:rPr>
                              <m:t>𝛽</m:t>
                            </m:r>
                            <m:r>
                              <a:rPr lang="en-US" sz="1400" b="0" i="1" smtClean="0">
                                <a:solidFill>
                                  <a:srgbClr val="B020A9"/>
                                </a:solidFill>
                                <a:latin typeface="Cambria Math" panose="02040503050406030204" pitchFamily="18" charset="0"/>
                                <a:ea typeface="Cambria Math" panose="02040503050406030204" pitchFamily="18" charset="0"/>
                              </a:rPr>
                              <m:t>[</m:t>
                            </m:r>
                            <m:r>
                              <a:rPr lang="en-US" sz="1400" b="0" i="1" smtClean="0">
                                <a:solidFill>
                                  <a:srgbClr val="B020A9"/>
                                </a:solidFill>
                                <a:latin typeface="Cambria Math" panose="02040503050406030204" pitchFamily="18" charset="0"/>
                                <a:ea typeface="Cambria Math" panose="02040503050406030204" pitchFamily="18" charset="0"/>
                              </a:rPr>
                              <m:t>𝐸</m:t>
                            </m:r>
                            <m:d>
                              <m:dPr>
                                <m:ctrlPr>
                                  <a:rPr lang="en-US" sz="1400" b="0" i="1" smtClean="0">
                                    <a:solidFill>
                                      <a:srgbClr val="B020A9"/>
                                    </a:solidFill>
                                    <a:latin typeface="Cambria Math" panose="02040503050406030204" pitchFamily="18" charset="0"/>
                                    <a:ea typeface="Cambria Math" panose="02040503050406030204" pitchFamily="18" charset="0"/>
                                  </a:rPr>
                                </m:ctrlPr>
                              </m:dPr>
                              <m:e>
                                <m:sSup>
                                  <m:sSupPr>
                                    <m:ctrlPr>
                                      <a:rPr lang="en-US" sz="1400" b="0" i="1" smtClean="0">
                                        <a:solidFill>
                                          <a:srgbClr val="B020A9"/>
                                        </a:solidFill>
                                        <a:latin typeface="Cambria Math" panose="02040503050406030204" pitchFamily="18" charset="0"/>
                                        <a:ea typeface="Cambria Math" panose="02040503050406030204" pitchFamily="18" charset="0"/>
                                      </a:rPr>
                                    </m:ctrlPr>
                                  </m:sSupPr>
                                  <m:e>
                                    <m:r>
                                      <a:rPr lang="en-US" sz="1400" b="0" i="1" smtClean="0">
                                        <a:solidFill>
                                          <a:srgbClr val="B020A9"/>
                                        </a:solidFill>
                                        <a:latin typeface="Cambria Math" panose="02040503050406030204" pitchFamily="18" charset="0"/>
                                        <a:ea typeface="Cambria Math" panose="02040503050406030204" pitchFamily="18" charset="0"/>
                                      </a:rPr>
                                      <m:t>𝑋</m:t>
                                    </m:r>
                                  </m:e>
                                  <m:sup>
                                    <m:r>
                                      <a:rPr lang="en-US" sz="1400" b="0" i="1" smtClean="0">
                                        <a:solidFill>
                                          <a:srgbClr val="B020A9"/>
                                        </a:solidFill>
                                        <a:latin typeface="Cambria Math" panose="02040503050406030204" pitchFamily="18" charset="0"/>
                                        <a:ea typeface="Cambria Math" panose="02040503050406030204" pitchFamily="18" charset="0"/>
                                      </a:rPr>
                                      <m:t>′</m:t>
                                    </m:r>
                                  </m:sup>
                                </m:sSup>
                              </m:e>
                            </m:d>
                            <m:r>
                              <a:rPr lang="en-US" sz="1400" b="0" i="1" smtClean="0">
                                <a:solidFill>
                                  <a:srgbClr val="B020A9"/>
                                </a:solidFill>
                                <a:latin typeface="Cambria Math" panose="02040503050406030204" pitchFamily="18" charset="0"/>
                                <a:ea typeface="Cambria Math" panose="02040503050406030204" pitchFamily="18" charset="0"/>
                              </a:rPr>
                              <m:t>−</m:t>
                            </m:r>
                            <m:r>
                              <a:rPr lang="en-US" sz="1400" b="0" i="1" smtClean="0">
                                <a:solidFill>
                                  <a:srgbClr val="B020A9"/>
                                </a:solidFill>
                                <a:latin typeface="Cambria Math" panose="02040503050406030204" pitchFamily="18" charset="0"/>
                                <a:ea typeface="Cambria Math" panose="02040503050406030204" pitchFamily="18" charset="0"/>
                              </a:rPr>
                              <m:t>𝐸</m:t>
                            </m:r>
                            <m:r>
                              <a:rPr lang="en-US" sz="1400" b="0" i="1" smtClean="0">
                                <a:solidFill>
                                  <a:srgbClr val="B020A9"/>
                                </a:solidFill>
                                <a:latin typeface="Cambria Math" panose="02040503050406030204" pitchFamily="18" charset="0"/>
                                <a:ea typeface="Cambria Math" panose="02040503050406030204" pitchFamily="18" charset="0"/>
                              </a:rPr>
                              <m:t>(</m:t>
                            </m:r>
                            <m:r>
                              <a:rPr lang="en-US" sz="1400" b="0" i="1" smtClean="0">
                                <a:solidFill>
                                  <a:srgbClr val="B020A9"/>
                                </a:solidFill>
                                <a:latin typeface="Cambria Math" panose="02040503050406030204" pitchFamily="18" charset="0"/>
                                <a:ea typeface="Cambria Math" panose="02040503050406030204" pitchFamily="18" charset="0"/>
                              </a:rPr>
                              <m:t>𝑋</m:t>
                            </m:r>
                            <m:r>
                              <a:rPr lang="en-US" sz="1400" b="0" i="1" smtClean="0">
                                <a:solidFill>
                                  <a:srgbClr val="B020A9"/>
                                </a:solidFill>
                                <a:latin typeface="Cambria Math" panose="02040503050406030204" pitchFamily="18" charset="0"/>
                                <a:ea typeface="Cambria Math" panose="02040503050406030204" pitchFamily="18" charset="0"/>
                              </a:rPr>
                              <m:t>)]</m:t>
                            </m:r>
                          </m:sup>
                        </m:sSup>
                        <m:r>
                          <a:rPr lang="en-US" sz="1400" b="0" i="1" smtClean="0">
                            <a:solidFill>
                              <a:srgbClr val="B020A9"/>
                            </a:solidFill>
                            <a:latin typeface="Cambria Math" panose="02040503050406030204" pitchFamily="18" charset="0"/>
                            <a:ea typeface="Cambria Math" panose="02040503050406030204" pitchFamily="18" charset="0"/>
                          </a:rPr>
                          <m:t>)</m:t>
                        </m:r>
                      </m:e>
                    </m:func>
                  </m:oMath>
                </a14:m>
                <a:r>
                  <a:rPr lang="es-ES" sz="1400" b="0" i="0" u="none" strike="noStrike" baseline="0" dirty="0">
                    <a:solidFill>
                      <a:srgbClr val="000000"/>
                    </a:solidFill>
                    <a:latin typeface="LMRoman17-Regular"/>
                  </a:rPr>
                  <a:t> para simular el modelo de espines</a:t>
                </a:r>
                <a:r>
                  <a:rPr lang="es-ES" sz="1400" b="0" i="0" u="none" strike="noStrike" dirty="0">
                    <a:solidFill>
                      <a:srgbClr val="000000"/>
                    </a:solidFill>
                    <a:latin typeface="LMRoman17-Regular"/>
                  </a:rPr>
                  <a:t> de Ising. En nuestro caso, consideraremos la </a:t>
                </a:r>
                <a:r>
                  <a:rPr lang="es-ES" sz="1400" b="0" i="0" u="none" strike="noStrike" dirty="0">
                    <a:solidFill>
                      <a:srgbClr val="B020A9"/>
                    </a:solidFill>
                    <a:latin typeface="LMRoman17-Regular"/>
                  </a:rPr>
                  <a:t>función de transferencia </a:t>
                </a:r>
                <a14:m>
                  <m:oMath xmlns:m="http://schemas.openxmlformats.org/officeDocument/2006/math">
                    <m:r>
                      <a:rPr lang="en-US" sz="1400" b="0" i="1" smtClean="0">
                        <a:solidFill>
                          <a:srgbClr val="B020A9"/>
                        </a:solidFill>
                        <a:latin typeface="Cambria Math" panose="02040503050406030204" pitchFamily="18" charset="0"/>
                        <a:ea typeface="Cambria Math" panose="02040503050406030204" pitchFamily="18" charset="0"/>
                      </a:rPr>
                      <m:t>𝑇</m:t>
                    </m:r>
                    <m:d>
                      <m:dPr>
                        <m:ctrlPr>
                          <a:rPr lang="en-US" sz="1400" b="0" i="1" smtClean="0">
                            <a:solidFill>
                              <a:srgbClr val="B020A9"/>
                            </a:solidFill>
                            <a:latin typeface="Cambria Math" panose="02040503050406030204" pitchFamily="18" charset="0"/>
                            <a:ea typeface="Cambria Math" panose="02040503050406030204" pitchFamily="18" charset="0"/>
                          </a:rPr>
                        </m:ctrlPr>
                      </m:dPr>
                      <m:e>
                        <m:sSup>
                          <m:sSupPr>
                            <m:ctrlPr>
                              <a:rPr lang="en-US" sz="1400" b="0" i="1" smtClean="0">
                                <a:solidFill>
                                  <a:srgbClr val="B020A9"/>
                                </a:solidFill>
                                <a:latin typeface="Cambria Math" panose="02040503050406030204" pitchFamily="18" charset="0"/>
                                <a:ea typeface="Cambria Math" panose="02040503050406030204" pitchFamily="18" charset="0"/>
                              </a:rPr>
                            </m:ctrlPr>
                          </m:sSupPr>
                          <m:e>
                            <m:r>
                              <a:rPr lang="en-US" sz="1400" b="0" i="1" smtClean="0">
                                <a:solidFill>
                                  <a:srgbClr val="B020A9"/>
                                </a:solidFill>
                                <a:latin typeface="Cambria Math" panose="02040503050406030204" pitchFamily="18" charset="0"/>
                                <a:ea typeface="Cambria Math" panose="02040503050406030204" pitchFamily="18" charset="0"/>
                              </a:rPr>
                              <m:t>𝑋</m:t>
                            </m:r>
                          </m:e>
                          <m:sup>
                            <m:r>
                              <a:rPr lang="en-US" sz="1400" b="0" i="1" smtClean="0">
                                <a:solidFill>
                                  <a:srgbClr val="B020A9"/>
                                </a:solidFill>
                                <a:latin typeface="Cambria Math" panose="02040503050406030204" pitchFamily="18" charset="0"/>
                                <a:ea typeface="Cambria Math" panose="02040503050406030204" pitchFamily="18" charset="0"/>
                              </a:rPr>
                              <m:t>′</m:t>
                            </m:r>
                          </m:sup>
                        </m:sSup>
                        <m:r>
                          <a:rPr lang="en-US" sz="1400" b="0" i="1" smtClean="0">
                            <a:solidFill>
                              <a:srgbClr val="B020A9"/>
                            </a:solidFill>
                            <a:latin typeface="Cambria Math" panose="02040503050406030204" pitchFamily="18" charset="0"/>
                            <a:ea typeface="Cambria Math" panose="02040503050406030204" pitchFamily="18" charset="0"/>
                          </a:rPr>
                          <m:t>→</m:t>
                        </m:r>
                        <m:r>
                          <a:rPr lang="en-US" sz="1400" b="0" i="1" smtClean="0">
                            <a:solidFill>
                              <a:srgbClr val="B020A9"/>
                            </a:solidFill>
                            <a:latin typeface="Cambria Math" panose="02040503050406030204" pitchFamily="18" charset="0"/>
                            <a:ea typeface="Cambria Math" panose="02040503050406030204" pitchFamily="18" charset="0"/>
                          </a:rPr>
                          <m:t>𝑋</m:t>
                        </m:r>
                      </m:e>
                    </m:d>
                    <m:r>
                      <a:rPr lang="en-US" sz="1400" b="0" i="1" smtClean="0">
                        <a:solidFill>
                          <a:srgbClr val="B020A9"/>
                        </a:solidFill>
                        <a:latin typeface="Cambria Math" panose="02040503050406030204" pitchFamily="18" charset="0"/>
                        <a:ea typeface="Cambria Math" panose="02040503050406030204" pitchFamily="18" charset="0"/>
                      </a:rPr>
                      <m:t>=</m:t>
                    </m:r>
                    <m:f>
                      <m:fPr>
                        <m:ctrlPr>
                          <a:rPr lang="en-US" sz="1400" b="0" i="1" smtClean="0">
                            <a:solidFill>
                              <a:srgbClr val="B020A9"/>
                            </a:solidFill>
                            <a:latin typeface="Cambria Math" panose="02040503050406030204" pitchFamily="18" charset="0"/>
                          </a:rPr>
                        </m:ctrlPr>
                      </m:fPr>
                      <m:num>
                        <m:r>
                          <a:rPr lang="en-US" sz="1400" b="0" i="1" smtClean="0">
                            <a:solidFill>
                              <a:srgbClr val="B020A9"/>
                            </a:solidFill>
                            <a:latin typeface="Cambria Math" panose="02040503050406030204" pitchFamily="18" charset="0"/>
                          </a:rPr>
                          <m:t>1</m:t>
                        </m:r>
                      </m:num>
                      <m:den>
                        <m:r>
                          <a:rPr lang="en-US" sz="1400" b="0" i="1" smtClean="0">
                            <a:solidFill>
                              <a:srgbClr val="B020A9"/>
                            </a:solidFill>
                            <a:latin typeface="Cambria Math" panose="02040503050406030204" pitchFamily="18" charset="0"/>
                          </a:rPr>
                          <m:t>2</m:t>
                        </m:r>
                      </m:den>
                    </m:f>
                    <m:d>
                      <m:dPr>
                        <m:ctrlPr>
                          <a:rPr lang="en-US" sz="1400" b="0" i="1" smtClean="0">
                            <a:solidFill>
                              <a:srgbClr val="B020A9"/>
                            </a:solidFill>
                            <a:latin typeface="Cambria Math" panose="02040503050406030204" pitchFamily="18" charset="0"/>
                          </a:rPr>
                        </m:ctrlPr>
                      </m:dPr>
                      <m:e>
                        <m:r>
                          <a:rPr lang="en-US" sz="1400" b="0" i="1" smtClean="0">
                            <a:solidFill>
                              <a:srgbClr val="B020A9"/>
                            </a:solidFill>
                            <a:latin typeface="Cambria Math" panose="02040503050406030204" pitchFamily="18" charset="0"/>
                          </a:rPr>
                          <m:t>1+</m:t>
                        </m:r>
                        <m:func>
                          <m:funcPr>
                            <m:ctrlPr>
                              <a:rPr lang="en-US" sz="1400" b="0" i="1" smtClean="0">
                                <a:solidFill>
                                  <a:srgbClr val="B020A9"/>
                                </a:solidFill>
                                <a:latin typeface="Cambria Math" panose="02040503050406030204" pitchFamily="18" charset="0"/>
                              </a:rPr>
                            </m:ctrlPr>
                          </m:funcPr>
                          <m:fName>
                            <m:r>
                              <m:rPr>
                                <m:sty m:val="p"/>
                              </m:rPr>
                              <a:rPr lang="en-US" sz="1400" b="0" i="0" smtClean="0">
                                <a:solidFill>
                                  <a:srgbClr val="B020A9"/>
                                </a:solidFill>
                                <a:latin typeface="Cambria Math" panose="02040503050406030204" pitchFamily="18" charset="0"/>
                              </a:rPr>
                              <m:t>tanh</m:t>
                            </m:r>
                          </m:fName>
                          <m:e>
                            <m:d>
                              <m:dPr>
                                <m:ctrlPr>
                                  <a:rPr lang="en-US" sz="1400" b="0" i="1" smtClean="0">
                                    <a:solidFill>
                                      <a:srgbClr val="B020A9"/>
                                    </a:solidFill>
                                    <a:latin typeface="Cambria Math" panose="02040503050406030204" pitchFamily="18" charset="0"/>
                                  </a:rPr>
                                </m:ctrlPr>
                              </m:dPr>
                              <m:e>
                                <m:r>
                                  <a:rPr lang="en-US" sz="1400" b="0" i="1" smtClean="0">
                                    <a:solidFill>
                                      <a:srgbClr val="B020A9"/>
                                    </a:solidFill>
                                    <a:latin typeface="Cambria Math" panose="02040503050406030204" pitchFamily="18" charset="0"/>
                                  </a:rPr>
                                  <m:t>−</m:t>
                                </m:r>
                                <m:r>
                                  <a:rPr lang="en-US" sz="1400" b="0" i="1" smtClean="0">
                                    <a:solidFill>
                                      <a:srgbClr val="B020A9"/>
                                    </a:solidFill>
                                    <a:latin typeface="Cambria Math" panose="02040503050406030204" pitchFamily="18" charset="0"/>
                                  </a:rPr>
                                  <m:t>𝛽</m:t>
                                </m:r>
                                <m:r>
                                  <a:rPr lang="en-US" sz="1400" b="0" i="1" smtClean="0">
                                    <a:solidFill>
                                      <a:srgbClr val="B020A9"/>
                                    </a:solidFill>
                                    <a:latin typeface="Cambria Math" panose="02040503050406030204" pitchFamily="18" charset="0"/>
                                  </a:rPr>
                                  <m:t>(</m:t>
                                </m:r>
                                <m:r>
                                  <a:rPr lang="en-US" sz="1400" b="0" i="1" smtClean="0">
                                    <a:solidFill>
                                      <a:srgbClr val="B020A9"/>
                                    </a:solidFill>
                                    <a:latin typeface="Cambria Math" panose="02040503050406030204" pitchFamily="18" charset="0"/>
                                    <a:ea typeface="Cambria Math" panose="02040503050406030204" pitchFamily="18" charset="0"/>
                                  </a:rPr>
                                  <m:t>𝐸</m:t>
                                </m:r>
                                <m:d>
                                  <m:dPr>
                                    <m:ctrlPr>
                                      <a:rPr lang="en-US" sz="1400" b="0" i="1" smtClean="0">
                                        <a:solidFill>
                                          <a:srgbClr val="B020A9"/>
                                        </a:solidFill>
                                        <a:latin typeface="Cambria Math" panose="02040503050406030204" pitchFamily="18" charset="0"/>
                                        <a:ea typeface="Cambria Math" panose="02040503050406030204" pitchFamily="18" charset="0"/>
                                      </a:rPr>
                                    </m:ctrlPr>
                                  </m:dPr>
                                  <m:e>
                                    <m:sSup>
                                      <m:sSupPr>
                                        <m:ctrlPr>
                                          <a:rPr lang="en-US" sz="1400" b="0" i="1" smtClean="0">
                                            <a:solidFill>
                                              <a:srgbClr val="B020A9"/>
                                            </a:solidFill>
                                            <a:latin typeface="Cambria Math" panose="02040503050406030204" pitchFamily="18" charset="0"/>
                                            <a:ea typeface="Cambria Math" panose="02040503050406030204" pitchFamily="18" charset="0"/>
                                          </a:rPr>
                                        </m:ctrlPr>
                                      </m:sSupPr>
                                      <m:e>
                                        <m:r>
                                          <a:rPr lang="en-US" sz="1400" b="0" i="1" smtClean="0">
                                            <a:solidFill>
                                              <a:srgbClr val="B020A9"/>
                                            </a:solidFill>
                                            <a:latin typeface="Cambria Math" panose="02040503050406030204" pitchFamily="18" charset="0"/>
                                            <a:ea typeface="Cambria Math" panose="02040503050406030204" pitchFamily="18" charset="0"/>
                                          </a:rPr>
                                          <m:t>𝑋</m:t>
                                        </m:r>
                                      </m:e>
                                      <m:sup>
                                        <m:r>
                                          <a:rPr lang="en-US" sz="1400" b="0" i="1" smtClean="0">
                                            <a:solidFill>
                                              <a:srgbClr val="B020A9"/>
                                            </a:solidFill>
                                            <a:latin typeface="Cambria Math" panose="02040503050406030204" pitchFamily="18" charset="0"/>
                                            <a:ea typeface="Cambria Math" panose="02040503050406030204" pitchFamily="18" charset="0"/>
                                          </a:rPr>
                                          <m:t>′</m:t>
                                        </m:r>
                                      </m:sup>
                                    </m:sSup>
                                  </m:e>
                                </m:d>
                                <m:r>
                                  <a:rPr lang="en-US" sz="1400" b="0" i="1" smtClean="0">
                                    <a:solidFill>
                                      <a:srgbClr val="B020A9"/>
                                    </a:solidFill>
                                    <a:latin typeface="Cambria Math" panose="02040503050406030204" pitchFamily="18" charset="0"/>
                                    <a:ea typeface="Cambria Math" panose="02040503050406030204" pitchFamily="18" charset="0"/>
                                  </a:rPr>
                                  <m:t>−</m:t>
                                </m:r>
                                <m:r>
                                  <a:rPr lang="en-US" sz="1400" b="0" i="1" smtClean="0">
                                    <a:solidFill>
                                      <a:srgbClr val="B020A9"/>
                                    </a:solidFill>
                                    <a:latin typeface="Cambria Math" panose="02040503050406030204" pitchFamily="18" charset="0"/>
                                    <a:ea typeface="Cambria Math" panose="02040503050406030204" pitchFamily="18" charset="0"/>
                                  </a:rPr>
                                  <m:t>𝐸</m:t>
                                </m:r>
                                <m:r>
                                  <a:rPr lang="en-US" sz="1400" b="0" i="1" smtClean="0">
                                    <a:solidFill>
                                      <a:srgbClr val="B020A9"/>
                                    </a:solidFill>
                                    <a:latin typeface="Cambria Math" panose="02040503050406030204" pitchFamily="18" charset="0"/>
                                    <a:ea typeface="Cambria Math" panose="02040503050406030204" pitchFamily="18" charset="0"/>
                                  </a:rPr>
                                  <m:t>(</m:t>
                                </m:r>
                                <m:r>
                                  <a:rPr lang="en-US" sz="1400" b="0" i="1" smtClean="0">
                                    <a:solidFill>
                                      <a:srgbClr val="B020A9"/>
                                    </a:solidFill>
                                    <a:latin typeface="Cambria Math" panose="02040503050406030204" pitchFamily="18" charset="0"/>
                                    <a:ea typeface="Cambria Math" panose="02040503050406030204" pitchFamily="18" charset="0"/>
                                  </a:rPr>
                                  <m:t>𝑋</m:t>
                                </m:r>
                                <m:r>
                                  <a:rPr lang="en-US" sz="1400" b="0" i="1" smtClean="0">
                                    <a:solidFill>
                                      <a:srgbClr val="B020A9"/>
                                    </a:solidFill>
                                    <a:latin typeface="Cambria Math" panose="02040503050406030204" pitchFamily="18" charset="0"/>
                                    <a:ea typeface="Cambria Math" panose="02040503050406030204" pitchFamily="18" charset="0"/>
                                  </a:rPr>
                                  <m:t>)</m:t>
                                </m:r>
                              </m:e>
                            </m:d>
                            <m:r>
                              <a:rPr lang="en-US" sz="1400" b="0" i="1" smtClean="0">
                                <a:solidFill>
                                  <a:srgbClr val="B020A9"/>
                                </a:solidFill>
                                <a:latin typeface="Cambria Math" panose="02040503050406030204" pitchFamily="18" charset="0"/>
                              </a:rPr>
                              <m:t>)</m:t>
                            </m:r>
                          </m:e>
                        </m:func>
                      </m:e>
                    </m:d>
                  </m:oMath>
                </a14:m>
                <a:r>
                  <a:rPr lang="es-ES" sz="1400" b="0" i="0" u="none" strike="noStrike" baseline="0" dirty="0">
                    <a:solidFill>
                      <a:srgbClr val="000000"/>
                    </a:solidFill>
                    <a:latin typeface="LMRoman17-Regular"/>
                  </a:rPr>
                  <a:t>.</a:t>
                </a:r>
              </a:p>
              <a:p>
                <a:pPr marL="800100" lvl="1" indent="-342900">
                  <a:lnSpc>
                    <a:spcPct val="110000"/>
                  </a:lnSpc>
                  <a:buFont typeface="+mj-lt"/>
                  <a:buAutoNum type="arabicPeriod"/>
                </a:pPr>
                <a:r>
                  <a:rPr lang="es-ES" sz="1400" b="0" i="0" u="none" strike="noStrike" baseline="0" dirty="0">
                    <a:solidFill>
                      <a:srgbClr val="000000"/>
                    </a:solidFill>
                    <a:latin typeface="LMRoman17-Regular"/>
                  </a:rPr>
                  <a:t>Dar un estado inicial </a:t>
                </a:r>
                <a14:m>
                  <m:oMath xmlns:m="http://schemas.openxmlformats.org/officeDocument/2006/math">
                    <m:r>
                      <a:rPr lang="en-US" sz="1400" b="0" i="1" u="none" strike="noStrike" baseline="0" smtClean="0">
                        <a:solidFill>
                          <a:srgbClr val="000000"/>
                        </a:solidFill>
                        <a:latin typeface="Cambria Math" panose="02040503050406030204" pitchFamily="18" charset="0"/>
                      </a:rPr>
                      <m:t>𝑋</m:t>
                    </m:r>
                    <m:r>
                      <a:rPr lang="en-US" sz="1400" b="0" i="1" u="none" strike="noStrike" baseline="0" smtClean="0">
                        <a:solidFill>
                          <a:srgbClr val="000000"/>
                        </a:solidFill>
                        <a:latin typeface="Cambria Math" panose="02040503050406030204" pitchFamily="18" charset="0"/>
                      </a:rPr>
                      <m:t>=</m:t>
                    </m:r>
                    <m:sSub>
                      <m:sSubPr>
                        <m:ctrlPr>
                          <a:rPr lang="en-US" sz="1400" b="0" i="1" u="none" strike="noStrike" baseline="0" smtClean="0">
                            <a:solidFill>
                              <a:srgbClr val="000000"/>
                            </a:solidFill>
                            <a:latin typeface="Cambria Math" panose="02040503050406030204" pitchFamily="18" charset="0"/>
                          </a:rPr>
                        </m:ctrlPr>
                      </m:sSubPr>
                      <m:e>
                        <m:r>
                          <a:rPr lang="en-US" sz="1400" b="0" i="1" u="none" strike="noStrike" baseline="0" smtClean="0">
                            <a:solidFill>
                              <a:srgbClr val="000000"/>
                            </a:solidFill>
                            <a:latin typeface="Cambria Math" panose="02040503050406030204" pitchFamily="18" charset="0"/>
                          </a:rPr>
                          <m:t>𝑋</m:t>
                        </m:r>
                      </m:e>
                      <m:sub>
                        <m:r>
                          <a:rPr lang="en-US" sz="1400" b="0" i="1" u="none" strike="noStrike" baseline="0" smtClean="0">
                            <a:solidFill>
                              <a:srgbClr val="000000"/>
                            </a:solidFill>
                            <a:latin typeface="Cambria Math" panose="02040503050406030204" pitchFamily="18" charset="0"/>
                          </a:rPr>
                          <m:t>0</m:t>
                        </m:r>
                      </m:sub>
                    </m:sSub>
                  </m:oMath>
                </a14:m>
                <a:r>
                  <a:rPr lang="es-ES" sz="1400" b="0" i="0" u="none" strike="noStrike" baseline="0" dirty="0">
                    <a:solidFill>
                      <a:srgbClr val="000000"/>
                    </a:solidFill>
                    <a:latin typeface="LMRoman17-Regular"/>
                  </a:rPr>
                  <a:t>.</a:t>
                </a:r>
              </a:p>
              <a:p>
                <a:pPr marL="800100" lvl="1" indent="-342900">
                  <a:lnSpc>
                    <a:spcPct val="110000"/>
                  </a:lnSpc>
                  <a:buFont typeface="+mj-lt"/>
                  <a:buAutoNum type="arabicPeriod"/>
                </a:pPr>
                <a:r>
                  <a:rPr lang="es-ES" sz="1400" b="0" i="0" u="none" strike="noStrike" baseline="0" dirty="0">
                    <a:solidFill>
                      <a:srgbClr val="000000"/>
                    </a:solidFill>
                    <a:latin typeface="LMRoman17-Regular"/>
                  </a:rPr>
                  <a:t>Elegir un estado </a:t>
                </a:r>
                <a14:m>
                  <m:oMath xmlns:m="http://schemas.openxmlformats.org/officeDocument/2006/math">
                    <m:r>
                      <a:rPr lang="en-US" sz="1400" b="0" i="1" u="none" strike="noStrike" baseline="0" smtClean="0">
                        <a:solidFill>
                          <a:srgbClr val="000000"/>
                        </a:solidFill>
                        <a:latin typeface="Cambria Math" panose="02040503050406030204" pitchFamily="18" charset="0"/>
                      </a:rPr>
                      <m:t>𝑋</m:t>
                    </m:r>
                  </m:oMath>
                </a14:m>
                <a:r>
                  <a:rPr lang="es-ES" sz="1400" b="0" i="0" u="none" strike="noStrike" baseline="0" dirty="0">
                    <a:solidFill>
                      <a:srgbClr val="000000"/>
                    </a:solidFill>
                    <a:latin typeface="LMRoman17-Regular"/>
                  </a:rPr>
                  <a:t>’ y calcular </a:t>
                </a:r>
                <a14:m>
                  <m:oMath xmlns:m="http://schemas.openxmlformats.org/officeDocument/2006/math">
                    <m:r>
                      <a:rPr lang="en-US" sz="1400" b="0" i="1" smtClean="0">
                        <a:latin typeface="Cambria Math" panose="02040503050406030204" pitchFamily="18" charset="0"/>
                        <a:ea typeface="Cambria Math" panose="02040503050406030204" pitchFamily="18" charset="0"/>
                      </a:rPr>
                      <m:t>𝑇</m:t>
                    </m:r>
                    <m:d>
                      <m:dPr>
                        <m:ctrlPr>
                          <a:rPr lang="en-US" sz="1400" b="0" i="1" smtClean="0">
                            <a:latin typeface="Cambria Math" panose="02040503050406030204" pitchFamily="18" charset="0"/>
                            <a:ea typeface="Cambria Math" panose="02040503050406030204" pitchFamily="18" charset="0"/>
                          </a:rPr>
                        </m:ctrlPr>
                      </m:dPr>
                      <m:e>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𝑋</m:t>
                            </m:r>
                          </m:e>
                          <m:sup>
                            <m:r>
                              <a:rPr lang="en-US" sz="1400" b="0" i="1" smtClean="0">
                                <a:latin typeface="Cambria Math" panose="02040503050406030204" pitchFamily="18" charset="0"/>
                                <a:ea typeface="Cambria Math" panose="02040503050406030204" pitchFamily="18" charset="0"/>
                              </a:rPr>
                              <m:t>′</m:t>
                            </m:r>
                          </m:sup>
                        </m:sSup>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𝑋</m:t>
                        </m:r>
                      </m:e>
                    </m:d>
                  </m:oMath>
                </a14:m>
                <a:r>
                  <a:rPr lang="es-ES" sz="1400" b="0" i="0" u="none" strike="noStrike" baseline="0" dirty="0">
                    <a:solidFill>
                      <a:srgbClr val="000000"/>
                    </a:solidFill>
                    <a:latin typeface="LMRoman17-Regular"/>
                  </a:rPr>
                  <a:t>. Generar un número aleatorio uniforme </a:t>
                </a:r>
                <a14:m>
                  <m:oMath xmlns:m="http://schemas.openxmlformats.org/officeDocument/2006/math">
                    <m:r>
                      <a:rPr lang="en-US" sz="1400" b="0" i="1" u="none" strike="noStrike" baseline="0" smtClean="0">
                        <a:solidFill>
                          <a:srgbClr val="000000"/>
                        </a:solidFill>
                        <a:latin typeface="Cambria Math" panose="02040503050406030204" pitchFamily="18" charset="0"/>
                      </a:rPr>
                      <m:t>𝑢</m:t>
                    </m:r>
                    <m:r>
                      <a:rPr lang="en-US" sz="1400" b="0" i="1" u="none" strike="noStrike" baseline="0" smtClean="0">
                        <a:solidFill>
                          <a:srgbClr val="000000"/>
                        </a:solidFill>
                        <a:latin typeface="Cambria Math" panose="02040503050406030204" pitchFamily="18" charset="0"/>
                      </a:rPr>
                      <m:t>∈[0,1]</m:t>
                    </m:r>
                  </m:oMath>
                </a14:m>
                <a:r>
                  <a:rPr lang="es-ES" sz="1400" b="0" i="0" u="none" strike="noStrike" baseline="0" dirty="0">
                    <a:solidFill>
                      <a:srgbClr val="000000"/>
                    </a:solidFill>
                    <a:latin typeface="LMRoman17-Regular"/>
                  </a:rPr>
                  <a:t>. Si </a:t>
                </a:r>
                <a14:m>
                  <m:oMath xmlns:m="http://schemas.openxmlformats.org/officeDocument/2006/math">
                    <m:r>
                      <a:rPr lang="en-US" sz="1400" b="0" i="1" smtClean="0">
                        <a:latin typeface="Cambria Math" panose="02040503050406030204" pitchFamily="18" charset="0"/>
                        <a:ea typeface="Cambria Math" panose="02040503050406030204" pitchFamily="18" charset="0"/>
                      </a:rPr>
                      <m:t>𝑢</m:t>
                    </m:r>
                    <m:r>
                      <a:rPr lang="en-US" sz="1400" b="0" i="1" smtClean="0">
                        <a:latin typeface="Cambria Math" panose="02040503050406030204" pitchFamily="18" charset="0"/>
                        <a:ea typeface="Cambria Math" panose="02040503050406030204" pitchFamily="18" charset="0"/>
                      </a:rPr>
                      <m:t>&lt;</m:t>
                    </m:r>
                    <m:r>
                      <a:rPr lang="en-US" sz="1400" b="0" i="1" smtClean="0">
                        <a:latin typeface="Cambria Math" panose="02040503050406030204" pitchFamily="18" charset="0"/>
                        <a:ea typeface="Cambria Math" panose="02040503050406030204" pitchFamily="18" charset="0"/>
                      </a:rPr>
                      <m:t>𝑇</m:t>
                    </m:r>
                    <m:d>
                      <m:dPr>
                        <m:ctrlPr>
                          <a:rPr lang="en-US" sz="1400" b="0" i="1" smtClean="0">
                            <a:latin typeface="Cambria Math" panose="02040503050406030204" pitchFamily="18" charset="0"/>
                            <a:ea typeface="Cambria Math" panose="02040503050406030204" pitchFamily="18" charset="0"/>
                          </a:rPr>
                        </m:ctrlPr>
                      </m:dPr>
                      <m:e>
                        <m:sSup>
                          <m:sSupPr>
                            <m:ctrlPr>
                              <a:rPr lang="en-US" sz="1400" b="0" i="1" smtClean="0">
                                <a:latin typeface="Cambria Math" panose="02040503050406030204" pitchFamily="18" charset="0"/>
                                <a:ea typeface="Cambria Math" panose="02040503050406030204" pitchFamily="18" charset="0"/>
                              </a:rPr>
                            </m:ctrlPr>
                          </m:sSupPr>
                          <m:e>
                            <m:r>
                              <a:rPr lang="en-US" sz="1400" b="0" i="1" smtClean="0">
                                <a:latin typeface="Cambria Math" panose="02040503050406030204" pitchFamily="18" charset="0"/>
                                <a:ea typeface="Cambria Math" panose="02040503050406030204" pitchFamily="18" charset="0"/>
                              </a:rPr>
                              <m:t>𝑋</m:t>
                            </m:r>
                          </m:e>
                          <m:sup>
                            <m:r>
                              <a:rPr lang="en-US" sz="1400" b="0" i="1" smtClean="0">
                                <a:latin typeface="Cambria Math" panose="02040503050406030204" pitchFamily="18" charset="0"/>
                                <a:ea typeface="Cambria Math" panose="02040503050406030204" pitchFamily="18" charset="0"/>
                              </a:rPr>
                              <m:t>′</m:t>
                            </m:r>
                          </m:sup>
                        </m:sSup>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𝑋</m:t>
                        </m:r>
                      </m:e>
                    </m:d>
                  </m:oMath>
                </a14:m>
                <a:r>
                  <a:rPr lang="es-ES" sz="1400" b="0" i="0" u="none" strike="noStrike" baseline="0" dirty="0">
                    <a:solidFill>
                      <a:srgbClr val="000000"/>
                    </a:solidFill>
                    <a:latin typeface="LMRoman17-Regular"/>
                  </a:rPr>
                  <a:t>, entonces mover el sistema al estado </a:t>
                </a:r>
                <a14:m>
                  <m:oMath xmlns:m="http://schemas.openxmlformats.org/officeDocument/2006/math">
                    <m:r>
                      <a:rPr lang="en-US" sz="1400" b="0" i="1" u="none" strike="noStrike" baseline="0" smtClean="0">
                        <a:solidFill>
                          <a:srgbClr val="000000"/>
                        </a:solidFill>
                        <a:latin typeface="Cambria Math" panose="02040503050406030204" pitchFamily="18" charset="0"/>
                      </a:rPr>
                      <m:t>𝑋</m:t>
                    </m:r>
                  </m:oMath>
                </a14:m>
                <a:r>
                  <a:rPr lang="es-ES" sz="1400" b="0" i="0" u="none" strike="noStrike" baseline="0" dirty="0">
                    <a:solidFill>
                      <a:srgbClr val="000000"/>
                    </a:solidFill>
                    <a:latin typeface="LMRoman17-Regular"/>
                  </a:rPr>
                  <a:t>’.</a:t>
                </a:r>
              </a:p>
              <a:p>
                <a:pPr marL="800100" lvl="1" indent="-342900">
                  <a:lnSpc>
                    <a:spcPct val="110000"/>
                  </a:lnSpc>
                  <a:buFont typeface="+mj-lt"/>
                  <a:buAutoNum type="arabicPeriod"/>
                </a:pPr>
                <a:r>
                  <a:rPr lang="es-ES" sz="1400" b="0" i="0" u="none" strike="noStrike" baseline="0" dirty="0">
                    <a:solidFill>
                      <a:srgbClr val="000000"/>
                    </a:solidFill>
                    <a:latin typeface="LMRoman17-Regular"/>
                  </a:rPr>
                  <a:t>Ir a </a:t>
                </a:r>
                <a:r>
                  <a:rPr lang="es-ES" sz="1400" b="0" i="1" u="none" strike="noStrike" baseline="0" dirty="0">
                    <a:solidFill>
                      <a:srgbClr val="000000"/>
                    </a:solidFill>
                    <a:latin typeface="LMRoman12-Italic"/>
                  </a:rPr>
                  <a:t>(2)</a:t>
                </a:r>
                <a:r>
                  <a:rPr lang="es-ES" sz="1400" b="0" i="0" u="none" strike="noStrike" baseline="0" dirty="0">
                    <a:solidFill>
                      <a:srgbClr val="000000"/>
                    </a:solidFill>
                    <a:latin typeface="LMRoman17-Regular"/>
                  </a:rPr>
                  <a:t>.</a:t>
                </a:r>
              </a:p>
              <a:p>
                <a:pPr>
                  <a:lnSpc>
                    <a:spcPct val="110000"/>
                  </a:lnSpc>
                </a:pPr>
                <a:r>
                  <a:rPr lang="es-ES" sz="1400" b="0" i="0" u="none" strike="noStrike" baseline="0" dirty="0">
                    <a:solidFill>
                      <a:srgbClr val="000000"/>
                    </a:solidFill>
                    <a:latin typeface="LMRoman17-Regular"/>
                  </a:rPr>
                  <a:t>Esta dinámica de estados que nos hemos inventado </a:t>
                </a:r>
                <a:r>
                  <a:rPr lang="es-ES" sz="1400" b="0" i="0" u="none" strike="noStrike" baseline="0" dirty="0">
                    <a:solidFill>
                      <a:srgbClr val="B020A9"/>
                    </a:solidFill>
                    <a:latin typeface="LMRoman17-Regular"/>
                  </a:rPr>
                  <a:t>recorre </a:t>
                </a:r>
                <a:r>
                  <a:rPr lang="es-ES" sz="1400" b="1" i="0" u="none" strike="noStrike" baseline="0" dirty="0">
                    <a:solidFill>
                      <a:srgbClr val="B020A9"/>
                    </a:solidFill>
                    <a:latin typeface="LMRoman12-Bold"/>
                  </a:rPr>
                  <a:t>todos </a:t>
                </a:r>
                <a:r>
                  <a:rPr lang="es-ES" sz="1400" b="0" i="0" u="none" strike="noStrike" baseline="0" dirty="0">
                    <a:solidFill>
                      <a:srgbClr val="B020A9"/>
                    </a:solidFill>
                    <a:latin typeface="LMRoman17-Regular"/>
                  </a:rPr>
                  <a:t>los estados accesibles por el sistema </a:t>
                </a:r>
                <a:r>
                  <a:rPr lang="es-ES" sz="1400" b="0" i="0" u="none" strike="noStrike" baseline="0" dirty="0">
                    <a:solidFill>
                      <a:srgbClr val="000000"/>
                    </a:solidFill>
                    <a:latin typeface="LMRoman17-Regular"/>
                  </a:rPr>
                  <a:t>y, para tiempos largos</a:t>
                </a:r>
                <a:r>
                  <a:rPr lang="es-ES" sz="1400" b="0" i="0" u="none" strike="noStrike" baseline="0" dirty="0">
                    <a:solidFill>
                      <a:srgbClr val="B020A9"/>
                    </a:solidFill>
                    <a:latin typeface="LMRoman17-Regular"/>
                  </a:rPr>
                  <a:t>, tiende a muestrear los estados con probabilidad </a:t>
                </a:r>
                <a14:m>
                  <m:oMath xmlns:m="http://schemas.openxmlformats.org/officeDocument/2006/math">
                    <m:sSub>
                      <m:sSubPr>
                        <m:ctrlPr>
                          <a:rPr lang="en-US" sz="1400" b="0" i="1" smtClean="0">
                            <a:solidFill>
                              <a:srgbClr val="B020A9"/>
                            </a:solidFill>
                            <a:latin typeface="Cambria Math" panose="02040503050406030204" pitchFamily="18" charset="0"/>
                            <a:ea typeface="Cambria Math" panose="02040503050406030204" pitchFamily="18" charset="0"/>
                          </a:rPr>
                        </m:ctrlPr>
                      </m:sSubPr>
                      <m:e>
                        <m:r>
                          <a:rPr lang="en-US" sz="1400" b="0" i="1" smtClean="0">
                            <a:solidFill>
                              <a:srgbClr val="B020A9"/>
                            </a:solidFill>
                            <a:latin typeface="Cambria Math" panose="02040503050406030204" pitchFamily="18" charset="0"/>
                            <a:ea typeface="Cambria Math" panose="02040503050406030204" pitchFamily="18" charset="0"/>
                          </a:rPr>
                          <m:t>𝑃</m:t>
                        </m:r>
                      </m:e>
                      <m:sub>
                        <m:r>
                          <a:rPr lang="en-US" sz="1400" b="0" i="1" smtClean="0">
                            <a:solidFill>
                              <a:srgbClr val="B020A9"/>
                            </a:solidFill>
                            <a:latin typeface="Cambria Math" panose="02040503050406030204" pitchFamily="18" charset="0"/>
                            <a:ea typeface="Cambria Math" panose="02040503050406030204" pitchFamily="18" charset="0"/>
                          </a:rPr>
                          <m:t>𝑁</m:t>
                        </m:r>
                      </m:sub>
                    </m:sSub>
                    <m:r>
                      <a:rPr lang="en-US" sz="1400" b="0" i="1" smtClean="0">
                        <a:solidFill>
                          <a:srgbClr val="B020A9"/>
                        </a:solidFill>
                        <a:latin typeface="Cambria Math" panose="02040503050406030204" pitchFamily="18" charset="0"/>
                        <a:ea typeface="Cambria Math" panose="02040503050406030204" pitchFamily="18" charset="0"/>
                      </a:rPr>
                      <m:t>(</m:t>
                    </m:r>
                    <m:r>
                      <a:rPr lang="en-US" sz="1400" b="0" i="1" smtClean="0">
                        <a:solidFill>
                          <a:srgbClr val="B020A9"/>
                        </a:solidFill>
                        <a:latin typeface="Cambria Math" panose="02040503050406030204" pitchFamily="18" charset="0"/>
                        <a:ea typeface="Cambria Math" panose="02040503050406030204" pitchFamily="18" charset="0"/>
                      </a:rPr>
                      <m:t>𝑋</m:t>
                    </m:r>
                    <m:r>
                      <a:rPr lang="en-US" sz="1400" b="0" i="1" smtClean="0">
                        <a:solidFill>
                          <a:srgbClr val="B020A9"/>
                        </a:solidFill>
                        <a:latin typeface="Cambria Math" panose="02040503050406030204" pitchFamily="18" charset="0"/>
                        <a:ea typeface="Cambria Math" panose="02040503050406030204" pitchFamily="18" charset="0"/>
                      </a:rPr>
                      <m:t>)</m:t>
                    </m:r>
                  </m:oMath>
                </a14:m>
                <a:r>
                  <a:rPr lang="es-ES" sz="1400" b="0" i="0" u="none" strike="noStrike" baseline="0" dirty="0">
                    <a:solidFill>
                      <a:srgbClr val="000000"/>
                    </a:solidFill>
                    <a:latin typeface="LMRoman17-Regular"/>
                  </a:rPr>
                  <a:t>. Obviamente, si elegimos al azar </a:t>
                </a:r>
                <a14:m>
                  <m:oMath xmlns:m="http://schemas.openxmlformats.org/officeDocument/2006/math">
                    <m:r>
                      <a:rPr lang="en-US" sz="1400" b="0" i="1" u="none" strike="noStrike" baseline="0" smtClean="0">
                        <a:solidFill>
                          <a:srgbClr val="000000"/>
                        </a:solidFill>
                        <a:latin typeface="Cambria Math" panose="02040503050406030204" pitchFamily="18" charset="0"/>
                      </a:rPr>
                      <m:t>𝑋</m:t>
                    </m:r>
                  </m:oMath>
                </a14:m>
                <a:r>
                  <a:rPr lang="es-ES" sz="1400" b="0" i="0" u="none" strike="noStrike" baseline="0" dirty="0">
                    <a:solidFill>
                      <a:srgbClr val="000000"/>
                    </a:solidFill>
                    <a:latin typeface="LMRoman17-Regular"/>
                  </a:rPr>
                  <a:t>’</a:t>
                </a:r>
                <a:r>
                  <a:rPr lang="es-ES" sz="1400" b="0" i="0" u="none" strike="noStrike" baseline="0" dirty="0">
                    <a:solidFill>
                      <a:srgbClr val="000000"/>
                    </a:solidFill>
                    <a:latin typeface="LMMathSymbols10-Regular"/>
                  </a:rPr>
                  <a:t> </a:t>
                </a:r>
                <a:r>
                  <a:rPr lang="es-ES" sz="1400" b="0" i="0" u="none" strike="noStrike" baseline="0" dirty="0">
                    <a:solidFill>
                      <a:srgbClr val="000000"/>
                    </a:solidFill>
                    <a:latin typeface="LMRoman17-Regular"/>
                  </a:rPr>
                  <a:t>tendríamos el mismo problema que nos encontrábamos con el algoritmo de rechazo. El truco aquí es que </a:t>
                </a:r>
                <a:r>
                  <a:rPr lang="es-ES" sz="1400" b="0" i="1" u="none" strike="noStrike" baseline="0" dirty="0">
                    <a:solidFill>
                      <a:srgbClr val="B020A9"/>
                    </a:solidFill>
                    <a:latin typeface="LMRoman12-Italic"/>
                  </a:rPr>
                  <a:t>podemos elegir un </a:t>
                </a:r>
                <a14:m>
                  <m:oMath xmlns:m="http://schemas.openxmlformats.org/officeDocument/2006/math">
                    <m:r>
                      <a:rPr lang="en-US" sz="1400" b="0" i="1" u="none" strike="noStrike" baseline="0" smtClean="0">
                        <a:solidFill>
                          <a:srgbClr val="B020A9"/>
                        </a:solidFill>
                        <a:latin typeface="Cambria Math" panose="02040503050406030204" pitchFamily="18" charset="0"/>
                      </a:rPr>
                      <m:t>𝑋</m:t>
                    </m:r>
                  </m:oMath>
                </a14:m>
                <a:r>
                  <a:rPr lang="es-ES" sz="1400" b="0" i="0" u="none" strike="noStrike" baseline="0" dirty="0">
                    <a:solidFill>
                      <a:srgbClr val="B020A9"/>
                    </a:solidFill>
                    <a:latin typeface="LMRoman17-Regular"/>
                  </a:rPr>
                  <a:t>’</a:t>
                </a:r>
                <a:r>
                  <a:rPr lang="es-ES" sz="1400" b="0" i="0" u="none" strike="noStrike" baseline="0" dirty="0">
                    <a:solidFill>
                      <a:srgbClr val="B020A9"/>
                    </a:solidFill>
                    <a:latin typeface="LMMathSymbols10-Regular"/>
                  </a:rPr>
                  <a:t> </a:t>
                </a:r>
                <a:r>
                  <a:rPr lang="es-ES" sz="1400" b="0" i="1" u="none" strike="noStrike" baseline="0" dirty="0">
                    <a:solidFill>
                      <a:srgbClr val="B020A9"/>
                    </a:solidFill>
                    <a:latin typeface="LMRoman12-Italic"/>
                  </a:rPr>
                  <a:t>que sea que una pequeña modificación de </a:t>
                </a:r>
                <a14:m>
                  <m:oMath xmlns:m="http://schemas.openxmlformats.org/officeDocument/2006/math">
                    <m:r>
                      <a:rPr lang="en-US" sz="1400" b="0" i="1" u="none" strike="noStrike" baseline="0" smtClean="0">
                        <a:solidFill>
                          <a:srgbClr val="B020A9"/>
                        </a:solidFill>
                        <a:latin typeface="Cambria Math" panose="02040503050406030204" pitchFamily="18" charset="0"/>
                      </a:rPr>
                      <m:t>𝑋</m:t>
                    </m:r>
                  </m:oMath>
                </a14:m>
                <a:r>
                  <a:rPr lang="es-ES" sz="1400" b="0" i="0" u="none" strike="noStrike" baseline="0" dirty="0">
                    <a:solidFill>
                      <a:srgbClr val="7030A0"/>
                    </a:solidFill>
                    <a:latin typeface="LMRoman17-Regular"/>
                  </a:rPr>
                  <a:t>.</a:t>
                </a:r>
                <a:r>
                  <a:rPr lang="es-ES" sz="1400" b="0" i="0" u="none" strike="noStrike" baseline="0" dirty="0">
                    <a:solidFill>
                      <a:srgbClr val="000000"/>
                    </a:solidFill>
                    <a:latin typeface="LMRoman17-Regular"/>
                  </a:rPr>
                  <a:t> De esta forma si en algún momento de la cadena de </a:t>
                </a:r>
                <a:r>
                  <a:rPr lang="es-ES" sz="1400" b="0" i="0" u="none" strike="noStrike" baseline="0" dirty="0" err="1">
                    <a:solidFill>
                      <a:srgbClr val="000000"/>
                    </a:solidFill>
                    <a:latin typeface="LMRoman17-Regular"/>
                  </a:rPr>
                  <a:t>Markov</a:t>
                </a:r>
                <a:r>
                  <a:rPr lang="es-ES" sz="1400" b="0" i="0" u="none" strike="noStrike" baseline="0" dirty="0">
                    <a:solidFill>
                      <a:srgbClr val="000000"/>
                    </a:solidFill>
                    <a:latin typeface="LMRoman17-Regular"/>
                  </a:rPr>
                  <a:t> las </a:t>
                </a:r>
                <a14:m>
                  <m:oMath xmlns:m="http://schemas.openxmlformats.org/officeDocument/2006/math">
                    <m:r>
                      <a:rPr lang="en-US" sz="1400" b="0" i="1" u="none" strike="noStrike" baseline="0" smtClean="0">
                        <a:solidFill>
                          <a:srgbClr val="000000"/>
                        </a:solidFill>
                        <a:latin typeface="Cambria Math" panose="02040503050406030204" pitchFamily="18" charset="0"/>
                      </a:rPr>
                      <m:t>𝑋</m:t>
                    </m:r>
                  </m:oMath>
                </a14:m>
                <a:r>
                  <a:rPr lang="es-ES" sz="1400" b="0" i="1" u="none" strike="noStrike" baseline="0" dirty="0">
                    <a:solidFill>
                      <a:srgbClr val="000000"/>
                    </a:solidFill>
                    <a:latin typeface="LMMathItalic12-Regular"/>
                  </a:rPr>
                  <a:t> </a:t>
                </a:r>
                <a:r>
                  <a:rPr lang="es-ES" sz="1400" b="0" i="0" u="none" strike="noStrike" baseline="0" dirty="0">
                    <a:solidFill>
                      <a:srgbClr val="000000"/>
                    </a:solidFill>
                    <a:latin typeface="LMRoman17-Regular"/>
                  </a:rPr>
                  <a:t>son las más probables según </a:t>
                </a:r>
                <a14:m>
                  <m:oMath xmlns:m="http://schemas.openxmlformats.org/officeDocument/2006/math">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𝑃</m:t>
                        </m:r>
                      </m:e>
                      <m:sub>
                        <m:r>
                          <a:rPr lang="en-US" sz="1400" b="0" i="1" smtClean="0">
                            <a:latin typeface="Cambria Math" panose="02040503050406030204" pitchFamily="18" charset="0"/>
                            <a:ea typeface="Cambria Math" panose="02040503050406030204" pitchFamily="18" charset="0"/>
                          </a:rPr>
                          <m:t>𝑁</m:t>
                        </m:r>
                      </m:sub>
                    </m:sSub>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𝑋</m:t>
                    </m:r>
                    <m:r>
                      <a:rPr lang="en-US" sz="1400" b="0" i="1" smtClean="0">
                        <a:latin typeface="Cambria Math" panose="02040503050406030204" pitchFamily="18" charset="0"/>
                        <a:ea typeface="Cambria Math" panose="02040503050406030204" pitchFamily="18" charset="0"/>
                      </a:rPr>
                      <m:t>)</m:t>
                    </m:r>
                  </m:oMath>
                </a14:m>
                <a:r>
                  <a:rPr lang="es-ES" sz="1400" b="0" i="0" u="none" strike="noStrike" baseline="0" dirty="0">
                    <a:solidFill>
                      <a:srgbClr val="000000"/>
                    </a:solidFill>
                    <a:latin typeface="LMRoman17-Regular"/>
                  </a:rPr>
                  <a:t>, los siguientes estados generados seguirán estando concentrados alrededor de ese máximo de probabilidad.</a:t>
                </a:r>
                <a:endParaRPr lang="es-ES" sz="1400" dirty="0"/>
              </a:p>
            </p:txBody>
          </p:sp>
        </mc:Choice>
        <mc:Fallback xmlns="">
          <p:sp>
            <p:nvSpPr>
              <p:cNvPr id="3" name="Marcador de contenido 2">
                <a:extLst>
                  <a:ext uri="{FF2B5EF4-FFF2-40B4-BE49-F238E27FC236}">
                    <a16:creationId xmlns:a16="http://schemas.microsoft.com/office/drawing/2014/main" id="{409DF978-C28C-40C2-BDBE-40DEA458F1A2}"/>
                  </a:ext>
                </a:extLst>
              </p:cNvPr>
              <p:cNvSpPr>
                <a:spLocks noGrp="1" noRot="1" noChangeAspect="1" noMove="1" noResize="1" noEditPoints="1" noAdjustHandles="1" noChangeArrowheads="1" noChangeShapeType="1" noTextEdit="1"/>
              </p:cNvSpPr>
              <p:nvPr>
                <p:ph idx="1"/>
              </p:nvPr>
            </p:nvSpPr>
            <p:spPr>
              <a:xfrm>
                <a:off x="551330" y="1083142"/>
                <a:ext cx="10515600" cy="4691716"/>
              </a:xfrm>
              <a:blipFill>
                <a:blip r:embed="rId2"/>
                <a:stretch>
                  <a:fillRect l="-58"/>
                </a:stretch>
              </a:blipFill>
            </p:spPr>
            <p:txBody>
              <a:bodyPr/>
              <a:lstStyle/>
              <a:p>
                <a:r>
                  <a:rPr lang="es-ES">
                    <a:noFill/>
                  </a:rPr>
                  <a:t> </a:t>
                </a:r>
              </a:p>
            </p:txBody>
          </p:sp>
        </mc:Fallback>
      </mc:AlternateContent>
      <p:sp>
        <p:nvSpPr>
          <p:cNvPr id="7" name="Título 1">
            <a:extLst>
              <a:ext uri="{FF2B5EF4-FFF2-40B4-BE49-F238E27FC236}">
                <a16:creationId xmlns:a16="http://schemas.microsoft.com/office/drawing/2014/main" id="{BD75EB38-B2D8-2D12-6329-318B397212D9}"/>
              </a:ext>
            </a:extLst>
          </p:cNvPr>
          <p:cNvSpPr>
            <a:spLocks noGrp="1"/>
          </p:cNvSpPr>
          <p:nvPr>
            <p:ph type="title"/>
          </p:nvPr>
        </p:nvSpPr>
        <p:spPr>
          <a:xfrm>
            <a:off x="-62754" y="87220"/>
            <a:ext cx="12254753" cy="809252"/>
          </a:xfrm>
          <a:solidFill>
            <a:schemeClr val="accent5">
              <a:lumMod val="40000"/>
              <a:lumOff val="60000"/>
            </a:schemeClr>
          </a:solidFill>
        </p:spPr>
        <p:txBody>
          <a:bodyPr>
            <a:normAutofit/>
          </a:bodyPr>
          <a:lstStyle/>
          <a:p>
            <a:pPr algn="r"/>
            <a:r>
              <a:rPr lang="es-ES" sz="2800" dirty="0"/>
              <a:t>Física Estadística y Métodos Monte Carlo</a:t>
            </a:r>
          </a:p>
        </p:txBody>
      </p:sp>
    </p:spTree>
    <p:extLst>
      <p:ext uri="{BB962C8B-B14F-4D97-AF65-F5344CB8AC3E}">
        <p14:creationId xmlns:p14="http://schemas.microsoft.com/office/powerpoint/2010/main" val="3270596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ítulo 1">
            <a:extLst>
              <a:ext uri="{FF2B5EF4-FFF2-40B4-BE49-F238E27FC236}">
                <a16:creationId xmlns:a16="http://schemas.microsoft.com/office/drawing/2014/main" id="{ED40041F-6BFB-5B8A-CCDD-CB8E18AD1B94}"/>
              </a:ext>
            </a:extLst>
          </p:cNvPr>
          <p:cNvSpPr>
            <a:spLocks noGrp="1"/>
          </p:cNvSpPr>
          <p:nvPr>
            <p:ph type="title"/>
          </p:nvPr>
        </p:nvSpPr>
        <p:spPr>
          <a:xfrm>
            <a:off x="0" y="104764"/>
            <a:ext cx="12192000" cy="708208"/>
          </a:xfrm>
          <a:solidFill>
            <a:schemeClr val="accent6">
              <a:lumMod val="20000"/>
              <a:lumOff val="80000"/>
            </a:schemeClr>
          </a:solidFill>
        </p:spPr>
        <p:txBody>
          <a:bodyPr>
            <a:normAutofit/>
          </a:bodyPr>
          <a:lstStyle/>
          <a:p>
            <a:r>
              <a:rPr lang="es-ES" sz="2800" b="1" dirty="0"/>
              <a:t>Modelo de </a:t>
            </a:r>
            <a:r>
              <a:rPr lang="es-ES" sz="2800" b="1" dirty="0" err="1"/>
              <a:t>Hopfield</a:t>
            </a:r>
            <a:r>
              <a:rPr lang="es-ES" sz="2800" b="1" dirty="0"/>
              <a:t> de red neuronal</a:t>
            </a:r>
          </a:p>
        </p:txBody>
      </p:sp>
      <mc:AlternateContent xmlns:mc="http://schemas.openxmlformats.org/markup-compatibility/2006" xmlns:a14="http://schemas.microsoft.com/office/drawing/2010/main">
        <mc:Choice Requires="a14">
          <p:sp>
            <p:nvSpPr>
              <p:cNvPr id="50" name="CuadroTexto 49">
                <a:extLst>
                  <a:ext uri="{FF2B5EF4-FFF2-40B4-BE49-F238E27FC236}">
                    <a16:creationId xmlns:a16="http://schemas.microsoft.com/office/drawing/2014/main" id="{7FDD9B28-75E5-7BE9-9B4A-001600231F91}"/>
                  </a:ext>
                </a:extLst>
              </p:cNvPr>
              <p:cNvSpPr txBox="1"/>
              <p:nvPr/>
            </p:nvSpPr>
            <p:spPr>
              <a:xfrm>
                <a:off x="5771617" y="964482"/>
                <a:ext cx="6182880" cy="5896294"/>
              </a:xfrm>
              <a:prstGeom prst="rect">
                <a:avLst/>
              </a:prstGeom>
              <a:noFill/>
            </p:spPr>
            <p:txBody>
              <a:bodyPr wrap="square">
                <a:spAutoFit/>
              </a:bodyPr>
              <a:lstStyle/>
              <a:p>
                <a:pPr marL="285750" indent="-285750" algn="l">
                  <a:spcBef>
                    <a:spcPts val="1000"/>
                  </a:spcBef>
                  <a:spcAft>
                    <a:spcPts val="1000"/>
                  </a:spcAft>
                  <a:buFont typeface="Arial" panose="020B0604020202020204" pitchFamily="34" charset="0"/>
                  <a:buChar char="•"/>
                </a:pPr>
                <a:r>
                  <a:rPr lang="es-ES" sz="1600" b="0" i="0" u="none" strike="noStrike" baseline="0" dirty="0">
                    <a:latin typeface="LMRoman17-Regular"/>
                  </a:rPr>
                  <a:t>Cada </a:t>
                </a:r>
                <a:r>
                  <a:rPr lang="es-ES" sz="1600" dirty="0">
                    <a:latin typeface="LMRoman17-Regular"/>
                  </a:rPr>
                  <a:t>elemento del sistema representa una </a:t>
                </a:r>
                <a:r>
                  <a:rPr lang="es-ES" sz="1600" dirty="0">
                    <a:solidFill>
                      <a:srgbClr val="B020A9"/>
                    </a:solidFill>
                    <a:latin typeface="LMRoman17-Regular"/>
                  </a:rPr>
                  <a:t>neurona binaria </a:t>
                </a:r>
                <a:r>
                  <a:rPr lang="es-ES" sz="1600" dirty="0">
                    <a:latin typeface="LMRoman17-Regular"/>
                  </a:rPr>
                  <a:t>cuyo estado viene dado por </a:t>
                </a:r>
                <a14:m>
                  <m:oMath xmlns:m="http://schemas.openxmlformats.org/officeDocument/2006/math">
                    <m:r>
                      <a:rPr lang="en-US" sz="1600" b="0" i="1" smtClean="0">
                        <a:solidFill>
                          <a:srgbClr val="B020A9"/>
                        </a:solidFill>
                        <a:latin typeface="Cambria Math" panose="02040503050406030204" pitchFamily="18" charset="0"/>
                      </a:rPr>
                      <m:t>𝑠</m:t>
                    </m:r>
                    <m:r>
                      <a:rPr lang="en-US" sz="1600" b="0" i="1" smtClean="0">
                        <a:solidFill>
                          <a:srgbClr val="B020A9"/>
                        </a:solidFill>
                        <a:latin typeface="Cambria Math" panose="02040503050406030204" pitchFamily="18" charset="0"/>
                      </a:rPr>
                      <m:t>[</m:t>
                    </m:r>
                    <m:r>
                      <a:rPr lang="en-US" sz="1600" b="0" i="1" smtClean="0">
                        <a:solidFill>
                          <a:srgbClr val="B020A9"/>
                        </a:solidFill>
                        <a:latin typeface="Cambria Math" panose="02040503050406030204" pitchFamily="18" charset="0"/>
                      </a:rPr>
                      <m:t>𝑖</m:t>
                    </m:r>
                    <m:r>
                      <a:rPr lang="en-US" sz="1600" b="0" i="1" smtClean="0">
                        <a:solidFill>
                          <a:srgbClr val="B020A9"/>
                        </a:solidFill>
                        <a:latin typeface="Cambria Math" panose="02040503050406030204" pitchFamily="18" charset="0"/>
                      </a:rPr>
                      <m:t>]=0,1</m:t>
                    </m:r>
                  </m:oMath>
                </a14:m>
                <a:r>
                  <a:rPr lang="es-ES" sz="1600" b="0" i="0" u="none" strike="noStrike" baseline="0" dirty="0">
                    <a:latin typeface="LMRoman17-Regular"/>
                  </a:rPr>
                  <a:t>, donde 1 indica que la neurona está</a:t>
                </a:r>
                <a:r>
                  <a:rPr lang="es-ES" sz="1600" b="0" i="0" u="none" strike="noStrike" dirty="0">
                    <a:latin typeface="LMRoman17-Regular"/>
                  </a:rPr>
                  <a:t> disparando, y 0 que no. </a:t>
                </a:r>
              </a:p>
              <a:p>
                <a:pPr marL="285750" indent="-285750">
                  <a:spcBef>
                    <a:spcPts val="1000"/>
                  </a:spcBef>
                  <a:spcAft>
                    <a:spcPts val="1000"/>
                  </a:spcAft>
                  <a:buFont typeface="Arial" panose="020B0604020202020204" pitchFamily="34" charset="0"/>
                  <a:buChar char="•"/>
                </a:pPr>
                <a:r>
                  <a:rPr lang="es-ES" sz="1600" b="0" i="0" u="none" strike="noStrike" baseline="0" dirty="0">
                    <a:latin typeface="LMRoman17-Regular"/>
                  </a:rPr>
                  <a:t>La red de </a:t>
                </a:r>
                <a:r>
                  <a:rPr lang="es-ES" sz="1600" b="0" i="0" u="none" strike="noStrike" baseline="0" dirty="0" err="1">
                    <a:latin typeface="LMRoman17-Regular"/>
                  </a:rPr>
                  <a:t>Hopfield</a:t>
                </a:r>
                <a:r>
                  <a:rPr lang="es-ES" sz="1600" b="0" i="0" u="none" strike="noStrike" baseline="0" dirty="0">
                    <a:latin typeface="LMRoman17-Regular"/>
                  </a:rPr>
                  <a:t> asume interacciones o </a:t>
                </a:r>
                <a:r>
                  <a:rPr lang="es-ES" sz="1600" b="0" i="0" u="none" strike="noStrike" baseline="0" dirty="0">
                    <a:solidFill>
                      <a:srgbClr val="B020A9"/>
                    </a:solidFill>
                    <a:latin typeface="LMRoman17-Regular"/>
                  </a:rPr>
                  <a:t>pesos sinápticos </a:t>
                </a:r>
                <a14:m>
                  <m:oMath xmlns:m="http://schemas.openxmlformats.org/officeDocument/2006/math">
                    <m:sSub>
                      <m:sSubPr>
                        <m:ctrlPr>
                          <a:rPr lang="en-US" sz="1600" i="1">
                            <a:solidFill>
                              <a:srgbClr val="B020A9"/>
                            </a:solidFill>
                            <a:latin typeface="Cambria Math" panose="02040503050406030204" pitchFamily="18" charset="0"/>
                          </a:rPr>
                        </m:ctrlPr>
                      </m:sSubPr>
                      <m:e>
                        <m:r>
                          <a:rPr lang="en-US" sz="1600" i="1">
                            <a:solidFill>
                              <a:srgbClr val="B020A9"/>
                            </a:solidFill>
                            <a:latin typeface="Cambria Math" panose="02040503050406030204" pitchFamily="18" charset="0"/>
                          </a:rPr>
                          <m:t>𝑤</m:t>
                        </m:r>
                      </m:e>
                      <m:sub>
                        <m:r>
                          <a:rPr lang="en-US" sz="1600" i="1">
                            <a:solidFill>
                              <a:srgbClr val="B020A9"/>
                            </a:solidFill>
                            <a:latin typeface="Cambria Math" panose="02040503050406030204" pitchFamily="18" charset="0"/>
                          </a:rPr>
                          <m:t>𝑖</m:t>
                        </m:r>
                        <m:r>
                          <a:rPr lang="en-US" sz="1600" b="0" i="1" smtClean="0">
                            <a:solidFill>
                              <a:srgbClr val="B020A9"/>
                            </a:solidFill>
                            <a:latin typeface="Cambria Math" panose="02040503050406030204" pitchFamily="18" charset="0"/>
                          </a:rPr>
                          <m:t>𝑗</m:t>
                        </m:r>
                      </m:sub>
                    </m:sSub>
                  </m:oMath>
                </a14:m>
                <a:r>
                  <a:rPr lang="es-ES" sz="1600" b="0" i="0" u="none" strike="noStrike" baseline="0" dirty="0">
                    <a:latin typeface="LMRoman17-Regular"/>
                  </a:rPr>
                  <a:t> de largo alcance, y en particular una </a:t>
                </a:r>
                <a:r>
                  <a:rPr lang="es-ES" sz="1600" b="0" i="0" u="none" strike="noStrike" baseline="0" dirty="0">
                    <a:solidFill>
                      <a:srgbClr val="B020A9"/>
                    </a:solidFill>
                    <a:latin typeface="LMRoman17-Regular"/>
                  </a:rPr>
                  <a:t>red totalmente conectada</a:t>
                </a:r>
                <a:r>
                  <a:rPr lang="es-ES" sz="1600" b="0" i="0" u="none" strike="noStrike" baseline="0" dirty="0">
                    <a:latin typeface="LMRoman17-Regular"/>
                  </a:rPr>
                  <a:t>, excluyendo las </a:t>
                </a:r>
                <a:r>
                  <a:rPr lang="es-ES" sz="1600" b="0" i="0" u="none" strike="noStrike" baseline="0" dirty="0" err="1">
                    <a:latin typeface="LMRoman17-Regular"/>
                  </a:rPr>
                  <a:t>autoconexiones</a:t>
                </a:r>
                <a:r>
                  <a:rPr lang="es-ES" sz="1600" b="0" i="0" u="none" strike="noStrike" baseline="0" dirty="0">
                    <a:latin typeface="LMRoman17-Regular"/>
                  </a:rPr>
                  <a:t>: </a:t>
                </a:r>
                <a14:m>
                  <m:oMath xmlns:m="http://schemas.openxmlformats.org/officeDocument/2006/math">
                    <m:sSub>
                      <m:sSubPr>
                        <m:ctrlPr>
                          <a:rPr lang="en-US" sz="1600" b="0" i="1" u="none" strike="noStrike" baseline="0" smtClean="0">
                            <a:solidFill>
                              <a:srgbClr val="B020A9"/>
                            </a:solidFill>
                            <a:latin typeface="Cambria Math" panose="02040503050406030204" pitchFamily="18" charset="0"/>
                          </a:rPr>
                        </m:ctrlPr>
                      </m:sSubPr>
                      <m:e>
                        <m:r>
                          <a:rPr lang="en-US" sz="1600" b="0" i="1" u="none" strike="noStrike" baseline="0" smtClean="0">
                            <a:solidFill>
                              <a:srgbClr val="B020A9"/>
                            </a:solidFill>
                            <a:latin typeface="Cambria Math" panose="02040503050406030204" pitchFamily="18" charset="0"/>
                          </a:rPr>
                          <m:t>𝑤</m:t>
                        </m:r>
                      </m:e>
                      <m:sub>
                        <m:r>
                          <a:rPr lang="en-US" sz="1600" b="0" i="1" u="none" strike="noStrike" baseline="0" smtClean="0">
                            <a:solidFill>
                              <a:srgbClr val="B020A9"/>
                            </a:solidFill>
                            <a:latin typeface="Cambria Math" panose="02040503050406030204" pitchFamily="18" charset="0"/>
                          </a:rPr>
                          <m:t>𝑖𝑖</m:t>
                        </m:r>
                      </m:sub>
                    </m:sSub>
                    <m:r>
                      <a:rPr lang="en-US" sz="1600" b="0" i="1" u="none" strike="noStrike" baseline="0" smtClean="0">
                        <a:solidFill>
                          <a:srgbClr val="B020A9"/>
                        </a:solidFill>
                        <a:latin typeface="Cambria Math" panose="02040503050406030204" pitchFamily="18" charset="0"/>
                      </a:rPr>
                      <m:t>=0</m:t>
                    </m:r>
                  </m:oMath>
                </a14:m>
                <a:r>
                  <a:rPr lang="es-ES" sz="1600" b="0" i="0" u="none" strike="noStrike" baseline="0" dirty="0">
                    <a:latin typeface="LMRoman17-Regular"/>
                  </a:rPr>
                  <a:t>. </a:t>
                </a:r>
              </a:p>
              <a:p>
                <a:pPr marL="285750" indent="-285750">
                  <a:spcBef>
                    <a:spcPts val="1000"/>
                  </a:spcBef>
                  <a:spcAft>
                    <a:spcPts val="1000"/>
                  </a:spcAft>
                  <a:buFont typeface="Arial" panose="020B0604020202020204" pitchFamily="34" charset="0"/>
                  <a:buChar char="•"/>
                </a:pPr>
                <a:r>
                  <a:rPr lang="es-ES" sz="1600" dirty="0">
                    <a:latin typeface="LMRoman17-Regular"/>
                  </a:rPr>
                  <a:t>Los pesos pueden ser tanto positivos como negativos. La matriz de pesos es simétrica: </a:t>
                </a:r>
                <a14:m>
                  <m:oMath xmlns:m="http://schemas.openxmlformats.org/officeDocument/2006/math">
                    <m:sSub>
                      <m:sSubPr>
                        <m:ctrlPr>
                          <a:rPr lang="en-US" sz="1600" b="0" i="1" u="none" strike="noStrike" baseline="0" smtClean="0">
                            <a:latin typeface="Cambria Math" panose="02040503050406030204" pitchFamily="18" charset="0"/>
                          </a:rPr>
                        </m:ctrlPr>
                      </m:sSubPr>
                      <m:e>
                        <m:r>
                          <a:rPr lang="en-US" sz="1600" b="0" i="1" u="none" strike="noStrike" baseline="0" smtClean="0">
                            <a:latin typeface="Cambria Math" panose="02040503050406030204" pitchFamily="18" charset="0"/>
                          </a:rPr>
                          <m:t>𝑤</m:t>
                        </m:r>
                      </m:e>
                      <m:sub>
                        <m:r>
                          <a:rPr lang="en-US" sz="1600" b="0" i="1" u="none" strike="noStrike" baseline="0" smtClean="0">
                            <a:latin typeface="Cambria Math" panose="02040503050406030204" pitchFamily="18" charset="0"/>
                          </a:rPr>
                          <m:t>𝑖</m:t>
                        </m:r>
                        <m:r>
                          <a:rPr lang="es-ES" sz="1600" b="0" i="1" u="none" strike="noStrike" baseline="0" smtClean="0">
                            <a:latin typeface="Cambria Math" panose="02040503050406030204" pitchFamily="18" charset="0"/>
                          </a:rPr>
                          <m:t>𝑗</m:t>
                        </m:r>
                      </m:sub>
                    </m:sSub>
                    <m:r>
                      <a:rPr lang="es-ES" sz="1600" b="0" i="1" u="none" strike="noStrike" baseline="0" smtClean="0">
                        <a:latin typeface="Cambria Math" panose="02040503050406030204" pitchFamily="18" charset="0"/>
                      </a:rPr>
                      <m:t>=</m:t>
                    </m:r>
                    <m:sSub>
                      <m:sSubPr>
                        <m:ctrlPr>
                          <a:rPr lang="en-US" sz="1600" b="0" i="1" u="none" strike="noStrike" baseline="0" smtClean="0">
                            <a:latin typeface="Cambria Math" panose="02040503050406030204" pitchFamily="18" charset="0"/>
                          </a:rPr>
                        </m:ctrlPr>
                      </m:sSubPr>
                      <m:e>
                        <m:r>
                          <a:rPr lang="es-ES" sz="1600" b="0" i="1" u="none" strike="noStrike" baseline="0" smtClean="0">
                            <a:latin typeface="Cambria Math" panose="02040503050406030204" pitchFamily="18" charset="0"/>
                          </a:rPr>
                          <m:t>𝑤</m:t>
                        </m:r>
                      </m:e>
                      <m:sub>
                        <m:r>
                          <a:rPr lang="en-US" sz="1600" b="0" i="1" u="none" strike="noStrike" baseline="0" smtClean="0">
                            <a:latin typeface="Cambria Math" panose="02040503050406030204" pitchFamily="18" charset="0"/>
                          </a:rPr>
                          <m:t>𝑗𝑖</m:t>
                        </m:r>
                      </m:sub>
                    </m:sSub>
                  </m:oMath>
                </a14:m>
                <a:r>
                  <a:rPr lang="es-ES" sz="1600" dirty="0">
                    <a:latin typeface="LMRoman17-Regular"/>
                  </a:rPr>
                  <a:t>.</a:t>
                </a:r>
              </a:p>
              <a:p>
                <a:pPr marL="285750" indent="-285750">
                  <a:spcBef>
                    <a:spcPts val="1000"/>
                  </a:spcBef>
                  <a:spcAft>
                    <a:spcPts val="1000"/>
                  </a:spcAft>
                  <a:buFont typeface="Arial" panose="020B0604020202020204" pitchFamily="34" charset="0"/>
                  <a:buChar char="•"/>
                </a:pPr>
                <a:r>
                  <a:rPr lang="es-ES" sz="1600" baseline="0" dirty="0">
                    <a:latin typeface="LMRoman17-Regular"/>
                  </a:rPr>
                  <a:t>El </a:t>
                </a:r>
                <a:r>
                  <a:rPr lang="es-ES" sz="1600" baseline="0" dirty="0">
                    <a:solidFill>
                      <a:srgbClr val="B020A9"/>
                    </a:solidFill>
                    <a:latin typeface="LMRoman17-Regular"/>
                  </a:rPr>
                  <a:t>Hamiltoniano del sistema </a:t>
                </a:r>
                <a:r>
                  <a:rPr lang="es-ES" sz="1600" baseline="0" dirty="0">
                    <a:latin typeface="LMRoman17-Regular"/>
                  </a:rPr>
                  <a:t>es</a:t>
                </a:r>
                <a:br>
                  <a:rPr lang="en-US" sz="1600" b="0" i="1" baseline="0" dirty="0">
                    <a:latin typeface="Cambria Math" panose="02040503050406030204" pitchFamily="18" charset="0"/>
                  </a:rPr>
                </a:br>
                <a14:m>
                  <m:oMath xmlns:m="http://schemas.openxmlformats.org/officeDocument/2006/math">
                    <m:r>
                      <a:rPr lang="es-ES" sz="1600" b="0" i="1" baseline="0" smtClean="0">
                        <a:latin typeface="Cambria Math" panose="02040503050406030204" pitchFamily="18" charset="0"/>
                      </a:rPr>
                      <m:t>𝐻</m:t>
                    </m:r>
                    <m:d>
                      <m:dPr>
                        <m:ctrlPr>
                          <a:rPr lang="en-US" sz="1600" b="0" i="1" baseline="0" smtClean="0">
                            <a:latin typeface="Cambria Math" panose="02040503050406030204" pitchFamily="18" charset="0"/>
                          </a:rPr>
                        </m:ctrlPr>
                      </m:dPr>
                      <m:e>
                        <m:r>
                          <a:rPr lang="en-US" sz="1600" b="0" i="1" baseline="0" smtClean="0">
                            <a:latin typeface="Cambria Math" panose="02040503050406030204" pitchFamily="18" charset="0"/>
                          </a:rPr>
                          <m:t>𝑠</m:t>
                        </m:r>
                      </m:e>
                    </m:d>
                    <m:r>
                      <a:rPr lang="en-US" sz="1600" b="0" i="1" baseline="0" smtClean="0">
                        <a:latin typeface="Cambria Math" panose="02040503050406030204" pitchFamily="18" charset="0"/>
                      </a:rPr>
                      <m:t>=−</m:t>
                    </m:r>
                    <m:f>
                      <m:fPr>
                        <m:ctrlPr>
                          <a:rPr lang="en-US" sz="1600" b="0" i="1" baseline="0" smtClean="0">
                            <a:latin typeface="Cambria Math" panose="02040503050406030204" pitchFamily="18" charset="0"/>
                          </a:rPr>
                        </m:ctrlPr>
                      </m:fPr>
                      <m:num>
                        <m:r>
                          <a:rPr lang="en-US" sz="1600" b="0" i="1" baseline="0" smtClean="0">
                            <a:latin typeface="Cambria Math" panose="02040503050406030204" pitchFamily="18" charset="0"/>
                          </a:rPr>
                          <m:t>1</m:t>
                        </m:r>
                      </m:num>
                      <m:den>
                        <m:r>
                          <a:rPr lang="en-US" sz="1600" b="0" i="1" baseline="0" smtClean="0">
                            <a:latin typeface="Cambria Math" panose="02040503050406030204" pitchFamily="18" charset="0"/>
                          </a:rPr>
                          <m:t>2</m:t>
                        </m:r>
                      </m:den>
                    </m:f>
                    <m:nary>
                      <m:naryPr>
                        <m:chr m:val="∑"/>
                        <m:supHide m:val="on"/>
                        <m:ctrlPr>
                          <a:rPr lang="en-US" sz="1600" b="0" i="1" baseline="0" smtClean="0">
                            <a:latin typeface="Cambria Math" panose="02040503050406030204" pitchFamily="18" charset="0"/>
                          </a:rPr>
                        </m:ctrlPr>
                      </m:naryPr>
                      <m:sub>
                        <m:r>
                          <a:rPr lang="en-US" sz="1600" b="0" i="1" baseline="0" smtClean="0">
                            <a:latin typeface="Cambria Math" panose="02040503050406030204" pitchFamily="18" charset="0"/>
                          </a:rPr>
                          <m:t>𝑖</m:t>
                        </m:r>
                        <m:r>
                          <a:rPr lang="en-US" sz="1600" b="0" i="1" baseline="0" smtClean="0">
                            <a:latin typeface="Cambria Math" panose="02040503050406030204" pitchFamily="18" charset="0"/>
                          </a:rPr>
                          <m:t>,</m:t>
                        </m:r>
                        <m:r>
                          <a:rPr lang="en-US" sz="1600" b="0" i="1" baseline="0" smtClean="0">
                            <a:latin typeface="Cambria Math" panose="02040503050406030204" pitchFamily="18" charset="0"/>
                          </a:rPr>
                          <m:t>𝑗</m:t>
                        </m:r>
                      </m:sub>
                      <m:sup/>
                      <m:e>
                        <m:sSub>
                          <m:sSubPr>
                            <m:ctrlPr>
                              <a:rPr lang="en-US" sz="1600" b="0" i="1" baseline="0" smtClean="0">
                                <a:latin typeface="Cambria Math" panose="02040503050406030204" pitchFamily="18" charset="0"/>
                              </a:rPr>
                            </m:ctrlPr>
                          </m:sSubPr>
                          <m:e>
                            <m:r>
                              <a:rPr lang="en-US" sz="1600" b="0" i="1" baseline="0" smtClean="0">
                                <a:latin typeface="Cambria Math" panose="02040503050406030204" pitchFamily="18" charset="0"/>
                              </a:rPr>
                              <m:t>𝑤</m:t>
                            </m:r>
                          </m:e>
                          <m:sub>
                            <m:r>
                              <a:rPr lang="en-US" sz="1600" b="0" i="1" baseline="0" smtClean="0">
                                <a:latin typeface="Cambria Math" panose="02040503050406030204" pitchFamily="18" charset="0"/>
                              </a:rPr>
                              <m:t>𝑖𝑗</m:t>
                            </m:r>
                          </m:sub>
                        </m:sSub>
                        <m:sSub>
                          <m:sSubPr>
                            <m:ctrlPr>
                              <a:rPr lang="en-US" sz="1600" b="0" i="1" baseline="0" smtClean="0">
                                <a:latin typeface="Cambria Math" panose="02040503050406030204" pitchFamily="18" charset="0"/>
                              </a:rPr>
                            </m:ctrlPr>
                          </m:sSubPr>
                          <m:e>
                            <m:r>
                              <a:rPr lang="en-US" sz="1600" b="0" i="1" baseline="0" smtClean="0">
                                <a:latin typeface="Cambria Math" panose="02040503050406030204" pitchFamily="18" charset="0"/>
                              </a:rPr>
                              <m:t>𝑠</m:t>
                            </m:r>
                          </m:e>
                          <m:sub>
                            <m:r>
                              <a:rPr lang="en-US" sz="1600" b="0" i="1" baseline="0" smtClean="0">
                                <a:latin typeface="Cambria Math" panose="02040503050406030204" pitchFamily="18" charset="0"/>
                              </a:rPr>
                              <m:t>𝑖</m:t>
                            </m:r>
                          </m:sub>
                        </m:sSub>
                        <m:sSub>
                          <m:sSubPr>
                            <m:ctrlPr>
                              <a:rPr lang="en-US" sz="1600" b="0" i="1" baseline="0" smtClean="0">
                                <a:latin typeface="Cambria Math" panose="02040503050406030204" pitchFamily="18" charset="0"/>
                              </a:rPr>
                            </m:ctrlPr>
                          </m:sSubPr>
                          <m:e>
                            <m:r>
                              <a:rPr lang="en-US" sz="1600" b="0" i="1" baseline="0" smtClean="0">
                                <a:latin typeface="Cambria Math" panose="02040503050406030204" pitchFamily="18" charset="0"/>
                              </a:rPr>
                              <m:t>𝑠</m:t>
                            </m:r>
                          </m:e>
                          <m:sub>
                            <m:r>
                              <a:rPr lang="en-US" sz="1600" b="0" i="1" baseline="0" smtClean="0">
                                <a:latin typeface="Cambria Math" panose="02040503050406030204" pitchFamily="18" charset="0"/>
                              </a:rPr>
                              <m:t>𝑗</m:t>
                            </m:r>
                          </m:sub>
                        </m:sSub>
                      </m:e>
                    </m:nary>
                    <m:r>
                      <a:rPr lang="en-US" sz="1600" b="0" i="1" baseline="0" smtClean="0">
                        <a:latin typeface="Cambria Math" panose="02040503050406030204" pitchFamily="18" charset="0"/>
                      </a:rPr>
                      <m:t>+</m:t>
                    </m:r>
                    <m:nary>
                      <m:naryPr>
                        <m:chr m:val="∑"/>
                        <m:supHide m:val="on"/>
                        <m:ctrlPr>
                          <a:rPr lang="en-US" sz="1600" b="0" i="1" baseline="0" smtClean="0">
                            <a:latin typeface="Cambria Math" panose="02040503050406030204" pitchFamily="18" charset="0"/>
                          </a:rPr>
                        </m:ctrlPr>
                      </m:naryPr>
                      <m:sub>
                        <m:r>
                          <a:rPr lang="en-US" sz="1600" b="0" i="1" baseline="0" smtClean="0">
                            <a:latin typeface="Cambria Math" panose="02040503050406030204" pitchFamily="18" charset="0"/>
                          </a:rPr>
                          <m:t>𝑖</m:t>
                        </m:r>
                      </m:sub>
                      <m:sup/>
                      <m:e>
                        <m:sSub>
                          <m:sSubPr>
                            <m:ctrlPr>
                              <a:rPr lang="en-US" sz="1600" b="0" i="1" baseline="0" smtClean="0">
                                <a:latin typeface="Cambria Math" panose="02040503050406030204" pitchFamily="18" charset="0"/>
                              </a:rPr>
                            </m:ctrlPr>
                          </m:sSubPr>
                          <m:e>
                            <m:r>
                              <a:rPr lang="en-US" sz="1600" b="0" i="1" baseline="0" smtClean="0">
                                <a:latin typeface="Cambria Math" panose="02040503050406030204" pitchFamily="18" charset="0"/>
                              </a:rPr>
                              <m:t>𝜃</m:t>
                            </m:r>
                          </m:e>
                          <m:sub>
                            <m:r>
                              <a:rPr lang="en-US" sz="1600" b="0" i="1" baseline="0" smtClean="0">
                                <a:latin typeface="Cambria Math" panose="02040503050406030204" pitchFamily="18" charset="0"/>
                              </a:rPr>
                              <m:t>𝑖</m:t>
                            </m:r>
                          </m:sub>
                        </m:sSub>
                        <m:sSub>
                          <m:sSubPr>
                            <m:ctrlPr>
                              <a:rPr lang="en-US" sz="1600" b="0" i="1" baseline="0" smtClean="0">
                                <a:latin typeface="Cambria Math" panose="02040503050406030204" pitchFamily="18" charset="0"/>
                              </a:rPr>
                            </m:ctrlPr>
                          </m:sSubPr>
                          <m:e>
                            <m:r>
                              <a:rPr lang="en-US" sz="1600" b="0" i="1" baseline="0" smtClean="0">
                                <a:latin typeface="Cambria Math" panose="02040503050406030204" pitchFamily="18" charset="0"/>
                              </a:rPr>
                              <m:t>𝑠</m:t>
                            </m:r>
                          </m:e>
                          <m:sub>
                            <m:r>
                              <a:rPr lang="en-US" sz="1600" b="0" i="1" baseline="0" smtClean="0">
                                <a:latin typeface="Cambria Math" panose="02040503050406030204" pitchFamily="18" charset="0"/>
                              </a:rPr>
                              <m:t>𝑖</m:t>
                            </m:r>
                          </m:sub>
                        </m:sSub>
                      </m:e>
                    </m:nary>
                  </m:oMath>
                </a14:m>
                <a:br>
                  <a:rPr lang="en-US" sz="1600" b="0" i="1" baseline="0" dirty="0">
                    <a:latin typeface="Cambria Math" panose="02040503050406030204" pitchFamily="18" charset="0"/>
                  </a:rPr>
                </a:br>
                <a:r>
                  <a:rPr lang="es-ES" sz="1600" b="0" i="0" u="none" strike="noStrike" baseline="0" dirty="0">
                    <a:latin typeface="LMRoman17-Regular"/>
                  </a:rPr>
                  <a:t>donde los umbrales </a:t>
                </a:r>
                <a14:m>
                  <m:oMath xmlns:m="http://schemas.openxmlformats.org/officeDocument/2006/math">
                    <m:sSub>
                      <m:sSubPr>
                        <m:ctrlPr>
                          <a:rPr lang="en-US" sz="1600" b="0" i="1" baseline="0" smtClean="0">
                            <a:latin typeface="Cambria Math" panose="02040503050406030204" pitchFamily="18" charset="0"/>
                          </a:rPr>
                        </m:ctrlPr>
                      </m:sSubPr>
                      <m:e>
                        <m:r>
                          <a:rPr lang="en-US" sz="1600" b="0" i="1" baseline="0" smtClean="0">
                            <a:latin typeface="Cambria Math" panose="02040503050406030204" pitchFamily="18" charset="0"/>
                          </a:rPr>
                          <m:t>𝜃</m:t>
                        </m:r>
                      </m:e>
                      <m:sub>
                        <m:r>
                          <a:rPr lang="en-US" sz="1600" b="0" i="1" baseline="0" smtClean="0">
                            <a:latin typeface="Cambria Math" panose="02040503050406030204" pitchFamily="18" charset="0"/>
                          </a:rPr>
                          <m:t>𝑖</m:t>
                        </m:r>
                      </m:sub>
                    </m:sSub>
                  </m:oMath>
                </a14:m>
                <a:r>
                  <a:rPr lang="es-ES" sz="1600" b="0" i="0" u="none" strike="noStrike" baseline="0" dirty="0">
                    <a:latin typeface="LMRoman17-Regular"/>
                  </a:rPr>
                  <a:t> vienen dados por </a:t>
                </a:r>
                <a14:m>
                  <m:oMath xmlns:m="http://schemas.openxmlformats.org/officeDocument/2006/math">
                    <m:sSub>
                      <m:sSubPr>
                        <m:ctrlPr>
                          <a:rPr lang="en-US" sz="1600" b="0" i="1" baseline="0" smtClean="0">
                            <a:solidFill>
                              <a:srgbClr val="B020A9"/>
                            </a:solidFill>
                            <a:latin typeface="Cambria Math" panose="02040503050406030204" pitchFamily="18" charset="0"/>
                          </a:rPr>
                        </m:ctrlPr>
                      </m:sSubPr>
                      <m:e>
                        <m:r>
                          <a:rPr lang="en-US" sz="1600" b="0" i="1" baseline="0" smtClean="0">
                            <a:solidFill>
                              <a:srgbClr val="B020A9"/>
                            </a:solidFill>
                            <a:latin typeface="Cambria Math" panose="02040503050406030204" pitchFamily="18" charset="0"/>
                          </a:rPr>
                          <m:t>𝜃</m:t>
                        </m:r>
                      </m:e>
                      <m:sub>
                        <m:r>
                          <a:rPr lang="en-US" sz="1600" b="0" i="1" baseline="0" smtClean="0">
                            <a:solidFill>
                              <a:srgbClr val="B020A9"/>
                            </a:solidFill>
                            <a:latin typeface="Cambria Math" panose="02040503050406030204" pitchFamily="18" charset="0"/>
                          </a:rPr>
                          <m:t>𝑖</m:t>
                        </m:r>
                      </m:sub>
                    </m:sSub>
                    <m:r>
                      <a:rPr lang="en-US" sz="1600" b="0" i="1" baseline="0" smtClean="0">
                        <a:solidFill>
                          <a:srgbClr val="B020A9"/>
                        </a:solidFill>
                        <a:latin typeface="Cambria Math" panose="02040503050406030204" pitchFamily="18" charset="0"/>
                      </a:rPr>
                      <m:t>=</m:t>
                    </m:r>
                    <m:f>
                      <m:fPr>
                        <m:ctrlPr>
                          <a:rPr lang="en-US" sz="1600" b="0" i="1" baseline="0" smtClean="0">
                            <a:solidFill>
                              <a:srgbClr val="B020A9"/>
                            </a:solidFill>
                            <a:latin typeface="Cambria Math" panose="02040503050406030204" pitchFamily="18" charset="0"/>
                          </a:rPr>
                        </m:ctrlPr>
                      </m:fPr>
                      <m:num>
                        <m:r>
                          <a:rPr lang="en-US" sz="1600" b="0" i="1" baseline="0" smtClean="0">
                            <a:solidFill>
                              <a:srgbClr val="B020A9"/>
                            </a:solidFill>
                            <a:latin typeface="Cambria Math" panose="02040503050406030204" pitchFamily="18" charset="0"/>
                          </a:rPr>
                          <m:t>1</m:t>
                        </m:r>
                      </m:num>
                      <m:den>
                        <m:r>
                          <a:rPr lang="en-US" sz="1600" b="0" i="1" baseline="0" smtClean="0">
                            <a:solidFill>
                              <a:srgbClr val="B020A9"/>
                            </a:solidFill>
                            <a:latin typeface="Cambria Math" panose="02040503050406030204" pitchFamily="18" charset="0"/>
                          </a:rPr>
                          <m:t>2</m:t>
                        </m:r>
                      </m:den>
                    </m:f>
                    <m:nary>
                      <m:naryPr>
                        <m:chr m:val="∑"/>
                        <m:supHide m:val="on"/>
                        <m:ctrlPr>
                          <a:rPr lang="en-US" sz="1600" b="0" i="1" baseline="0" smtClean="0">
                            <a:solidFill>
                              <a:srgbClr val="B020A9"/>
                            </a:solidFill>
                            <a:latin typeface="Cambria Math" panose="02040503050406030204" pitchFamily="18" charset="0"/>
                          </a:rPr>
                        </m:ctrlPr>
                      </m:naryPr>
                      <m:sub>
                        <m:r>
                          <a:rPr lang="en-US" sz="1600" b="0" i="1" baseline="0" smtClean="0">
                            <a:solidFill>
                              <a:srgbClr val="B020A9"/>
                            </a:solidFill>
                            <a:latin typeface="Cambria Math" panose="02040503050406030204" pitchFamily="18" charset="0"/>
                          </a:rPr>
                          <m:t>𝑗</m:t>
                        </m:r>
                      </m:sub>
                      <m:sup/>
                      <m:e>
                        <m:sSub>
                          <m:sSubPr>
                            <m:ctrlPr>
                              <a:rPr lang="en-US" sz="1600" b="0" i="1" baseline="0" smtClean="0">
                                <a:solidFill>
                                  <a:srgbClr val="B020A9"/>
                                </a:solidFill>
                                <a:latin typeface="Cambria Math" panose="02040503050406030204" pitchFamily="18" charset="0"/>
                              </a:rPr>
                            </m:ctrlPr>
                          </m:sSubPr>
                          <m:e>
                            <m:r>
                              <a:rPr lang="en-US" sz="1600" b="0" i="1" baseline="0" smtClean="0">
                                <a:solidFill>
                                  <a:srgbClr val="B020A9"/>
                                </a:solidFill>
                                <a:latin typeface="Cambria Math" panose="02040503050406030204" pitchFamily="18" charset="0"/>
                              </a:rPr>
                              <m:t>𝑤</m:t>
                            </m:r>
                          </m:e>
                          <m:sub>
                            <m:r>
                              <a:rPr lang="en-US" sz="1600" b="0" i="1" baseline="0" smtClean="0">
                                <a:solidFill>
                                  <a:srgbClr val="B020A9"/>
                                </a:solidFill>
                                <a:latin typeface="Cambria Math" panose="02040503050406030204" pitchFamily="18" charset="0"/>
                              </a:rPr>
                              <m:t>𝑖𝑗</m:t>
                            </m:r>
                          </m:sub>
                        </m:sSub>
                      </m:e>
                    </m:nary>
                  </m:oMath>
                </a14:m>
                <a:r>
                  <a:rPr lang="es-ES" sz="1600" b="0" i="0" u="none" strike="noStrike" baseline="0" dirty="0">
                    <a:latin typeface="LMRoman17-Regular"/>
                  </a:rPr>
                  <a:t>.</a:t>
                </a:r>
              </a:p>
              <a:p>
                <a:pPr marL="285750" indent="-285750">
                  <a:spcBef>
                    <a:spcPts val="1000"/>
                  </a:spcBef>
                  <a:spcAft>
                    <a:spcPts val="1000"/>
                  </a:spcAft>
                  <a:buFont typeface="Arial" panose="020B0604020202020204" pitchFamily="34" charset="0"/>
                  <a:buChar char="•"/>
                </a:pPr>
                <a:r>
                  <a:rPr lang="es-ES" sz="1600" b="0" i="0" u="none" strike="noStrike" baseline="0" dirty="0">
                    <a:latin typeface="LMRoman17-Regular"/>
                  </a:rPr>
                  <a:t>Podemos reescribir el Hamiltoniano</a:t>
                </a:r>
                <a:r>
                  <a:rPr lang="es-ES" sz="1600" b="0" i="0" u="none" strike="noStrike" dirty="0">
                    <a:latin typeface="LMRoman17-Regular"/>
                  </a:rPr>
                  <a:t> como </a:t>
                </a:r>
                <a:br>
                  <a:rPr lang="en-US" sz="1600" b="0" i="1" baseline="0" dirty="0">
                    <a:latin typeface="Cambria Math" panose="02040503050406030204" pitchFamily="18" charset="0"/>
                  </a:rPr>
                </a:br>
                <a14:m>
                  <m:oMath xmlns:m="http://schemas.openxmlformats.org/officeDocument/2006/math">
                    <m:r>
                      <a:rPr lang="es-ES" sz="1600" b="0" i="1" baseline="0" smtClean="0">
                        <a:solidFill>
                          <a:srgbClr val="B020A9"/>
                        </a:solidFill>
                        <a:latin typeface="Cambria Math" panose="02040503050406030204" pitchFamily="18" charset="0"/>
                      </a:rPr>
                      <m:t>𝐻</m:t>
                    </m:r>
                    <m:d>
                      <m:dPr>
                        <m:ctrlPr>
                          <a:rPr lang="en-US" sz="1600" b="0" i="1" baseline="0" smtClean="0">
                            <a:solidFill>
                              <a:srgbClr val="B020A9"/>
                            </a:solidFill>
                            <a:latin typeface="Cambria Math" panose="02040503050406030204" pitchFamily="18" charset="0"/>
                          </a:rPr>
                        </m:ctrlPr>
                      </m:dPr>
                      <m:e>
                        <m:r>
                          <a:rPr lang="en-US" sz="1600" b="1" i="1" baseline="0" smtClean="0">
                            <a:solidFill>
                              <a:srgbClr val="B020A9"/>
                            </a:solidFill>
                            <a:latin typeface="Cambria Math" panose="02040503050406030204" pitchFamily="18" charset="0"/>
                          </a:rPr>
                          <m:t>𝒔</m:t>
                        </m:r>
                      </m:e>
                    </m:d>
                    <m:r>
                      <a:rPr lang="en-US" sz="1600" b="0" i="1" baseline="0" smtClean="0">
                        <a:solidFill>
                          <a:srgbClr val="B020A9"/>
                        </a:solidFill>
                        <a:latin typeface="Cambria Math" panose="02040503050406030204" pitchFamily="18" charset="0"/>
                      </a:rPr>
                      <m:t>=−</m:t>
                    </m:r>
                    <m:f>
                      <m:fPr>
                        <m:ctrlPr>
                          <a:rPr lang="en-US" sz="1600" b="0" i="1" baseline="0" smtClean="0">
                            <a:solidFill>
                              <a:srgbClr val="B020A9"/>
                            </a:solidFill>
                            <a:latin typeface="Cambria Math" panose="02040503050406030204" pitchFamily="18" charset="0"/>
                          </a:rPr>
                        </m:ctrlPr>
                      </m:fPr>
                      <m:num>
                        <m:r>
                          <a:rPr lang="en-US" sz="1600" b="0" i="1" baseline="0" smtClean="0">
                            <a:solidFill>
                              <a:srgbClr val="B020A9"/>
                            </a:solidFill>
                            <a:latin typeface="Cambria Math" panose="02040503050406030204" pitchFamily="18" charset="0"/>
                          </a:rPr>
                          <m:t>1</m:t>
                        </m:r>
                      </m:num>
                      <m:den>
                        <m:r>
                          <a:rPr lang="en-US" sz="1600" b="0" i="1" baseline="0" smtClean="0">
                            <a:solidFill>
                              <a:srgbClr val="B020A9"/>
                            </a:solidFill>
                            <a:latin typeface="Cambria Math" panose="02040503050406030204" pitchFamily="18" charset="0"/>
                          </a:rPr>
                          <m:t>2</m:t>
                        </m:r>
                      </m:den>
                    </m:f>
                    <m:nary>
                      <m:naryPr>
                        <m:chr m:val="∑"/>
                        <m:supHide m:val="on"/>
                        <m:ctrlPr>
                          <a:rPr lang="en-US" sz="1600" b="0" i="1" baseline="0" smtClean="0">
                            <a:solidFill>
                              <a:srgbClr val="B020A9"/>
                            </a:solidFill>
                            <a:latin typeface="Cambria Math" panose="02040503050406030204" pitchFamily="18" charset="0"/>
                          </a:rPr>
                        </m:ctrlPr>
                      </m:naryPr>
                      <m:sub>
                        <m:r>
                          <a:rPr lang="en-US" sz="1600" b="0" i="1" baseline="0" smtClean="0">
                            <a:solidFill>
                              <a:srgbClr val="B020A9"/>
                            </a:solidFill>
                            <a:latin typeface="Cambria Math" panose="02040503050406030204" pitchFamily="18" charset="0"/>
                          </a:rPr>
                          <m:t>𝑖</m:t>
                        </m:r>
                      </m:sub>
                      <m:sup/>
                      <m:e>
                        <m:sSub>
                          <m:sSubPr>
                            <m:ctrlPr>
                              <a:rPr lang="en-US" sz="1600" b="0" i="1" baseline="0" smtClean="0">
                                <a:solidFill>
                                  <a:srgbClr val="B020A9"/>
                                </a:solidFill>
                                <a:latin typeface="Cambria Math" panose="02040503050406030204" pitchFamily="18" charset="0"/>
                              </a:rPr>
                            </m:ctrlPr>
                          </m:sSubPr>
                          <m:e>
                            <m:r>
                              <a:rPr lang="en-US" sz="1600" b="0" i="1" baseline="0" smtClean="0">
                                <a:solidFill>
                                  <a:srgbClr val="B020A9"/>
                                </a:solidFill>
                                <a:latin typeface="Cambria Math" panose="02040503050406030204" pitchFamily="18" charset="0"/>
                              </a:rPr>
                              <m:t>(</m:t>
                            </m:r>
                            <m:r>
                              <a:rPr lang="es-ES" sz="1600" b="0" i="1" baseline="0" smtClean="0">
                                <a:solidFill>
                                  <a:srgbClr val="B020A9"/>
                                </a:solidFill>
                                <a:latin typeface="Cambria Math" panose="02040503050406030204" pitchFamily="18" charset="0"/>
                              </a:rPr>
                              <m:t>h</m:t>
                            </m:r>
                          </m:e>
                          <m:sub>
                            <m:r>
                              <a:rPr lang="en-US" sz="1600" b="0" i="1" baseline="0" smtClean="0">
                                <a:solidFill>
                                  <a:srgbClr val="B020A9"/>
                                </a:solidFill>
                                <a:latin typeface="Cambria Math" panose="02040503050406030204" pitchFamily="18" charset="0"/>
                              </a:rPr>
                              <m:t>𝑖</m:t>
                            </m:r>
                          </m:sub>
                        </m:sSub>
                        <m:r>
                          <a:rPr lang="en-US" sz="1600" b="0" i="1" baseline="0" smtClean="0">
                            <a:solidFill>
                              <a:srgbClr val="B020A9"/>
                            </a:solidFill>
                            <a:latin typeface="Cambria Math" panose="02040503050406030204" pitchFamily="18" charset="0"/>
                          </a:rPr>
                          <m:t>−2</m:t>
                        </m:r>
                        <m:sSub>
                          <m:sSubPr>
                            <m:ctrlPr>
                              <a:rPr lang="en-US" sz="1600" b="0" i="1" baseline="0" smtClean="0">
                                <a:solidFill>
                                  <a:srgbClr val="B020A9"/>
                                </a:solidFill>
                                <a:latin typeface="Cambria Math" panose="02040503050406030204" pitchFamily="18" charset="0"/>
                              </a:rPr>
                            </m:ctrlPr>
                          </m:sSubPr>
                          <m:e>
                            <m:r>
                              <a:rPr lang="en-US" sz="1600" b="0" i="1" baseline="0" smtClean="0">
                                <a:solidFill>
                                  <a:srgbClr val="B020A9"/>
                                </a:solidFill>
                                <a:latin typeface="Cambria Math" panose="02040503050406030204" pitchFamily="18" charset="0"/>
                              </a:rPr>
                              <m:t>𝜃</m:t>
                            </m:r>
                          </m:e>
                          <m:sub>
                            <m:r>
                              <a:rPr lang="en-US" sz="1600" b="0" i="1" baseline="0" smtClean="0">
                                <a:solidFill>
                                  <a:srgbClr val="B020A9"/>
                                </a:solidFill>
                                <a:latin typeface="Cambria Math" panose="02040503050406030204" pitchFamily="18" charset="0"/>
                              </a:rPr>
                              <m:t>𝑖</m:t>
                            </m:r>
                          </m:sub>
                        </m:sSub>
                        <m:r>
                          <a:rPr lang="en-US" sz="1600" b="0" i="1" baseline="0" smtClean="0">
                            <a:solidFill>
                              <a:srgbClr val="B020A9"/>
                            </a:solidFill>
                            <a:latin typeface="Cambria Math" panose="02040503050406030204" pitchFamily="18" charset="0"/>
                          </a:rPr>
                          <m:t>)</m:t>
                        </m:r>
                        <m:sSub>
                          <m:sSubPr>
                            <m:ctrlPr>
                              <a:rPr lang="en-US" sz="1600" b="0" i="1" baseline="0" smtClean="0">
                                <a:solidFill>
                                  <a:srgbClr val="B020A9"/>
                                </a:solidFill>
                                <a:latin typeface="Cambria Math" panose="02040503050406030204" pitchFamily="18" charset="0"/>
                              </a:rPr>
                            </m:ctrlPr>
                          </m:sSubPr>
                          <m:e>
                            <m:r>
                              <a:rPr lang="en-US" sz="1600" b="0" i="1" baseline="0" smtClean="0">
                                <a:solidFill>
                                  <a:srgbClr val="B020A9"/>
                                </a:solidFill>
                                <a:latin typeface="Cambria Math" panose="02040503050406030204" pitchFamily="18" charset="0"/>
                              </a:rPr>
                              <m:t>𝑠</m:t>
                            </m:r>
                          </m:e>
                          <m:sub>
                            <m:r>
                              <a:rPr lang="en-US" sz="1600" b="0" i="1" baseline="0" smtClean="0">
                                <a:solidFill>
                                  <a:srgbClr val="B020A9"/>
                                </a:solidFill>
                                <a:latin typeface="Cambria Math" panose="02040503050406030204" pitchFamily="18" charset="0"/>
                              </a:rPr>
                              <m:t>𝑖</m:t>
                            </m:r>
                          </m:sub>
                        </m:sSub>
                      </m:e>
                    </m:nary>
                    <m:r>
                      <a:rPr lang="en-US" sz="1600" b="0" i="1" baseline="0" smtClean="0">
                        <a:solidFill>
                          <a:srgbClr val="B020A9"/>
                        </a:solidFill>
                        <a:latin typeface="Cambria Math" panose="02040503050406030204" pitchFamily="18" charset="0"/>
                      </a:rPr>
                      <m:t>,</m:t>
                    </m:r>
                    <m:r>
                      <m:rPr>
                        <m:lit/>
                      </m:rPr>
                      <a:rPr lang="en-US" sz="1600" b="0" i="1" baseline="0" smtClean="0">
                        <a:solidFill>
                          <a:srgbClr val="B020A9"/>
                        </a:solidFill>
                        <a:latin typeface="Cambria Math" panose="02040503050406030204" pitchFamily="18" charset="0"/>
                      </a:rPr>
                      <m:t>  </m:t>
                    </m:r>
                    <m:sSub>
                      <m:sSubPr>
                        <m:ctrlPr>
                          <a:rPr lang="en-US" sz="1600" b="0" i="1" baseline="0" smtClean="0">
                            <a:solidFill>
                              <a:srgbClr val="B020A9"/>
                            </a:solidFill>
                            <a:latin typeface="Cambria Math" panose="02040503050406030204" pitchFamily="18" charset="0"/>
                          </a:rPr>
                        </m:ctrlPr>
                      </m:sSubPr>
                      <m:e>
                        <m:r>
                          <a:rPr lang="en-US" sz="1600" b="0" i="1" baseline="0" smtClean="0">
                            <a:solidFill>
                              <a:srgbClr val="B020A9"/>
                            </a:solidFill>
                            <a:latin typeface="Cambria Math" panose="02040503050406030204" pitchFamily="18" charset="0"/>
                          </a:rPr>
                          <m:t>h</m:t>
                        </m:r>
                      </m:e>
                      <m:sub>
                        <m:r>
                          <a:rPr lang="en-US" sz="1600" b="0" i="1" baseline="0" smtClean="0">
                            <a:solidFill>
                              <a:srgbClr val="B020A9"/>
                            </a:solidFill>
                            <a:latin typeface="Cambria Math" panose="02040503050406030204" pitchFamily="18" charset="0"/>
                          </a:rPr>
                          <m:t>𝑖</m:t>
                        </m:r>
                      </m:sub>
                    </m:sSub>
                    <m:r>
                      <a:rPr lang="en-US" sz="1600" b="0" i="1" baseline="0" smtClean="0">
                        <a:solidFill>
                          <a:srgbClr val="B020A9"/>
                        </a:solidFill>
                        <a:latin typeface="Cambria Math" panose="02040503050406030204" pitchFamily="18" charset="0"/>
                      </a:rPr>
                      <m:t>=</m:t>
                    </m:r>
                    <m:nary>
                      <m:naryPr>
                        <m:chr m:val="∑"/>
                        <m:supHide m:val="on"/>
                        <m:ctrlPr>
                          <a:rPr lang="en-US" sz="1600" b="0" i="1" baseline="0" smtClean="0">
                            <a:solidFill>
                              <a:srgbClr val="B020A9"/>
                            </a:solidFill>
                            <a:latin typeface="Cambria Math" panose="02040503050406030204" pitchFamily="18" charset="0"/>
                          </a:rPr>
                        </m:ctrlPr>
                      </m:naryPr>
                      <m:sub>
                        <m:r>
                          <a:rPr lang="en-US" sz="1600" b="0" i="1" baseline="0" smtClean="0">
                            <a:solidFill>
                              <a:srgbClr val="B020A9"/>
                            </a:solidFill>
                            <a:latin typeface="Cambria Math" panose="02040503050406030204" pitchFamily="18" charset="0"/>
                          </a:rPr>
                          <m:t>𝑗</m:t>
                        </m:r>
                      </m:sub>
                      <m:sup/>
                      <m:e>
                        <m:sSub>
                          <m:sSubPr>
                            <m:ctrlPr>
                              <a:rPr lang="en-US" sz="1600" b="0" i="1" baseline="0" smtClean="0">
                                <a:solidFill>
                                  <a:srgbClr val="B020A9"/>
                                </a:solidFill>
                                <a:latin typeface="Cambria Math" panose="02040503050406030204" pitchFamily="18" charset="0"/>
                              </a:rPr>
                            </m:ctrlPr>
                          </m:sSubPr>
                          <m:e>
                            <m:r>
                              <a:rPr lang="en-US" sz="1600" b="0" i="1" baseline="0" smtClean="0">
                                <a:solidFill>
                                  <a:srgbClr val="B020A9"/>
                                </a:solidFill>
                                <a:latin typeface="Cambria Math" panose="02040503050406030204" pitchFamily="18" charset="0"/>
                              </a:rPr>
                              <m:t>𝑤</m:t>
                            </m:r>
                          </m:e>
                          <m:sub>
                            <m:r>
                              <a:rPr lang="en-US" sz="1600" b="0" i="1" baseline="0" smtClean="0">
                                <a:solidFill>
                                  <a:srgbClr val="B020A9"/>
                                </a:solidFill>
                                <a:latin typeface="Cambria Math" panose="02040503050406030204" pitchFamily="18" charset="0"/>
                              </a:rPr>
                              <m:t>𝑖𝑗</m:t>
                            </m:r>
                          </m:sub>
                        </m:sSub>
                        <m:sSub>
                          <m:sSubPr>
                            <m:ctrlPr>
                              <a:rPr lang="en-US" sz="1600" b="0" i="1" baseline="0" smtClean="0">
                                <a:solidFill>
                                  <a:srgbClr val="B020A9"/>
                                </a:solidFill>
                                <a:latin typeface="Cambria Math" panose="02040503050406030204" pitchFamily="18" charset="0"/>
                              </a:rPr>
                            </m:ctrlPr>
                          </m:sSubPr>
                          <m:e>
                            <m:r>
                              <a:rPr lang="en-US" sz="1600" b="0" i="1" baseline="0" smtClean="0">
                                <a:solidFill>
                                  <a:srgbClr val="B020A9"/>
                                </a:solidFill>
                                <a:latin typeface="Cambria Math" panose="02040503050406030204" pitchFamily="18" charset="0"/>
                              </a:rPr>
                              <m:t>𝑠</m:t>
                            </m:r>
                          </m:e>
                          <m:sub>
                            <m:r>
                              <a:rPr lang="en-US" sz="1600" b="0" i="1" baseline="0" smtClean="0">
                                <a:solidFill>
                                  <a:srgbClr val="B020A9"/>
                                </a:solidFill>
                                <a:latin typeface="Cambria Math" panose="02040503050406030204" pitchFamily="18" charset="0"/>
                              </a:rPr>
                              <m:t>𝑗</m:t>
                            </m:r>
                          </m:sub>
                        </m:sSub>
                      </m:e>
                    </m:nary>
                  </m:oMath>
                </a14:m>
                <a:br>
                  <a:rPr lang="en-US" sz="1600" b="0" i="0" u="none" strike="noStrike" baseline="0" dirty="0">
                    <a:latin typeface="LMRoman17-Regular"/>
                  </a:rPr>
                </a:br>
                <a:r>
                  <a:rPr lang="en-US" sz="1600" b="0" i="0" u="none" strike="noStrike" baseline="0" dirty="0" err="1">
                    <a:latin typeface="LMRoman17-Regular"/>
                  </a:rPr>
                  <a:t>donde</a:t>
                </a:r>
                <a:r>
                  <a:rPr lang="en-US" sz="1600" b="0" i="0" u="none" strike="noStrike" baseline="0" dirty="0">
                    <a:latin typeface="LMRoman17-Regular"/>
                  </a:rPr>
                  <a:t> </a:t>
                </a:r>
                <a14:m>
                  <m:oMath xmlns:m="http://schemas.openxmlformats.org/officeDocument/2006/math">
                    <m:sSub>
                      <m:sSubPr>
                        <m:ctrlPr>
                          <a:rPr lang="en-US" sz="1600" b="0" i="1" baseline="0" smtClean="0">
                            <a:latin typeface="Cambria Math" panose="02040503050406030204" pitchFamily="18" charset="0"/>
                          </a:rPr>
                        </m:ctrlPr>
                      </m:sSubPr>
                      <m:e>
                        <m:r>
                          <a:rPr lang="en-US" sz="1600" b="0" i="1" baseline="0" smtClean="0">
                            <a:latin typeface="Cambria Math" panose="02040503050406030204" pitchFamily="18" charset="0"/>
                          </a:rPr>
                          <m:t>h</m:t>
                        </m:r>
                      </m:e>
                      <m:sub>
                        <m:r>
                          <a:rPr lang="en-US" sz="1600" b="0" i="1" baseline="0" smtClean="0">
                            <a:latin typeface="Cambria Math" panose="02040503050406030204" pitchFamily="18" charset="0"/>
                          </a:rPr>
                          <m:t>𝑖</m:t>
                        </m:r>
                      </m:sub>
                    </m:sSub>
                  </m:oMath>
                </a14:m>
                <a:r>
                  <a:rPr lang="es-ES" sz="1600" b="0" i="0" u="none" strike="noStrike" baseline="0" dirty="0">
                    <a:latin typeface="LMRoman17-Regular"/>
                  </a:rPr>
                  <a:t> es el campo local que siente la neurona</a:t>
                </a:r>
                <a:r>
                  <a:rPr lang="es-ES" sz="1600" b="0" i="0" u="none" strike="noStrike" dirty="0">
                    <a:latin typeface="LMRoman17-Regular"/>
                  </a:rPr>
                  <a:t> </a:t>
                </a:r>
                <a14:m>
                  <m:oMath xmlns:m="http://schemas.openxmlformats.org/officeDocument/2006/math">
                    <m:r>
                      <a:rPr lang="en-US" sz="1600" b="0" i="1" baseline="0" smtClean="0">
                        <a:latin typeface="Cambria Math" panose="02040503050406030204" pitchFamily="18" charset="0"/>
                      </a:rPr>
                      <m:t>𝑖</m:t>
                    </m:r>
                  </m:oMath>
                </a14:m>
                <a:r>
                  <a:rPr lang="es-ES" sz="1600" b="0" i="0" u="none" strike="noStrike" baseline="0" dirty="0">
                    <a:latin typeface="LMRoman17-Regular"/>
                  </a:rPr>
                  <a:t>-</a:t>
                </a:r>
                <a:r>
                  <a:rPr lang="es-ES" sz="1600" b="0" i="0" u="none" strike="noStrike" baseline="0" dirty="0" err="1">
                    <a:latin typeface="LMRoman17-Regular"/>
                  </a:rPr>
                  <a:t>ésima</a:t>
                </a:r>
                <a:r>
                  <a:rPr lang="en-US" sz="1600" b="0" i="0" u="none" strike="noStrike" baseline="0" dirty="0">
                    <a:latin typeface="LMRoman17-Regular"/>
                  </a:rPr>
                  <a:t> </a:t>
                </a:r>
                <a:r>
                  <a:rPr lang="en-US" sz="1600" b="0" i="0" u="none" strike="noStrike" baseline="0" dirty="0" err="1">
                    <a:latin typeface="LMRoman17-Regular"/>
                  </a:rPr>
                  <a:t>debido</a:t>
                </a:r>
                <a:r>
                  <a:rPr lang="en-US" sz="1600" b="0" i="0" u="none" strike="noStrike" baseline="0" dirty="0">
                    <a:latin typeface="LMRoman17-Regular"/>
                  </a:rPr>
                  <a:t> a las </a:t>
                </a:r>
                <a:r>
                  <a:rPr lang="en-US" sz="1600" b="0" i="0" u="none" strike="noStrike" baseline="0" dirty="0" err="1">
                    <a:latin typeface="LMRoman17-Regular"/>
                  </a:rPr>
                  <a:t>interacciones</a:t>
                </a:r>
                <a:r>
                  <a:rPr lang="en-US" sz="1600" b="0" i="0" u="none" strike="noStrike" baseline="0" dirty="0">
                    <a:latin typeface="LMRoman17-Regular"/>
                  </a:rPr>
                  <a:t> con sus </a:t>
                </a:r>
                <a:r>
                  <a:rPr lang="en-US" sz="1600" b="0" i="0" u="none" strike="noStrike" baseline="0" dirty="0" err="1">
                    <a:latin typeface="LMRoman17-Regular"/>
                  </a:rPr>
                  <a:t>vecinos</a:t>
                </a:r>
                <a:r>
                  <a:rPr lang="en-US" sz="1600" b="0" i="0" u="none" strike="noStrike" baseline="0" dirty="0">
                    <a:latin typeface="LMRoman17-Regular"/>
                  </a:rPr>
                  <a:t>. </a:t>
                </a:r>
                <a:endParaRPr lang="es-ES" sz="1600" b="0" i="0" u="none" strike="noStrike" dirty="0">
                  <a:latin typeface="LMRoman17-Regular"/>
                </a:endParaRPr>
              </a:p>
            </p:txBody>
          </p:sp>
        </mc:Choice>
        <mc:Fallback xmlns="">
          <p:sp>
            <p:nvSpPr>
              <p:cNvPr id="50" name="CuadroTexto 49">
                <a:extLst>
                  <a:ext uri="{FF2B5EF4-FFF2-40B4-BE49-F238E27FC236}">
                    <a16:creationId xmlns:a16="http://schemas.microsoft.com/office/drawing/2014/main" id="{7FDD9B28-75E5-7BE9-9B4A-001600231F91}"/>
                  </a:ext>
                </a:extLst>
              </p:cNvPr>
              <p:cNvSpPr txBox="1">
                <a:spLocks noRot="1" noChangeAspect="1" noMove="1" noResize="1" noEditPoints="1" noAdjustHandles="1" noChangeArrowheads="1" noChangeShapeType="1" noTextEdit="1"/>
              </p:cNvSpPr>
              <p:nvPr/>
            </p:nvSpPr>
            <p:spPr>
              <a:xfrm>
                <a:off x="5771617" y="964482"/>
                <a:ext cx="6182880" cy="5896294"/>
              </a:xfrm>
              <a:prstGeom prst="rect">
                <a:avLst/>
              </a:prstGeom>
              <a:blipFill>
                <a:blip r:embed="rId2"/>
                <a:stretch>
                  <a:fillRect l="-394" t="-310"/>
                </a:stretch>
              </a:blipFill>
            </p:spPr>
            <p:txBody>
              <a:bodyPr/>
              <a:lstStyle/>
              <a:p>
                <a:r>
                  <a:rPr lang="es-ES">
                    <a:noFill/>
                  </a:rPr>
                  <a:t> </a:t>
                </a:r>
              </a:p>
            </p:txBody>
          </p:sp>
        </mc:Fallback>
      </mc:AlternateContent>
      <p:grpSp>
        <p:nvGrpSpPr>
          <p:cNvPr id="58" name="Grupo 57">
            <a:extLst>
              <a:ext uri="{FF2B5EF4-FFF2-40B4-BE49-F238E27FC236}">
                <a16:creationId xmlns:a16="http://schemas.microsoft.com/office/drawing/2014/main" id="{0ED5C1D3-0CED-EFBB-9A65-3389C9638282}"/>
              </a:ext>
            </a:extLst>
          </p:cNvPr>
          <p:cNvGrpSpPr/>
          <p:nvPr/>
        </p:nvGrpSpPr>
        <p:grpSpPr>
          <a:xfrm>
            <a:off x="102641" y="1555352"/>
            <a:ext cx="5328704" cy="4067916"/>
            <a:chOff x="174359" y="1958764"/>
            <a:chExt cx="5328704" cy="4067916"/>
          </a:xfrm>
        </p:grpSpPr>
        <p:sp>
          <p:nvSpPr>
            <p:cNvPr id="15" name="Heptágono 14">
              <a:extLst>
                <a:ext uri="{FF2B5EF4-FFF2-40B4-BE49-F238E27FC236}">
                  <a16:creationId xmlns:a16="http://schemas.microsoft.com/office/drawing/2014/main" id="{E508074D-AB87-A70F-663B-CFA965542996}"/>
                </a:ext>
              </a:extLst>
            </p:cNvPr>
            <p:cNvSpPr/>
            <p:nvPr/>
          </p:nvSpPr>
          <p:spPr>
            <a:xfrm rot="2078317">
              <a:off x="1047974" y="2074467"/>
              <a:ext cx="3612777" cy="3612777"/>
            </a:xfrm>
            <a:prstGeom prst="heptagon">
              <a:avLst/>
            </a:prstGeom>
            <a:no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0" name="Conector recto 19">
              <a:extLst>
                <a:ext uri="{FF2B5EF4-FFF2-40B4-BE49-F238E27FC236}">
                  <a16:creationId xmlns:a16="http://schemas.microsoft.com/office/drawing/2014/main" id="{4B998B5D-8B5D-2A89-5374-54B3B7D22E20}"/>
                </a:ext>
              </a:extLst>
            </p:cNvPr>
            <p:cNvCxnSpPr>
              <a:cxnSpLocks/>
              <a:stCxn id="15" idx="4"/>
            </p:cNvCxnSpPr>
            <p:nvPr/>
          </p:nvCxnSpPr>
          <p:spPr>
            <a:xfrm>
              <a:off x="1074274" y="3279476"/>
              <a:ext cx="1400727" cy="2536115"/>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77648BDA-5E20-DC13-C4AB-9C25CAE2F327}"/>
                </a:ext>
              </a:extLst>
            </p:cNvPr>
            <p:cNvCxnSpPr>
              <a:cxnSpLocks/>
              <a:stCxn id="15" idx="4"/>
              <a:endCxn id="15" idx="1"/>
            </p:cNvCxnSpPr>
            <p:nvPr/>
          </p:nvCxnSpPr>
          <p:spPr>
            <a:xfrm>
              <a:off x="1074274" y="3279476"/>
              <a:ext cx="2972439" cy="2053507"/>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B90D3A24-B281-2ABC-CB8D-441F7A6BE020}"/>
                </a:ext>
              </a:extLst>
            </p:cNvPr>
            <p:cNvCxnSpPr>
              <a:cxnSpLocks/>
              <a:stCxn id="15" idx="4"/>
              <a:endCxn id="15" idx="0"/>
            </p:cNvCxnSpPr>
            <p:nvPr/>
          </p:nvCxnSpPr>
          <p:spPr>
            <a:xfrm>
              <a:off x="1074274" y="3279476"/>
              <a:ext cx="3591966" cy="527284"/>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BE647002-5722-401C-D793-C9DFB0211CAA}"/>
                </a:ext>
              </a:extLst>
            </p:cNvPr>
            <p:cNvCxnSpPr>
              <a:cxnSpLocks/>
              <a:stCxn id="15" idx="4"/>
              <a:endCxn id="15" idx="6"/>
            </p:cNvCxnSpPr>
            <p:nvPr/>
          </p:nvCxnSpPr>
          <p:spPr>
            <a:xfrm flipV="1">
              <a:off x="1074274" y="2394643"/>
              <a:ext cx="2806837" cy="884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87A77B0F-2ADB-36B6-8477-B4F9C19E1E76}"/>
                </a:ext>
              </a:extLst>
            </p:cNvPr>
            <p:cNvCxnSpPr>
              <a:cxnSpLocks/>
              <a:stCxn id="15" idx="5"/>
              <a:endCxn id="15" idx="3"/>
            </p:cNvCxnSpPr>
            <p:nvPr/>
          </p:nvCxnSpPr>
          <p:spPr>
            <a:xfrm flipH="1">
              <a:off x="1166180" y="2159982"/>
              <a:ext cx="1116358" cy="275015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8BC9E12B-D6FB-91D9-9DDA-6253BF4C2FA1}"/>
                </a:ext>
              </a:extLst>
            </p:cNvPr>
            <p:cNvCxnSpPr>
              <a:cxnSpLocks/>
              <a:stCxn id="15" idx="5"/>
              <a:endCxn id="15" idx="2"/>
            </p:cNvCxnSpPr>
            <p:nvPr/>
          </p:nvCxnSpPr>
          <p:spPr>
            <a:xfrm>
              <a:off x="2282538" y="2159982"/>
              <a:ext cx="206489" cy="3664045"/>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Conector recto 32">
              <a:extLst>
                <a:ext uri="{FF2B5EF4-FFF2-40B4-BE49-F238E27FC236}">
                  <a16:creationId xmlns:a16="http://schemas.microsoft.com/office/drawing/2014/main" id="{6E5A390D-E17E-31BC-195E-96DE5246F19A}"/>
                </a:ext>
              </a:extLst>
            </p:cNvPr>
            <p:cNvCxnSpPr>
              <a:cxnSpLocks/>
              <a:stCxn id="15" idx="5"/>
              <a:endCxn id="15" idx="1"/>
            </p:cNvCxnSpPr>
            <p:nvPr/>
          </p:nvCxnSpPr>
          <p:spPr>
            <a:xfrm>
              <a:off x="2282538" y="2159982"/>
              <a:ext cx="1764175" cy="3173001"/>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0DAA4980-F751-1BD8-08CE-92CACF5B9814}"/>
                </a:ext>
              </a:extLst>
            </p:cNvPr>
            <p:cNvCxnSpPr>
              <a:cxnSpLocks/>
              <a:stCxn id="15" idx="5"/>
              <a:endCxn id="15" idx="0"/>
            </p:cNvCxnSpPr>
            <p:nvPr/>
          </p:nvCxnSpPr>
          <p:spPr>
            <a:xfrm>
              <a:off x="2282538" y="2159982"/>
              <a:ext cx="2383702" cy="1646778"/>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Conector recto 36">
              <a:extLst>
                <a:ext uri="{FF2B5EF4-FFF2-40B4-BE49-F238E27FC236}">
                  <a16:creationId xmlns:a16="http://schemas.microsoft.com/office/drawing/2014/main" id="{D6264513-248B-B2ED-765B-8C94D22B3E40}"/>
                </a:ext>
              </a:extLst>
            </p:cNvPr>
            <p:cNvCxnSpPr>
              <a:cxnSpLocks/>
              <a:stCxn id="15" idx="6"/>
              <a:endCxn id="15" idx="3"/>
            </p:cNvCxnSpPr>
            <p:nvPr/>
          </p:nvCxnSpPr>
          <p:spPr>
            <a:xfrm flipH="1">
              <a:off x="1166180" y="2394643"/>
              <a:ext cx="2714931" cy="251549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Conector recto 38">
              <a:extLst>
                <a:ext uri="{FF2B5EF4-FFF2-40B4-BE49-F238E27FC236}">
                  <a16:creationId xmlns:a16="http://schemas.microsoft.com/office/drawing/2014/main" id="{5E846D80-E9CC-B11A-4311-ABAA25BB1F6F}"/>
                </a:ext>
              </a:extLst>
            </p:cNvPr>
            <p:cNvCxnSpPr>
              <a:cxnSpLocks/>
              <a:stCxn id="15" idx="6"/>
              <a:endCxn id="15" idx="2"/>
            </p:cNvCxnSpPr>
            <p:nvPr/>
          </p:nvCxnSpPr>
          <p:spPr>
            <a:xfrm flipH="1">
              <a:off x="2489027" y="2394643"/>
              <a:ext cx="1392084" cy="3429384"/>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ector recto 40">
              <a:extLst>
                <a:ext uri="{FF2B5EF4-FFF2-40B4-BE49-F238E27FC236}">
                  <a16:creationId xmlns:a16="http://schemas.microsoft.com/office/drawing/2014/main" id="{224B81B6-01A0-5138-2E69-FE3EC7856F57}"/>
                </a:ext>
              </a:extLst>
            </p:cNvPr>
            <p:cNvCxnSpPr>
              <a:cxnSpLocks/>
              <a:stCxn id="15" idx="6"/>
              <a:endCxn id="15" idx="1"/>
            </p:cNvCxnSpPr>
            <p:nvPr/>
          </p:nvCxnSpPr>
          <p:spPr>
            <a:xfrm>
              <a:off x="3881111" y="2394643"/>
              <a:ext cx="165602" cy="293834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952F7D54-7838-6FFF-67F2-B3E7E6C0890D}"/>
                </a:ext>
              </a:extLst>
            </p:cNvPr>
            <p:cNvCxnSpPr>
              <a:cxnSpLocks/>
              <a:stCxn id="15" idx="0"/>
              <a:endCxn id="15" idx="3"/>
            </p:cNvCxnSpPr>
            <p:nvPr/>
          </p:nvCxnSpPr>
          <p:spPr>
            <a:xfrm flipH="1">
              <a:off x="1166180" y="3806760"/>
              <a:ext cx="3500060" cy="110338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Conector recto 44">
              <a:extLst>
                <a:ext uri="{FF2B5EF4-FFF2-40B4-BE49-F238E27FC236}">
                  <a16:creationId xmlns:a16="http://schemas.microsoft.com/office/drawing/2014/main" id="{303661C8-3B26-2D7C-B327-65D5B58860BA}"/>
                </a:ext>
              </a:extLst>
            </p:cNvPr>
            <p:cNvCxnSpPr>
              <a:cxnSpLocks/>
              <a:stCxn id="15" idx="0"/>
              <a:endCxn id="15" idx="2"/>
            </p:cNvCxnSpPr>
            <p:nvPr/>
          </p:nvCxnSpPr>
          <p:spPr>
            <a:xfrm flipH="1">
              <a:off x="2489027" y="3806760"/>
              <a:ext cx="2177213" cy="2017267"/>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Conector recto 46">
              <a:extLst>
                <a:ext uri="{FF2B5EF4-FFF2-40B4-BE49-F238E27FC236}">
                  <a16:creationId xmlns:a16="http://schemas.microsoft.com/office/drawing/2014/main" id="{AC7F7CB1-4A26-75E6-4216-B0B91E15883F}"/>
                </a:ext>
              </a:extLst>
            </p:cNvPr>
            <p:cNvCxnSpPr>
              <a:cxnSpLocks/>
              <a:stCxn id="15" idx="1"/>
              <a:endCxn id="15" idx="3"/>
            </p:cNvCxnSpPr>
            <p:nvPr/>
          </p:nvCxnSpPr>
          <p:spPr>
            <a:xfrm flipH="1" flipV="1">
              <a:off x="1166180" y="4910140"/>
              <a:ext cx="2880533" cy="422843"/>
            </a:xfrm>
            <a:prstGeom prst="line">
              <a:avLst/>
            </a:prstGeom>
          </p:spPr>
          <p:style>
            <a:lnRef idx="1">
              <a:schemeClr val="accent1"/>
            </a:lnRef>
            <a:fillRef idx="0">
              <a:schemeClr val="accent1"/>
            </a:fillRef>
            <a:effectRef idx="0">
              <a:schemeClr val="accent1"/>
            </a:effectRef>
            <a:fontRef idx="minor">
              <a:schemeClr val="tx1"/>
            </a:fontRef>
          </p:style>
        </p:cxnSp>
        <p:sp>
          <p:nvSpPr>
            <p:cNvPr id="5" name="Elipse 4">
              <a:extLst>
                <a:ext uri="{FF2B5EF4-FFF2-40B4-BE49-F238E27FC236}">
                  <a16:creationId xmlns:a16="http://schemas.microsoft.com/office/drawing/2014/main" id="{F66DCBFE-937B-C1A8-DEB0-E63E1C4F2156}"/>
                </a:ext>
              </a:extLst>
            </p:cNvPr>
            <p:cNvSpPr/>
            <p:nvPr/>
          </p:nvSpPr>
          <p:spPr>
            <a:xfrm>
              <a:off x="805928" y="3045733"/>
              <a:ext cx="475130" cy="47513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Elipse 7">
              <a:extLst>
                <a:ext uri="{FF2B5EF4-FFF2-40B4-BE49-F238E27FC236}">
                  <a16:creationId xmlns:a16="http://schemas.microsoft.com/office/drawing/2014/main" id="{3867E264-3EF3-C429-0C18-4A7792B058EC}"/>
                </a:ext>
              </a:extLst>
            </p:cNvPr>
            <p:cNvSpPr/>
            <p:nvPr/>
          </p:nvSpPr>
          <p:spPr>
            <a:xfrm>
              <a:off x="2058143" y="1958764"/>
              <a:ext cx="475130" cy="47513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Elipse 8">
              <a:extLst>
                <a:ext uri="{FF2B5EF4-FFF2-40B4-BE49-F238E27FC236}">
                  <a16:creationId xmlns:a16="http://schemas.microsoft.com/office/drawing/2014/main" id="{0663E0F6-1F95-8276-A59A-4EDD5F082B9F}"/>
                </a:ext>
              </a:extLst>
            </p:cNvPr>
            <p:cNvSpPr/>
            <p:nvPr/>
          </p:nvSpPr>
          <p:spPr>
            <a:xfrm>
              <a:off x="3712733" y="2191851"/>
              <a:ext cx="475130" cy="47513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Elipse 9">
              <a:extLst>
                <a:ext uri="{FF2B5EF4-FFF2-40B4-BE49-F238E27FC236}">
                  <a16:creationId xmlns:a16="http://schemas.microsoft.com/office/drawing/2014/main" id="{5601C4A7-078B-C495-3D79-3D364DE06581}"/>
                </a:ext>
              </a:extLst>
            </p:cNvPr>
            <p:cNvSpPr/>
            <p:nvPr/>
          </p:nvSpPr>
          <p:spPr>
            <a:xfrm>
              <a:off x="4387327" y="3562626"/>
              <a:ext cx="475130" cy="47513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Elipse 10">
              <a:extLst>
                <a:ext uri="{FF2B5EF4-FFF2-40B4-BE49-F238E27FC236}">
                  <a16:creationId xmlns:a16="http://schemas.microsoft.com/office/drawing/2014/main" id="{63985A75-727B-129B-4BB6-59ACBF393BA9}"/>
                </a:ext>
              </a:extLst>
            </p:cNvPr>
            <p:cNvSpPr/>
            <p:nvPr/>
          </p:nvSpPr>
          <p:spPr>
            <a:xfrm>
              <a:off x="3759799" y="5090667"/>
              <a:ext cx="475130" cy="47513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Elipse 11">
              <a:extLst>
                <a:ext uri="{FF2B5EF4-FFF2-40B4-BE49-F238E27FC236}">
                  <a16:creationId xmlns:a16="http://schemas.microsoft.com/office/drawing/2014/main" id="{6CE695F5-4A57-7968-AE56-D45DF1E5AB34}"/>
                </a:ext>
              </a:extLst>
            </p:cNvPr>
            <p:cNvSpPr/>
            <p:nvPr/>
          </p:nvSpPr>
          <p:spPr>
            <a:xfrm>
              <a:off x="2237436" y="5551550"/>
              <a:ext cx="475130" cy="47513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Elipse 12">
              <a:extLst>
                <a:ext uri="{FF2B5EF4-FFF2-40B4-BE49-F238E27FC236}">
                  <a16:creationId xmlns:a16="http://schemas.microsoft.com/office/drawing/2014/main" id="{365D9CE7-50B7-17CA-379A-D0C093798565}"/>
                </a:ext>
              </a:extLst>
            </p:cNvPr>
            <p:cNvSpPr/>
            <p:nvPr/>
          </p:nvSpPr>
          <p:spPr>
            <a:xfrm>
              <a:off x="931434" y="4620859"/>
              <a:ext cx="475130" cy="47513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51" name="CuadroTexto 50">
                  <a:extLst>
                    <a:ext uri="{FF2B5EF4-FFF2-40B4-BE49-F238E27FC236}">
                      <a16:creationId xmlns:a16="http://schemas.microsoft.com/office/drawing/2014/main" id="{E0AD2E44-4A66-3029-D3C4-39C707DFF96C}"/>
                    </a:ext>
                  </a:extLst>
                </p:cNvPr>
                <p:cNvSpPr txBox="1"/>
                <p:nvPr/>
              </p:nvSpPr>
              <p:spPr>
                <a:xfrm>
                  <a:off x="4252860" y="2228751"/>
                  <a:ext cx="88447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oMath>
                    </m:oMathPara>
                  </a14:m>
                  <a:endParaRPr lang="es-ES" dirty="0"/>
                </a:p>
              </p:txBody>
            </p:sp>
          </mc:Choice>
          <mc:Fallback xmlns="">
            <p:sp>
              <p:nvSpPr>
                <p:cNvPr id="51" name="CuadroTexto 50">
                  <a:extLst>
                    <a:ext uri="{FF2B5EF4-FFF2-40B4-BE49-F238E27FC236}">
                      <a16:creationId xmlns:a16="http://schemas.microsoft.com/office/drawing/2014/main" id="{E0AD2E44-4A66-3029-D3C4-39C707DFF96C}"/>
                    </a:ext>
                  </a:extLst>
                </p:cNvPr>
                <p:cNvSpPr txBox="1">
                  <a:spLocks noRot="1" noChangeAspect="1" noMove="1" noResize="1" noEditPoints="1" noAdjustHandles="1" noChangeArrowheads="1" noChangeShapeType="1" noTextEdit="1"/>
                </p:cNvSpPr>
                <p:nvPr/>
              </p:nvSpPr>
              <p:spPr>
                <a:xfrm>
                  <a:off x="4252860" y="2228751"/>
                  <a:ext cx="884473" cy="276999"/>
                </a:xfrm>
                <a:prstGeom prst="rect">
                  <a:avLst/>
                </a:prstGeom>
                <a:blipFill>
                  <a:blip r:embed="rId3"/>
                  <a:stretch>
                    <a:fillRect l="-3448" r="-5517" b="-652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2" name="CuadroTexto 51">
                  <a:extLst>
                    <a:ext uri="{FF2B5EF4-FFF2-40B4-BE49-F238E27FC236}">
                      <a16:creationId xmlns:a16="http://schemas.microsoft.com/office/drawing/2014/main" id="{A084DB9B-C43B-8EF5-C6A7-E659FA1C6342}"/>
                    </a:ext>
                  </a:extLst>
                </p:cNvPr>
                <p:cNvSpPr txBox="1"/>
                <p:nvPr/>
              </p:nvSpPr>
              <p:spPr>
                <a:xfrm>
                  <a:off x="4618590" y="4099907"/>
                  <a:ext cx="88447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=1</m:t>
                        </m:r>
                      </m:oMath>
                    </m:oMathPara>
                  </a14:m>
                  <a:endParaRPr lang="es-ES" dirty="0"/>
                </a:p>
              </p:txBody>
            </p:sp>
          </mc:Choice>
          <mc:Fallback xmlns="">
            <p:sp>
              <p:nvSpPr>
                <p:cNvPr id="52" name="CuadroTexto 51">
                  <a:extLst>
                    <a:ext uri="{FF2B5EF4-FFF2-40B4-BE49-F238E27FC236}">
                      <a16:creationId xmlns:a16="http://schemas.microsoft.com/office/drawing/2014/main" id="{A084DB9B-C43B-8EF5-C6A7-E659FA1C6342}"/>
                    </a:ext>
                  </a:extLst>
                </p:cNvPr>
                <p:cNvSpPr txBox="1">
                  <a:spLocks noRot="1" noChangeAspect="1" noMove="1" noResize="1" noEditPoints="1" noAdjustHandles="1" noChangeArrowheads="1" noChangeShapeType="1" noTextEdit="1"/>
                </p:cNvSpPr>
                <p:nvPr/>
              </p:nvSpPr>
              <p:spPr>
                <a:xfrm>
                  <a:off x="4618590" y="4099907"/>
                  <a:ext cx="884473" cy="276999"/>
                </a:xfrm>
                <a:prstGeom prst="rect">
                  <a:avLst/>
                </a:prstGeom>
                <a:blipFill>
                  <a:blip r:embed="rId4"/>
                  <a:stretch>
                    <a:fillRect l="-3448" r="-5517" b="-652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3" name="CuadroTexto 52">
                  <a:extLst>
                    <a:ext uri="{FF2B5EF4-FFF2-40B4-BE49-F238E27FC236}">
                      <a16:creationId xmlns:a16="http://schemas.microsoft.com/office/drawing/2014/main" id="{BD7DA9D5-CFE9-2085-F26F-6AFD36529916}"/>
                    </a:ext>
                  </a:extLst>
                </p:cNvPr>
                <p:cNvSpPr txBox="1"/>
                <p:nvPr/>
              </p:nvSpPr>
              <p:spPr>
                <a:xfrm>
                  <a:off x="3858052" y="5627948"/>
                  <a:ext cx="756233" cy="276999"/>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2</m:t>
                          </m:r>
                        </m:e>
                      </m:d>
                      <m:r>
                        <a:rPr lang="en-US" b="0" i="1" smtClean="0">
                          <a:latin typeface="Cambria Math" panose="02040503050406030204" pitchFamily="18" charset="0"/>
                        </a:rPr>
                        <m:t>=</m:t>
                      </m:r>
                    </m:oMath>
                  </a14:m>
                  <a:r>
                    <a:rPr lang="es-ES" dirty="0"/>
                    <a:t>0</a:t>
                  </a:r>
                </a:p>
              </p:txBody>
            </p:sp>
          </mc:Choice>
          <mc:Fallback xmlns="">
            <p:sp>
              <p:nvSpPr>
                <p:cNvPr id="53" name="CuadroTexto 52">
                  <a:extLst>
                    <a:ext uri="{FF2B5EF4-FFF2-40B4-BE49-F238E27FC236}">
                      <a16:creationId xmlns:a16="http://schemas.microsoft.com/office/drawing/2014/main" id="{BD7DA9D5-CFE9-2085-F26F-6AFD36529916}"/>
                    </a:ext>
                  </a:extLst>
                </p:cNvPr>
                <p:cNvSpPr txBox="1">
                  <a:spLocks noRot="1" noChangeAspect="1" noMove="1" noResize="1" noEditPoints="1" noAdjustHandles="1" noChangeArrowheads="1" noChangeShapeType="1" noTextEdit="1"/>
                </p:cNvSpPr>
                <p:nvPr/>
              </p:nvSpPr>
              <p:spPr>
                <a:xfrm>
                  <a:off x="3858052" y="5627948"/>
                  <a:ext cx="756233" cy="276999"/>
                </a:xfrm>
                <a:prstGeom prst="rect">
                  <a:avLst/>
                </a:prstGeom>
                <a:blipFill>
                  <a:blip r:embed="rId5"/>
                  <a:stretch>
                    <a:fillRect l="-8065" t="-28889" r="-18548" b="-53333"/>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4" name="CuadroTexto 53">
                  <a:extLst>
                    <a:ext uri="{FF2B5EF4-FFF2-40B4-BE49-F238E27FC236}">
                      <a16:creationId xmlns:a16="http://schemas.microsoft.com/office/drawing/2014/main" id="{B52883E8-6B12-50D0-79C8-FF80CFF496E9}"/>
                    </a:ext>
                  </a:extLst>
                </p:cNvPr>
                <p:cNvSpPr txBox="1"/>
                <p:nvPr/>
              </p:nvSpPr>
              <p:spPr>
                <a:xfrm>
                  <a:off x="1239314" y="5698195"/>
                  <a:ext cx="756233" cy="276999"/>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3</m:t>
                          </m:r>
                        </m:e>
                      </m:d>
                      <m:r>
                        <a:rPr lang="en-US" b="0" i="1" smtClean="0">
                          <a:latin typeface="Cambria Math" panose="02040503050406030204" pitchFamily="18" charset="0"/>
                        </a:rPr>
                        <m:t>=</m:t>
                      </m:r>
                    </m:oMath>
                  </a14:m>
                  <a:r>
                    <a:rPr lang="es-ES" dirty="0"/>
                    <a:t>0</a:t>
                  </a:r>
                </a:p>
              </p:txBody>
            </p:sp>
          </mc:Choice>
          <mc:Fallback xmlns="">
            <p:sp>
              <p:nvSpPr>
                <p:cNvPr id="54" name="CuadroTexto 53">
                  <a:extLst>
                    <a:ext uri="{FF2B5EF4-FFF2-40B4-BE49-F238E27FC236}">
                      <a16:creationId xmlns:a16="http://schemas.microsoft.com/office/drawing/2014/main" id="{B52883E8-6B12-50D0-79C8-FF80CFF496E9}"/>
                    </a:ext>
                  </a:extLst>
                </p:cNvPr>
                <p:cNvSpPr txBox="1">
                  <a:spLocks noRot="1" noChangeAspect="1" noMove="1" noResize="1" noEditPoints="1" noAdjustHandles="1" noChangeArrowheads="1" noChangeShapeType="1" noTextEdit="1"/>
                </p:cNvSpPr>
                <p:nvPr/>
              </p:nvSpPr>
              <p:spPr>
                <a:xfrm>
                  <a:off x="1239314" y="5698195"/>
                  <a:ext cx="756233" cy="276999"/>
                </a:xfrm>
                <a:prstGeom prst="rect">
                  <a:avLst/>
                </a:prstGeom>
                <a:blipFill>
                  <a:blip r:embed="rId6"/>
                  <a:stretch>
                    <a:fillRect l="-8065" t="-28889" r="-17742" b="-511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5" name="CuadroTexto 54">
                  <a:extLst>
                    <a:ext uri="{FF2B5EF4-FFF2-40B4-BE49-F238E27FC236}">
                      <a16:creationId xmlns:a16="http://schemas.microsoft.com/office/drawing/2014/main" id="{38AD143C-2D36-6D95-AEEB-74B6EDA04469}"/>
                    </a:ext>
                  </a:extLst>
                </p:cNvPr>
                <p:cNvSpPr txBox="1"/>
                <p:nvPr/>
              </p:nvSpPr>
              <p:spPr>
                <a:xfrm>
                  <a:off x="220970" y="5108102"/>
                  <a:ext cx="88447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4</m:t>
                            </m:r>
                          </m:e>
                        </m:d>
                        <m:r>
                          <a:rPr lang="en-US" b="0" i="1" smtClean="0">
                            <a:latin typeface="Cambria Math" panose="02040503050406030204" pitchFamily="18" charset="0"/>
                          </a:rPr>
                          <m:t>=1</m:t>
                        </m:r>
                      </m:oMath>
                    </m:oMathPara>
                  </a14:m>
                  <a:endParaRPr lang="es-ES" dirty="0"/>
                </a:p>
              </p:txBody>
            </p:sp>
          </mc:Choice>
          <mc:Fallback xmlns="">
            <p:sp>
              <p:nvSpPr>
                <p:cNvPr id="55" name="CuadroTexto 54">
                  <a:extLst>
                    <a:ext uri="{FF2B5EF4-FFF2-40B4-BE49-F238E27FC236}">
                      <a16:creationId xmlns:a16="http://schemas.microsoft.com/office/drawing/2014/main" id="{38AD143C-2D36-6D95-AEEB-74B6EDA04469}"/>
                    </a:ext>
                  </a:extLst>
                </p:cNvPr>
                <p:cNvSpPr txBox="1">
                  <a:spLocks noRot="1" noChangeAspect="1" noMove="1" noResize="1" noEditPoints="1" noAdjustHandles="1" noChangeArrowheads="1" noChangeShapeType="1" noTextEdit="1"/>
                </p:cNvSpPr>
                <p:nvPr/>
              </p:nvSpPr>
              <p:spPr>
                <a:xfrm>
                  <a:off x="220970" y="5108102"/>
                  <a:ext cx="884473" cy="276999"/>
                </a:xfrm>
                <a:prstGeom prst="rect">
                  <a:avLst/>
                </a:prstGeom>
                <a:blipFill>
                  <a:blip r:embed="rId7"/>
                  <a:stretch>
                    <a:fillRect l="-3425" r="-5479" b="-6667"/>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6" name="CuadroTexto 55">
                  <a:extLst>
                    <a:ext uri="{FF2B5EF4-FFF2-40B4-BE49-F238E27FC236}">
                      <a16:creationId xmlns:a16="http://schemas.microsoft.com/office/drawing/2014/main" id="{F4CAAA36-77BA-1853-9B1C-9436C2FCC113}"/>
                    </a:ext>
                  </a:extLst>
                </p:cNvPr>
                <p:cNvSpPr txBox="1"/>
                <p:nvPr/>
              </p:nvSpPr>
              <p:spPr>
                <a:xfrm>
                  <a:off x="174359" y="3520863"/>
                  <a:ext cx="88447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5</m:t>
                            </m:r>
                          </m:e>
                        </m:d>
                        <m:r>
                          <a:rPr lang="en-US" b="0" i="1" smtClean="0">
                            <a:latin typeface="Cambria Math" panose="02040503050406030204" pitchFamily="18" charset="0"/>
                          </a:rPr>
                          <m:t>=1</m:t>
                        </m:r>
                      </m:oMath>
                    </m:oMathPara>
                  </a14:m>
                  <a:endParaRPr lang="es-ES" dirty="0"/>
                </a:p>
              </p:txBody>
            </p:sp>
          </mc:Choice>
          <mc:Fallback xmlns="">
            <p:sp>
              <p:nvSpPr>
                <p:cNvPr id="56" name="CuadroTexto 55">
                  <a:extLst>
                    <a:ext uri="{FF2B5EF4-FFF2-40B4-BE49-F238E27FC236}">
                      <a16:creationId xmlns:a16="http://schemas.microsoft.com/office/drawing/2014/main" id="{F4CAAA36-77BA-1853-9B1C-9436C2FCC113}"/>
                    </a:ext>
                  </a:extLst>
                </p:cNvPr>
                <p:cNvSpPr txBox="1">
                  <a:spLocks noRot="1" noChangeAspect="1" noMove="1" noResize="1" noEditPoints="1" noAdjustHandles="1" noChangeArrowheads="1" noChangeShapeType="1" noTextEdit="1"/>
                </p:cNvSpPr>
                <p:nvPr/>
              </p:nvSpPr>
              <p:spPr>
                <a:xfrm>
                  <a:off x="174359" y="3520863"/>
                  <a:ext cx="884473" cy="276999"/>
                </a:xfrm>
                <a:prstGeom prst="rect">
                  <a:avLst/>
                </a:prstGeom>
                <a:blipFill>
                  <a:blip r:embed="rId8"/>
                  <a:stretch>
                    <a:fillRect l="-3448" r="-5517" b="-652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7" name="CuadroTexto 56">
                  <a:extLst>
                    <a:ext uri="{FF2B5EF4-FFF2-40B4-BE49-F238E27FC236}">
                      <a16:creationId xmlns:a16="http://schemas.microsoft.com/office/drawing/2014/main" id="{91F9FF53-2CC2-2B7D-9FF2-1EBE5F27F4C2}"/>
                    </a:ext>
                  </a:extLst>
                </p:cNvPr>
                <p:cNvSpPr txBox="1"/>
                <p:nvPr/>
              </p:nvSpPr>
              <p:spPr>
                <a:xfrm>
                  <a:off x="1122297" y="2037576"/>
                  <a:ext cx="88447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6</m:t>
                            </m:r>
                          </m:e>
                        </m:d>
                        <m:r>
                          <a:rPr lang="en-US" b="0" i="1" smtClean="0">
                            <a:latin typeface="Cambria Math" panose="02040503050406030204" pitchFamily="18" charset="0"/>
                          </a:rPr>
                          <m:t>=0</m:t>
                        </m:r>
                      </m:oMath>
                    </m:oMathPara>
                  </a14:m>
                  <a:endParaRPr lang="es-ES" dirty="0"/>
                </a:p>
              </p:txBody>
            </p:sp>
          </mc:Choice>
          <mc:Fallback xmlns="">
            <p:sp>
              <p:nvSpPr>
                <p:cNvPr id="57" name="CuadroTexto 56">
                  <a:extLst>
                    <a:ext uri="{FF2B5EF4-FFF2-40B4-BE49-F238E27FC236}">
                      <a16:creationId xmlns:a16="http://schemas.microsoft.com/office/drawing/2014/main" id="{91F9FF53-2CC2-2B7D-9FF2-1EBE5F27F4C2}"/>
                    </a:ext>
                  </a:extLst>
                </p:cNvPr>
                <p:cNvSpPr txBox="1">
                  <a:spLocks noRot="1" noChangeAspect="1" noMove="1" noResize="1" noEditPoints="1" noAdjustHandles="1" noChangeArrowheads="1" noChangeShapeType="1" noTextEdit="1"/>
                </p:cNvSpPr>
                <p:nvPr/>
              </p:nvSpPr>
              <p:spPr>
                <a:xfrm>
                  <a:off x="1122297" y="2037576"/>
                  <a:ext cx="884473" cy="276999"/>
                </a:xfrm>
                <a:prstGeom prst="rect">
                  <a:avLst/>
                </a:prstGeom>
                <a:blipFill>
                  <a:blip r:embed="rId9"/>
                  <a:stretch>
                    <a:fillRect l="-3448" r="-6207" b="-6522"/>
                  </a:stretch>
                </a:blipFill>
              </p:spPr>
              <p:txBody>
                <a:bodyPr/>
                <a:lstStyle/>
                <a:p>
                  <a:r>
                    <a:rPr lang="es-ES">
                      <a:noFill/>
                    </a:rPr>
                    <a:t> </a:t>
                  </a:r>
                </a:p>
              </p:txBody>
            </p:sp>
          </mc:Fallback>
        </mc:AlternateContent>
      </p:grpSp>
    </p:spTree>
    <p:extLst>
      <p:ext uri="{BB962C8B-B14F-4D97-AF65-F5344CB8AC3E}">
        <p14:creationId xmlns:p14="http://schemas.microsoft.com/office/powerpoint/2010/main" val="2955288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73EC0FB-F5C3-87E5-9EF4-BAD6A7AB2386}"/>
                  </a:ext>
                </a:extLst>
              </p:cNvPr>
              <p:cNvSpPr>
                <a:spLocks noGrp="1"/>
              </p:cNvSpPr>
              <p:nvPr>
                <p:ph idx="1"/>
              </p:nvPr>
            </p:nvSpPr>
            <p:spPr>
              <a:xfrm>
                <a:off x="119069" y="1121344"/>
                <a:ext cx="6423212" cy="2582539"/>
              </a:xfrm>
            </p:spPr>
            <p:txBody>
              <a:bodyPr>
                <a:normAutofit fontScale="85000" lnSpcReduction="10000"/>
              </a:bodyPr>
              <a:lstStyle/>
              <a:p>
                <a:pPr>
                  <a:lnSpc>
                    <a:spcPct val="120000"/>
                  </a:lnSpc>
                </a:pPr>
                <a:r>
                  <a:rPr lang="es-ES" sz="1800" b="0" i="0" u="none" strike="noStrike" baseline="0" dirty="0">
                    <a:latin typeface="LMRoman17-Regular"/>
                  </a:rPr>
                  <a:t>Elegimos los pesos de modo que un</a:t>
                </a:r>
                <a:r>
                  <a:rPr lang="es-ES" sz="1800" b="0" i="0" u="none" strike="noStrike" dirty="0">
                    <a:latin typeface="LMRoman17-Regular"/>
                  </a:rPr>
                  <a:t> conjunto de </a:t>
                </a:r>
                <a14:m>
                  <m:oMath xmlns:m="http://schemas.openxmlformats.org/officeDocument/2006/math">
                    <m:r>
                      <m:rPr>
                        <m:sty m:val="p"/>
                      </m:rPr>
                      <a:rPr lang="en-US" sz="1800" b="0" i="0" baseline="0" smtClean="0">
                        <a:latin typeface="Cambria Math" panose="02040503050406030204" pitchFamily="18" charset="0"/>
                      </a:rPr>
                      <m:t>P</m:t>
                    </m:r>
                  </m:oMath>
                </a14:m>
                <a:r>
                  <a:rPr lang="es-ES" sz="1800" b="0" i="0" u="none" strike="noStrike" baseline="0" dirty="0">
                    <a:latin typeface="LMRoman17-Regular"/>
                  </a:rPr>
                  <a:t> configuraciones particulares de la red </a:t>
                </a:r>
                <a14:m>
                  <m:oMath xmlns:m="http://schemas.openxmlformats.org/officeDocument/2006/math">
                    <m:sSup>
                      <m:sSupPr>
                        <m:ctrlPr>
                          <a:rPr lang="en-US" sz="1800" b="0" i="1" u="none" strike="noStrike" baseline="0" smtClean="0">
                            <a:solidFill>
                              <a:srgbClr val="B020A9"/>
                            </a:solidFill>
                            <a:latin typeface="Cambria Math" panose="02040503050406030204" pitchFamily="18" charset="0"/>
                          </a:rPr>
                        </m:ctrlPr>
                      </m:sSupPr>
                      <m:e>
                        <m:r>
                          <a:rPr lang="en-US" sz="1800" b="0" i="1" u="none" strike="noStrike" baseline="0" smtClean="0">
                            <a:solidFill>
                              <a:srgbClr val="B020A9"/>
                            </a:solidFill>
                            <a:latin typeface="Cambria Math" panose="02040503050406030204" pitchFamily="18" charset="0"/>
                          </a:rPr>
                          <m:t>𝜉</m:t>
                        </m:r>
                      </m:e>
                      <m:sup>
                        <m:r>
                          <a:rPr lang="en-US" sz="1800" b="0" i="1" u="none" strike="noStrike" baseline="0" smtClean="0">
                            <a:solidFill>
                              <a:srgbClr val="B020A9"/>
                            </a:solidFill>
                            <a:latin typeface="Cambria Math" panose="02040503050406030204" pitchFamily="18" charset="0"/>
                          </a:rPr>
                          <m:t>𝜇</m:t>
                        </m:r>
                      </m:sup>
                    </m:sSup>
                    <m:r>
                      <a:rPr lang="en-US" sz="1800" b="0" i="1" u="none" strike="noStrike" baseline="0" smtClean="0">
                        <a:solidFill>
                          <a:srgbClr val="B020A9"/>
                        </a:solidFill>
                        <a:latin typeface="Cambria Math" panose="02040503050406030204" pitchFamily="18" charset="0"/>
                      </a:rPr>
                      <m:t>={</m:t>
                    </m:r>
                    <m:sSubSup>
                      <m:sSubSupPr>
                        <m:ctrlPr>
                          <a:rPr lang="en-US" sz="1800" b="0" i="1" u="none" strike="noStrike" baseline="0" smtClean="0">
                            <a:solidFill>
                              <a:srgbClr val="B020A9"/>
                            </a:solidFill>
                            <a:latin typeface="Cambria Math" panose="02040503050406030204" pitchFamily="18" charset="0"/>
                          </a:rPr>
                        </m:ctrlPr>
                      </m:sSubSupPr>
                      <m:e>
                        <m:r>
                          <a:rPr lang="en-US" sz="1800" b="0" i="1" u="none" strike="noStrike" baseline="0" smtClean="0">
                            <a:solidFill>
                              <a:srgbClr val="B020A9"/>
                            </a:solidFill>
                            <a:latin typeface="Cambria Math" panose="02040503050406030204" pitchFamily="18" charset="0"/>
                          </a:rPr>
                          <m:t>𝜉</m:t>
                        </m:r>
                      </m:e>
                      <m:sub>
                        <m:r>
                          <a:rPr lang="en-US" sz="1800" b="0" i="1" u="none" strike="noStrike" baseline="0" smtClean="0">
                            <a:solidFill>
                              <a:srgbClr val="B020A9"/>
                            </a:solidFill>
                            <a:latin typeface="Cambria Math" panose="02040503050406030204" pitchFamily="18" charset="0"/>
                          </a:rPr>
                          <m:t>𝑖</m:t>
                        </m:r>
                      </m:sub>
                      <m:sup>
                        <m:r>
                          <a:rPr lang="en-US" sz="1800" b="0" i="1" u="none" strike="noStrike" baseline="0" smtClean="0">
                            <a:solidFill>
                              <a:srgbClr val="B020A9"/>
                            </a:solidFill>
                            <a:latin typeface="Cambria Math" panose="02040503050406030204" pitchFamily="18" charset="0"/>
                          </a:rPr>
                          <m:t>𝜇</m:t>
                        </m:r>
                      </m:sup>
                    </m:sSubSup>
                    <m:r>
                      <a:rPr lang="en-US" sz="1800" b="0" i="1" u="none" strike="noStrike" baseline="0" smtClean="0">
                        <a:solidFill>
                          <a:srgbClr val="B020A9"/>
                        </a:solidFill>
                        <a:latin typeface="Cambria Math" panose="02040503050406030204" pitchFamily="18" charset="0"/>
                      </a:rPr>
                      <m:t>=1,0</m:t>
                    </m:r>
                    <m:r>
                      <m:rPr>
                        <m:lit/>
                      </m:rPr>
                      <a:rPr lang="en-US" sz="1800" b="0" i="1" u="none" strike="noStrike" baseline="0" smtClean="0">
                        <a:solidFill>
                          <a:srgbClr val="B020A9"/>
                        </a:solidFill>
                        <a:latin typeface="Cambria Math" panose="02040503050406030204" pitchFamily="18" charset="0"/>
                      </a:rPr>
                      <m:t> </m:t>
                    </m:r>
                    <m:r>
                      <a:rPr lang="en-US" sz="1800" b="0" i="1" u="none" strike="noStrike" baseline="0" smtClean="0">
                        <a:solidFill>
                          <a:srgbClr val="B020A9"/>
                        </a:solidFill>
                        <a:latin typeface="Cambria Math" panose="02040503050406030204" pitchFamily="18" charset="0"/>
                      </a:rPr>
                      <m:t>𝑖</m:t>
                    </m:r>
                    <m:r>
                      <a:rPr lang="en-US" sz="1800" b="0" i="1" u="none" strike="noStrike" baseline="0" smtClean="0">
                        <a:solidFill>
                          <a:srgbClr val="B020A9"/>
                        </a:solidFill>
                        <a:latin typeface="Cambria Math" panose="02040503050406030204" pitchFamily="18" charset="0"/>
                      </a:rPr>
                      <m:t>=0,…,</m:t>
                    </m:r>
                    <m:r>
                      <a:rPr lang="en-US" sz="1800" b="0" i="1" u="none" strike="noStrike" baseline="0" smtClean="0">
                        <a:solidFill>
                          <a:srgbClr val="B020A9"/>
                        </a:solidFill>
                        <a:latin typeface="Cambria Math" panose="02040503050406030204" pitchFamily="18" charset="0"/>
                      </a:rPr>
                      <m:t>𝑁</m:t>
                    </m:r>
                    <m:r>
                      <a:rPr lang="en-US" sz="1800" b="0" i="1" u="none" strike="noStrike" baseline="0" smtClean="0">
                        <a:solidFill>
                          <a:srgbClr val="B020A9"/>
                        </a:solidFill>
                        <a:latin typeface="Cambria Math" panose="02040503050406030204" pitchFamily="18" charset="0"/>
                      </a:rPr>
                      <m:t>}</m:t>
                    </m:r>
                  </m:oMath>
                </a14:m>
                <a:r>
                  <a:rPr lang="es-ES" sz="1800" b="0" i="1" u="none" strike="noStrike" baseline="0" dirty="0">
                    <a:latin typeface="LMMathItalic12-Regular"/>
                  </a:rPr>
                  <a:t>, </a:t>
                </a:r>
                <a:r>
                  <a:rPr lang="es-ES" sz="1800" b="0" i="0" u="none" strike="noStrike" baseline="0" dirty="0">
                    <a:latin typeface="LMRoman17-Regular"/>
                  </a:rPr>
                  <a:t>llamados </a:t>
                </a:r>
                <a:r>
                  <a:rPr lang="es-ES" sz="1800" b="0" i="0" u="none" strike="noStrike" baseline="0" dirty="0">
                    <a:solidFill>
                      <a:srgbClr val="B020A9"/>
                    </a:solidFill>
                    <a:latin typeface="LMRoman17-Regular"/>
                  </a:rPr>
                  <a:t>patrones o memorias</a:t>
                </a:r>
                <a:r>
                  <a:rPr lang="es-ES" sz="1800" b="0" i="0" u="none" strike="noStrike" baseline="0" dirty="0">
                    <a:latin typeface="LMRoman17-Regular"/>
                  </a:rPr>
                  <a:t>, se conviertan</a:t>
                </a:r>
                <a:r>
                  <a:rPr lang="es-ES" sz="1800" b="0" i="0" u="none" strike="noStrike" dirty="0">
                    <a:latin typeface="LMRoman17-Regular"/>
                  </a:rPr>
                  <a:t> en </a:t>
                </a:r>
                <a:r>
                  <a:rPr lang="es-ES" sz="1800" b="0" i="0" u="none" strike="noStrike" dirty="0">
                    <a:solidFill>
                      <a:srgbClr val="B020A9"/>
                    </a:solidFill>
                    <a:latin typeface="LMRoman17-Regular"/>
                  </a:rPr>
                  <a:t>atractores de la dinámica del sistema </a:t>
                </a:r>
                <a:r>
                  <a:rPr lang="es-ES" sz="1800" b="0" i="0" u="none" strike="noStrike" dirty="0">
                    <a:latin typeface="LMRoman17-Regular"/>
                  </a:rPr>
                  <a:t>(es decir, en mínimos del Hamiltoniano). Esto lo conseguimos </a:t>
                </a:r>
                <a:r>
                  <a:rPr lang="es-ES" sz="1800" b="0" i="0" u="none" strike="noStrike" baseline="0" dirty="0">
                    <a:latin typeface="LMRoman17-Regular"/>
                  </a:rPr>
                  <a:t>la </a:t>
                </a:r>
                <a:r>
                  <a:rPr lang="es-ES" sz="1800" b="1" i="0" u="none" strike="noStrike" baseline="0" dirty="0">
                    <a:latin typeface="LMRoman17-Regular"/>
                  </a:rPr>
                  <a:t>regla de aprendizaje </a:t>
                </a:r>
                <a:r>
                  <a:rPr lang="es-ES" sz="1800" b="1" i="0" u="none" strike="noStrike" baseline="0" dirty="0" err="1">
                    <a:latin typeface="LMRoman17-Regular"/>
                  </a:rPr>
                  <a:t>Hebbiano</a:t>
                </a:r>
                <a:r>
                  <a:rPr lang="es-ES" sz="1800" b="1" i="0" u="none" strike="noStrike" baseline="0" dirty="0">
                    <a:latin typeface="LMRoman17-Regular"/>
                  </a:rPr>
                  <a:t>:</a:t>
                </a:r>
                <a:br>
                  <a:rPr lang="es-ES" sz="1800" b="0" i="0" u="none" strike="noStrike" baseline="0" dirty="0">
                    <a:solidFill>
                      <a:srgbClr val="B020A9"/>
                    </a:solidFill>
                    <a:latin typeface="LMRoman17-Regular"/>
                  </a:rPr>
                </a:br>
                <a14:m>
                  <m:oMath xmlns:m="http://schemas.openxmlformats.org/officeDocument/2006/math">
                    <m:sSub>
                      <m:sSubPr>
                        <m:ctrlPr>
                          <a:rPr lang="es-ES" sz="1800" b="0" i="1" u="none" strike="noStrike" baseline="0" smtClean="0">
                            <a:solidFill>
                              <a:srgbClr val="B020A9"/>
                            </a:solidFill>
                            <a:latin typeface="Cambria Math" panose="02040503050406030204" pitchFamily="18" charset="0"/>
                          </a:rPr>
                        </m:ctrlPr>
                      </m:sSubPr>
                      <m:e>
                        <m:r>
                          <a:rPr lang="es-ES" sz="1800" b="0" i="1" u="none" strike="noStrike" baseline="0" smtClean="0">
                            <a:solidFill>
                              <a:srgbClr val="B020A9"/>
                            </a:solidFill>
                            <a:latin typeface="Cambria Math" panose="02040503050406030204" pitchFamily="18" charset="0"/>
                          </a:rPr>
                          <m:t>𝑤</m:t>
                        </m:r>
                      </m:e>
                      <m:sub>
                        <m:r>
                          <a:rPr lang="es-ES" sz="1800" b="0" i="1" u="none" strike="noStrike" baseline="0" smtClean="0">
                            <a:solidFill>
                              <a:srgbClr val="B020A9"/>
                            </a:solidFill>
                            <a:latin typeface="Cambria Math" panose="02040503050406030204" pitchFamily="18" charset="0"/>
                          </a:rPr>
                          <m:t>𝑖𝑗</m:t>
                        </m:r>
                      </m:sub>
                    </m:sSub>
                    <m:r>
                      <a:rPr lang="en-US" sz="1800" b="0" i="1" u="none" strike="noStrike" baseline="0" smtClean="0">
                        <a:solidFill>
                          <a:srgbClr val="B020A9"/>
                        </a:solidFill>
                        <a:latin typeface="Cambria Math" panose="02040503050406030204" pitchFamily="18" charset="0"/>
                      </a:rPr>
                      <m:t>=</m:t>
                    </m:r>
                    <m:f>
                      <m:fPr>
                        <m:ctrlPr>
                          <a:rPr lang="en-US" sz="1800" b="0" i="1" u="none" strike="noStrike" baseline="0" smtClean="0">
                            <a:solidFill>
                              <a:srgbClr val="B020A9"/>
                            </a:solidFill>
                            <a:latin typeface="Cambria Math" panose="02040503050406030204" pitchFamily="18" charset="0"/>
                          </a:rPr>
                        </m:ctrlPr>
                      </m:fPr>
                      <m:num>
                        <m:r>
                          <a:rPr lang="en-US" sz="1800" b="0" i="1" u="none" strike="noStrike" baseline="0" smtClean="0">
                            <a:solidFill>
                              <a:srgbClr val="B020A9"/>
                            </a:solidFill>
                            <a:latin typeface="Cambria Math" panose="02040503050406030204" pitchFamily="18" charset="0"/>
                          </a:rPr>
                          <m:t>1</m:t>
                        </m:r>
                      </m:num>
                      <m:den>
                        <m:r>
                          <a:rPr lang="en-US" sz="1800" b="0" i="1" u="none" strike="noStrike" baseline="0" smtClean="0">
                            <a:solidFill>
                              <a:srgbClr val="B020A9"/>
                            </a:solidFill>
                            <a:latin typeface="Cambria Math" panose="02040503050406030204" pitchFamily="18" charset="0"/>
                          </a:rPr>
                          <m:t>𝑎</m:t>
                        </m:r>
                        <m:d>
                          <m:dPr>
                            <m:ctrlPr>
                              <a:rPr lang="en-US" sz="1800" b="0" i="1" u="none" strike="noStrike" baseline="0" smtClean="0">
                                <a:solidFill>
                                  <a:srgbClr val="B020A9"/>
                                </a:solidFill>
                                <a:latin typeface="Cambria Math" panose="02040503050406030204" pitchFamily="18" charset="0"/>
                              </a:rPr>
                            </m:ctrlPr>
                          </m:dPr>
                          <m:e>
                            <m:r>
                              <a:rPr lang="en-US" sz="1800" b="0" i="1" u="none" strike="noStrike" baseline="0" smtClean="0">
                                <a:solidFill>
                                  <a:srgbClr val="B020A9"/>
                                </a:solidFill>
                                <a:latin typeface="Cambria Math" panose="02040503050406030204" pitchFamily="18" charset="0"/>
                              </a:rPr>
                              <m:t>1−</m:t>
                            </m:r>
                            <m:r>
                              <a:rPr lang="en-US" sz="1800" b="0" i="1" u="none" strike="noStrike" baseline="0" smtClean="0">
                                <a:solidFill>
                                  <a:srgbClr val="B020A9"/>
                                </a:solidFill>
                                <a:latin typeface="Cambria Math" panose="02040503050406030204" pitchFamily="18" charset="0"/>
                              </a:rPr>
                              <m:t>𝑎</m:t>
                            </m:r>
                          </m:e>
                        </m:d>
                        <m:r>
                          <a:rPr lang="en-US" sz="1800" b="0" i="1" u="none" strike="noStrike" baseline="0" smtClean="0">
                            <a:solidFill>
                              <a:srgbClr val="B020A9"/>
                            </a:solidFill>
                            <a:latin typeface="Cambria Math" panose="02040503050406030204" pitchFamily="18" charset="0"/>
                          </a:rPr>
                          <m:t>𝑁</m:t>
                        </m:r>
                      </m:den>
                    </m:f>
                    <m:nary>
                      <m:naryPr>
                        <m:chr m:val="∑"/>
                        <m:ctrlPr>
                          <a:rPr lang="en-US" sz="1800" b="0" i="1" u="none" strike="noStrike" baseline="0" smtClean="0">
                            <a:solidFill>
                              <a:srgbClr val="B020A9"/>
                            </a:solidFill>
                            <a:latin typeface="Cambria Math" panose="02040503050406030204" pitchFamily="18" charset="0"/>
                          </a:rPr>
                        </m:ctrlPr>
                      </m:naryPr>
                      <m:sub>
                        <m:r>
                          <a:rPr lang="en-US" sz="1800" b="0" i="1" u="none" strike="noStrike" baseline="0" smtClean="0">
                            <a:solidFill>
                              <a:srgbClr val="B020A9"/>
                            </a:solidFill>
                            <a:latin typeface="Cambria Math" panose="02040503050406030204" pitchFamily="18" charset="0"/>
                          </a:rPr>
                          <m:t>𝜇</m:t>
                        </m:r>
                        <m:r>
                          <a:rPr lang="en-US" sz="1800" b="0" i="1" u="none" strike="noStrike" baseline="0" smtClean="0">
                            <a:solidFill>
                              <a:srgbClr val="B020A9"/>
                            </a:solidFill>
                            <a:latin typeface="Cambria Math" panose="02040503050406030204" pitchFamily="18" charset="0"/>
                          </a:rPr>
                          <m:t>=1</m:t>
                        </m:r>
                      </m:sub>
                      <m:sup>
                        <m:r>
                          <a:rPr lang="en-US" sz="1800" b="0" i="1" u="none" strike="noStrike" baseline="0" smtClean="0">
                            <a:solidFill>
                              <a:srgbClr val="B020A9"/>
                            </a:solidFill>
                            <a:latin typeface="Cambria Math" panose="02040503050406030204" pitchFamily="18" charset="0"/>
                          </a:rPr>
                          <m:t>𝑃</m:t>
                        </m:r>
                      </m:sup>
                      <m:e>
                        <m:r>
                          <a:rPr lang="en-US" sz="1800" b="0" i="1" u="none" strike="noStrike" baseline="0" smtClean="0">
                            <a:solidFill>
                              <a:srgbClr val="B020A9"/>
                            </a:solidFill>
                            <a:latin typeface="Cambria Math" panose="02040503050406030204" pitchFamily="18" charset="0"/>
                          </a:rPr>
                          <m:t>(</m:t>
                        </m:r>
                        <m:sSubSup>
                          <m:sSubSupPr>
                            <m:ctrlPr>
                              <a:rPr lang="en-US" sz="1800" b="0" i="1" u="none" strike="noStrike" baseline="0" smtClean="0">
                                <a:solidFill>
                                  <a:srgbClr val="B020A9"/>
                                </a:solidFill>
                                <a:latin typeface="Cambria Math" panose="02040503050406030204" pitchFamily="18" charset="0"/>
                              </a:rPr>
                            </m:ctrlPr>
                          </m:sSubSupPr>
                          <m:e>
                            <m:r>
                              <a:rPr lang="en-US" sz="1800" b="0" i="1" u="none" strike="noStrike" baseline="0" smtClean="0">
                                <a:solidFill>
                                  <a:srgbClr val="B020A9"/>
                                </a:solidFill>
                                <a:latin typeface="Cambria Math" panose="02040503050406030204" pitchFamily="18" charset="0"/>
                              </a:rPr>
                              <m:t>𝜉</m:t>
                            </m:r>
                          </m:e>
                          <m:sub>
                            <m:r>
                              <a:rPr lang="en-US" sz="1800" b="0" i="1" u="none" strike="noStrike" baseline="0" smtClean="0">
                                <a:solidFill>
                                  <a:srgbClr val="B020A9"/>
                                </a:solidFill>
                                <a:latin typeface="Cambria Math" panose="02040503050406030204" pitchFamily="18" charset="0"/>
                              </a:rPr>
                              <m:t>𝑖</m:t>
                            </m:r>
                          </m:sub>
                          <m:sup>
                            <m:r>
                              <a:rPr lang="en-US" sz="1800" b="0" i="1" u="none" strike="noStrike" baseline="0" smtClean="0">
                                <a:solidFill>
                                  <a:srgbClr val="B020A9"/>
                                </a:solidFill>
                                <a:latin typeface="Cambria Math" panose="02040503050406030204" pitchFamily="18" charset="0"/>
                              </a:rPr>
                              <m:t>𝜇</m:t>
                            </m:r>
                          </m:sup>
                        </m:sSubSup>
                        <m:r>
                          <a:rPr lang="en-US" sz="1800" b="0" i="1" u="none" strike="noStrike" baseline="0" smtClean="0">
                            <a:solidFill>
                              <a:srgbClr val="B020A9"/>
                            </a:solidFill>
                            <a:latin typeface="Cambria Math" panose="02040503050406030204" pitchFamily="18" charset="0"/>
                          </a:rPr>
                          <m:t>−</m:t>
                        </m:r>
                        <m:r>
                          <a:rPr lang="en-US" sz="1800" b="0" i="1" u="none" strike="noStrike" baseline="0" smtClean="0">
                            <a:solidFill>
                              <a:srgbClr val="B020A9"/>
                            </a:solidFill>
                            <a:latin typeface="Cambria Math" panose="02040503050406030204" pitchFamily="18" charset="0"/>
                          </a:rPr>
                          <m:t>𝑎</m:t>
                        </m:r>
                        <m:r>
                          <a:rPr lang="en-US" sz="1800" b="0" i="1" u="none" strike="noStrike" baseline="0" smtClean="0">
                            <a:solidFill>
                              <a:srgbClr val="B020A9"/>
                            </a:solidFill>
                            <a:latin typeface="Cambria Math" panose="02040503050406030204" pitchFamily="18" charset="0"/>
                          </a:rPr>
                          <m:t>)(</m:t>
                        </m:r>
                        <m:sSubSup>
                          <m:sSubSupPr>
                            <m:ctrlPr>
                              <a:rPr lang="en-US" sz="1800" b="0" i="1" u="none" strike="noStrike" baseline="0" smtClean="0">
                                <a:solidFill>
                                  <a:srgbClr val="B020A9"/>
                                </a:solidFill>
                                <a:latin typeface="Cambria Math" panose="02040503050406030204" pitchFamily="18" charset="0"/>
                              </a:rPr>
                            </m:ctrlPr>
                          </m:sSubSupPr>
                          <m:e>
                            <m:r>
                              <a:rPr lang="en-US" sz="1800" b="0" i="1" u="none" strike="noStrike" baseline="0" smtClean="0">
                                <a:solidFill>
                                  <a:srgbClr val="B020A9"/>
                                </a:solidFill>
                                <a:latin typeface="Cambria Math" panose="02040503050406030204" pitchFamily="18" charset="0"/>
                              </a:rPr>
                              <m:t>𝜉</m:t>
                            </m:r>
                          </m:e>
                          <m:sub>
                            <m:r>
                              <a:rPr lang="en-US" sz="1800" b="0" i="1" u="none" strike="noStrike" baseline="0" smtClean="0">
                                <a:solidFill>
                                  <a:srgbClr val="B020A9"/>
                                </a:solidFill>
                                <a:latin typeface="Cambria Math" panose="02040503050406030204" pitchFamily="18" charset="0"/>
                              </a:rPr>
                              <m:t>𝑗</m:t>
                            </m:r>
                          </m:sub>
                          <m:sup>
                            <m:r>
                              <a:rPr lang="en-US" sz="1800" b="0" i="1" u="none" strike="noStrike" baseline="0" smtClean="0">
                                <a:solidFill>
                                  <a:srgbClr val="B020A9"/>
                                </a:solidFill>
                                <a:latin typeface="Cambria Math" panose="02040503050406030204" pitchFamily="18" charset="0"/>
                              </a:rPr>
                              <m:t>𝜇</m:t>
                            </m:r>
                          </m:sup>
                        </m:sSubSup>
                        <m:r>
                          <a:rPr lang="en-US" sz="1800" b="0" i="1" u="none" strike="noStrike" baseline="0" smtClean="0">
                            <a:solidFill>
                              <a:srgbClr val="B020A9"/>
                            </a:solidFill>
                            <a:latin typeface="Cambria Math" panose="02040503050406030204" pitchFamily="18" charset="0"/>
                          </a:rPr>
                          <m:t>−</m:t>
                        </m:r>
                        <m:r>
                          <a:rPr lang="en-US" sz="1800" b="0" i="1" u="none" strike="noStrike" baseline="0" smtClean="0">
                            <a:solidFill>
                              <a:srgbClr val="B020A9"/>
                            </a:solidFill>
                            <a:latin typeface="Cambria Math" panose="02040503050406030204" pitchFamily="18" charset="0"/>
                          </a:rPr>
                          <m:t>𝑎</m:t>
                        </m:r>
                        <m:r>
                          <a:rPr lang="en-US" sz="1800" b="0" i="1" u="none" strike="noStrike" baseline="0" smtClean="0">
                            <a:solidFill>
                              <a:srgbClr val="B020A9"/>
                            </a:solidFill>
                            <a:latin typeface="Cambria Math" panose="02040503050406030204" pitchFamily="18" charset="0"/>
                          </a:rPr>
                          <m:t>)</m:t>
                        </m:r>
                      </m:e>
                    </m:nary>
                  </m:oMath>
                </a14:m>
                <a:br>
                  <a:rPr lang="en-US" sz="1800" b="0" i="0" u="none" strike="noStrike" baseline="0" dirty="0">
                    <a:latin typeface="LMRoman17-Regular"/>
                  </a:rPr>
                </a:br>
                <a:r>
                  <a:rPr lang="en-US" sz="1800" b="0" i="0" u="none" strike="noStrike" baseline="0" dirty="0">
                    <a:latin typeface="LMRoman17-Regular"/>
                  </a:rPr>
                  <a:t>con</a:t>
                </a:r>
                <a:r>
                  <a:rPr lang="en-US" sz="1800" b="0" i="0" u="none" strike="noStrike" dirty="0">
                    <a:latin typeface="LMRoman17-Regular"/>
                  </a:rPr>
                  <a:t> </a:t>
                </a:r>
                <a14:m>
                  <m:oMath xmlns:m="http://schemas.openxmlformats.org/officeDocument/2006/math">
                    <m:r>
                      <a:rPr lang="en-US" sz="1800" b="0" i="1" u="none" strike="noStrike" smtClean="0">
                        <a:solidFill>
                          <a:srgbClr val="B020A9"/>
                        </a:solidFill>
                        <a:latin typeface="Cambria Math" panose="02040503050406030204" pitchFamily="18" charset="0"/>
                      </a:rPr>
                      <m:t>𝑎</m:t>
                    </m:r>
                    <m:r>
                      <a:rPr lang="en-US" sz="1800" b="0" i="1" u="none" strike="noStrike" smtClean="0">
                        <a:solidFill>
                          <a:srgbClr val="B020A9"/>
                        </a:solidFill>
                        <a:latin typeface="Cambria Math" panose="02040503050406030204" pitchFamily="18" charset="0"/>
                      </a:rPr>
                      <m:t>=</m:t>
                    </m:r>
                    <m:d>
                      <m:dPr>
                        <m:begChr m:val="⟨"/>
                        <m:endChr m:val="⟩"/>
                        <m:ctrlPr>
                          <a:rPr lang="en-US" sz="1800" b="0" i="1" u="none" strike="noStrike" smtClean="0">
                            <a:solidFill>
                              <a:srgbClr val="B020A9"/>
                            </a:solidFill>
                            <a:latin typeface="Cambria Math" panose="02040503050406030204" pitchFamily="18" charset="0"/>
                          </a:rPr>
                        </m:ctrlPr>
                      </m:dPr>
                      <m:e>
                        <m:d>
                          <m:dPr>
                            <m:begChr m:val="⟨"/>
                            <m:endChr m:val="⟩"/>
                            <m:ctrlPr>
                              <a:rPr lang="en-US" sz="1800" b="0" i="1" u="none" strike="noStrike" smtClean="0">
                                <a:solidFill>
                                  <a:srgbClr val="B020A9"/>
                                </a:solidFill>
                                <a:latin typeface="Cambria Math" panose="02040503050406030204" pitchFamily="18" charset="0"/>
                              </a:rPr>
                            </m:ctrlPr>
                          </m:dPr>
                          <m:e>
                            <m:sSubSup>
                              <m:sSubSupPr>
                                <m:ctrlPr>
                                  <a:rPr lang="en-US" sz="1800" b="0" i="1" u="none" strike="noStrike" smtClean="0">
                                    <a:solidFill>
                                      <a:srgbClr val="B020A9"/>
                                    </a:solidFill>
                                    <a:latin typeface="Cambria Math" panose="02040503050406030204" pitchFamily="18" charset="0"/>
                                  </a:rPr>
                                </m:ctrlPr>
                              </m:sSubSupPr>
                              <m:e>
                                <m:r>
                                  <a:rPr lang="en-US" sz="1800" b="0" i="1" u="none" strike="noStrike" smtClean="0">
                                    <a:solidFill>
                                      <a:srgbClr val="B020A9"/>
                                    </a:solidFill>
                                    <a:latin typeface="Cambria Math" panose="02040503050406030204" pitchFamily="18" charset="0"/>
                                  </a:rPr>
                                  <m:t>𝜉</m:t>
                                </m:r>
                              </m:e>
                              <m:sub>
                                <m:r>
                                  <a:rPr lang="en-US" sz="1800" b="0" i="1" u="none" strike="noStrike" smtClean="0">
                                    <a:solidFill>
                                      <a:srgbClr val="B020A9"/>
                                    </a:solidFill>
                                    <a:latin typeface="Cambria Math" panose="02040503050406030204" pitchFamily="18" charset="0"/>
                                  </a:rPr>
                                  <m:t>𝑖</m:t>
                                </m:r>
                              </m:sub>
                              <m:sup>
                                <m:r>
                                  <a:rPr lang="en-US" sz="1800" b="0" i="1" u="none" strike="noStrike" smtClean="0">
                                    <a:solidFill>
                                      <a:srgbClr val="B020A9"/>
                                    </a:solidFill>
                                    <a:latin typeface="Cambria Math" panose="02040503050406030204" pitchFamily="18" charset="0"/>
                                  </a:rPr>
                                  <m:t>𝜇</m:t>
                                </m:r>
                              </m:sup>
                            </m:sSubSup>
                          </m:e>
                        </m:d>
                      </m:e>
                    </m:d>
                  </m:oMath>
                </a14:m>
                <a:r>
                  <a:rPr lang="es-ES" sz="1800" b="0" i="0" u="none" strike="noStrike" baseline="0" dirty="0">
                    <a:latin typeface="LMRoman17-Regular"/>
                  </a:rPr>
                  <a:t>.</a:t>
                </a:r>
              </a:p>
            </p:txBody>
          </p:sp>
        </mc:Choice>
        <mc:Fallback xmlns="">
          <p:sp>
            <p:nvSpPr>
              <p:cNvPr id="3" name="Marcador de contenido 2">
                <a:extLst>
                  <a:ext uri="{FF2B5EF4-FFF2-40B4-BE49-F238E27FC236}">
                    <a16:creationId xmlns:a16="http://schemas.microsoft.com/office/drawing/2014/main" id="{873EC0FB-F5C3-87E5-9EF4-BAD6A7AB2386}"/>
                  </a:ext>
                </a:extLst>
              </p:cNvPr>
              <p:cNvSpPr>
                <a:spLocks noGrp="1" noRot="1" noChangeAspect="1" noMove="1" noResize="1" noEditPoints="1" noAdjustHandles="1" noChangeArrowheads="1" noChangeShapeType="1" noTextEdit="1"/>
              </p:cNvSpPr>
              <p:nvPr>
                <p:ph idx="1"/>
              </p:nvPr>
            </p:nvSpPr>
            <p:spPr>
              <a:xfrm>
                <a:off x="119069" y="1121344"/>
                <a:ext cx="6423212" cy="2582539"/>
              </a:xfrm>
              <a:blipFill>
                <a:blip r:embed="rId2"/>
                <a:stretch>
                  <a:fillRect l="-285" r="-1140"/>
                </a:stretch>
              </a:blipFill>
            </p:spPr>
            <p:txBody>
              <a:bodyPr/>
              <a:lstStyle/>
              <a:p>
                <a:r>
                  <a:rPr lang="es-ES">
                    <a:noFill/>
                  </a:rPr>
                  <a:t> </a:t>
                </a:r>
              </a:p>
            </p:txBody>
          </p:sp>
        </mc:Fallback>
      </mc:AlternateContent>
      <p:pic>
        <p:nvPicPr>
          <p:cNvPr id="4" name="Picture 2" descr="Understanding Deep Learning through Energy Landscapes">
            <a:extLst>
              <a:ext uri="{FF2B5EF4-FFF2-40B4-BE49-F238E27FC236}">
                <a16:creationId xmlns:a16="http://schemas.microsoft.com/office/drawing/2014/main" id="{742EA998-1546-8351-EA84-E8EB2CCC9D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2018" y="970022"/>
            <a:ext cx="4603821" cy="2315722"/>
          </a:xfrm>
          <a:prstGeom prst="rect">
            <a:avLst/>
          </a:prstGeom>
          <a:noFill/>
          <a:extLst>
            <a:ext uri="{909E8E84-426E-40DD-AFC4-6F175D3DCCD1}">
              <a14:hiddenFill xmlns:a14="http://schemas.microsoft.com/office/drawing/2010/main">
                <a:solidFill>
                  <a:srgbClr val="FFFFFF"/>
                </a:solidFill>
              </a14:hiddenFill>
            </a:ext>
          </a:extLst>
        </p:spPr>
      </p:pic>
      <p:sp>
        <p:nvSpPr>
          <p:cNvPr id="6" name="Heptágono 5">
            <a:extLst>
              <a:ext uri="{FF2B5EF4-FFF2-40B4-BE49-F238E27FC236}">
                <a16:creationId xmlns:a16="http://schemas.microsoft.com/office/drawing/2014/main" id="{24F8BB77-2C46-B7EF-3293-81C33B9BD432}"/>
              </a:ext>
            </a:extLst>
          </p:cNvPr>
          <p:cNvSpPr/>
          <p:nvPr/>
        </p:nvSpPr>
        <p:spPr>
          <a:xfrm rot="2078317">
            <a:off x="8880408" y="4121794"/>
            <a:ext cx="2136818" cy="2136819"/>
          </a:xfrm>
          <a:prstGeom prst="heptagon">
            <a:avLst/>
          </a:prstGeom>
          <a:no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7" name="Conector recto 6">
            <a:extLst>
              <a:ext uri="{FF2B5EF4-FFF2-40B4-BE49-F238E27FC236}">
                <a16:creationId xmlns:a16="http://schemas.microsoft.com/office/drawing/2014/main" id="{A6920213-FC69-C744-C5AA-AF5B212B0AB5}"/>
              </a:ext>
            </a:extLst>
          </p:cNvPr>
          <p:cNvCxnSpPr>
            <a:cxnSpLocks/>
            <a:stCxn id="6" idx="4"/>
          </p:cNvCxnSpPr>
          <p:nvPr/>
        </p:nvCxnSpPr>
        <p:spPr>
          <a:xfrm>
            <a:off x="8895963" y="4834510"/>
            <a:ext cx="828476" cy="1500015"/>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575241A5-8FAA-B770-B383-EC167DF1186D}"/>
              </a:ext>
            </a:extLst>
          </p:cNvPr>
          <p:cNvCxnSpPr>
            <a:cxnSpLocks/>
            <a:stCxn id="6" idx="4"/>
            <a:endCxn id="6" idx="1"/>
          </p:cNvCxnSpPr>
          <p:nvPr/>
        </p:nvCxnSpPr>
        <p:spPr>
          <a:xfrm>
            <a:off x="8895963" y="4834510"/>
            <a:ext cx="1758083" cy="121457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4C96235E-3E44-C5EC-DA48-FD9759D878DD}"/>
              </a:ext>
            </a:extLst>
          </p:cNvPr>
          <p:cNvCxnSpPr>
            <a:cxnSpLocks/>
            <a:stCxn id="6" idx="4"/>
            <a:endCxn id="6" idx="0"/>
          </p:cNvCxnSpPr>
          <p:nvPr/>
        </p:nvCxnSpPr>
        <p:spPr>
          <a:xfrm>
            <a:off x="8895963" y="4834510"/>
            <a:ext cx="2124509" cy="3118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429CA4B4-4261-F69B-E387-275C80F9AD24}"/>
              </a:ext>
            </a:extLst>
          </p:cNvPr>
          <p:cNvCxnSpPr>
            <a:cxnSpLocks/>
            <a:stCxn id="6" idx="4"/>
            <a:endCxn id="6" idx="6"/>
          </p:cNvCxnSpPr>
          <p:nvPr/>
        </p:nvCxnSpPr>
        <p:spPr>
          <a:xfrm flipV="1">
            <a:off x="8895963" y="4311166"/>
            <a:ext cx="1660136" cy="5233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C9A211A1-3689-5725-ACB4-A7927B8333B7}"/>
              </a:ext>
            </a:extLst>
          </p:cNvPr>
          <p:cNvCxnSpPr>
            <a:cxnSpLocks/>
            <a:stCxn id="6" idx="5"/>
            <a:endCxn id="6" idx="3"/>
          </p:cNvCxnSpPr>
          <p:nvPr/>
        </p:nvCxnSpPr>
        <p:spPr>
          <a:xfrm flipH="1">
            <a:off x="8950322" y="4172373"/>
            <a:ext cx="660283" cy="16266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F12B6A39-19BB-3704-4B7F-4EA9B2C59F19}"/>
              </a:ext>
            </a:extLst>
          </p:cNvPr>
          <p:cNvCxnSpPr>
            <a:cxnSpLocks/>
            <a:stCxn id="6" idx="5"/>
            <a:endCxn id="6" idx="2"/>
          </p:cNvCxnSpPr>
          <p:nvPr/>
        </p:nvCxnSpPr>
        <p:spPr>
          <a:xfrm>
            <a:off x="9610605" y="4172373"/>
            <a:ext cx="122130" cy="2167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704A45EE-C8A9-7506-E516-75EDA64DCB41}"/>
              </a:ext>
            </a:extLst>
          </p:cNvPr>
          <p:cNvCxnSpPr>
            <a:cxnSpLocks/>
            <a:stCxn id="6" idx="5"/>
            <a:endCxn id="6" idx="1"/>
          </p:cNvCxnSpPr>
          <p:nvPr/>
        </p:nvCxnSpPr>
        <p:spPr>
          <a:xfrm>
            <a:off x="9610605" y="4172373"/>
            <a:ext cx="1043442" cy="18767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6882A89C-7D8E-8415-3620-44FC88531A22}"/>
              </a:ext>
            </a:extLst>
          </p:cNvPr>
          <p:cNvCxnSpPr>
            <a:cxnSpLocks/>
            <a:stCxn id="6" idx="5"/>
            <a:endCxn id="6" idx="0"/>
          </p:cNvCxnSpPr>
          <p:nvPr/>
        </p:nvCxnSpPr>
        <p:spPr>
          <a:xfrm>
            <a:off x="9610605" y="4172373"/>
            <a:ext cx="1409868" cy="9740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1A118758-0AC8-07F4-655B-85F745662AE9}"/>
              </a:ext>
            </a:extLst>
          </p:cNvPr>
          <p:cNvCxnSpPr>
            <a:cxnSpLocks/>
            <a:stCxn id="6" idx="6"/>
            <a:endCxn id="6" idx="3"/>
          </p:cNvCxnSpPr>
          <p:nvPr/>
        </p:nvCxnSpPr>
        <p:spPr>
          <a:xfrm flipH="1">
            <a:off x="8950322" y="4311166"/>
            <a:ext cx="1605777" cy="14878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D6FD9DCA-7347-7CCD-C0D4-0BC6DE68A7DA}"/>
              </a:ext>
            </a:extLst>
          </p:cNvPr>
          <p:cNvCxnSpPr>
            <a:cxnSpLocks/>
            <a:stCxn id="6" idx="6"/>
            <a:endCxn id="6" idx="2"/>
          </p:cNvCxnSpPr>
          <p:nvPr/>
        </p:nvCxnSpPr>
        <p:spPr>
          <a:xfrm flipH="1">
            <a:off x="9732735" y="4311166"/>
            <a:ext cx="823364" cy="2028349"/>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83ACCAD3-4F6E-6C64-CAF7-421C6AFBFE9D}"/>
              </a:ext>
            </a:extLst>
          </p:cNvPr>
          <p:cNvCxnSpPr>
            <a:cxnSpLocks/>
            <a:stCxn id="6" idx="6"/>
            <a:endCxn id="6" idx="1"/>
          </p:cNvCxnSpPr>
          <p:nvPr/>
        </p:nvCxnSpPr>
        <p:spPr>
          <a:xfrm>
            <a:off x="10556099" y="4311166"/>
            <a:ext cx="97947" cy="17379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91D74B18-7C6F-B7B6-35A9-25D9473D66A5}"/>
              </a:ext>
            </a:extLst>
          </p:cNvPr>
          <p:cNvCxnSpPr>
            <a:cxnSpLocks/>
            <a:stCxn id="6" idx="0"/>
            <a:endCxn id="6" idx="3"/>
          </p:cNvCxnSpPr>
          <p:nvPr/>
        </p:nvCxnSpPr>
        <p:spPr>
          <a:xfrm flipH="1">
            <a:off x="8950322" y="5146379"/>
            <a:ext cx="2070151" cy="6526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1E4430C5-A096-F547-682C-0AB1BAB87D59}"/>
              </a:ext>
            </a:extLst>
          </p:cNvPr>
          <p:cNvCxnSpPr>
            <a:cxnSpLocks/>
            <a:stCxn id="6" idx="0"/>
            <a:endCxn id="6" idx="2"/>
          </p:cNvCxnSpPr>
          <p:nvPr/>
        </p:nvCxnSpPr>
        <p:spPr>
          <a:xfrm flipH="1">
            <a:off x="9732735" y="5146379"/>
            <a:ext cx="1287738" cy="119313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7411E1E5-20D2-8D80-C9E3-352D354CC5F0}"/>
              </a:ext>
            </a:extLst>
          </p:cNvPr>
          <p:cNvCxnSpPr>
            <a:cxnSpLocks/>
            <a:stCxn id="6" idx="1"/>
            <a:endCxn id="6" idx="3"/>
          </p:cNvCxnSpPr>
          <p:nvPr/>
        </p:nvCxnSpPr>
        <p:spPr>
          <a:xfrm flipH="1" flipV="1">
            <a:off x="8950322" y="5798985"/>
            <a:ext cx="1703724" cy="250095"/>
          </a:xfrm>
          <a:prstGeom prst="line">
            <a:avLst/>
          </a:prstGeom>
        </p:spPr>
        <p:style>
          <a:lnRef idx="1">
            <a:schemeClr val="accent1"/>
          </a:lnRef>
          <a:fillRef idx="0">
            <a:schemeClr val="accent1"/>
          </a:fillRef>
          <a:effectRef idx="0">
            <a:schemeClr val="accent1"/>
          </a:effectRef>
          <a:fontRef idx="minor">
            <a:schemeClr val="tx1"/>
          </a:fontRef>
        </p:style>
      </p:cxnSp>
      <p:sp>
        <p:nvSpPr>
          <p:cNvPr id="21" name="Elipse 20">
            <a:extLst>
              <a:ext uri="{FF2B5EF4-FFF2-40B4-BE49-F238E27FC236}">
                <a16:creationId xmlns:a16="http://schemas.microsoft.com/office/drawing/2014/main" id="{20F2E7C5-D304-ABD6-48E8-C052088804B8}"/>
              </a:ext>
            </a:extLst>
          </p:cNvPr>
          <p:cNvSpPr/>
          <p:nvPr/>
        </p:nvSpPr>
        <p:spPr>
          <a:xfrm>
            <a:off x="8737247" y="4696260"/>
            <a:ext cx="281021" cy="28102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Elipse 21">
            <a:extLst>
              <a:ext uri="{FF2B5EF4-FFF2-40B4-BE49-F238E27FC236}">
                <a16:creationId xmlns:a16="http://schemas.microsoft.com/office/drawing/2014/main" id="{A8211A29-3DE2-122D-A494-D4541E86AA77}"/>
              </a:ext>
            </a:extLst>
          </p:cNvPr>
          <p:cNvSpPr/>
          <p:nvPr/>
        </p:nvSpPr>
        <p:spPr>
          <a:xfrm>
            <a:off x="9477884" y="4053360"/>
            <a:ext cx="281021" cy="281021"/>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Elipse 22">
            <a:extLst>
              <a:ext uri="{FF2B5EF4-FFF2-40B4-BE49-F238E27FC236}">
                <a16:creationId xmlns:a16="http://schemas.microsoft.com/office/drawing/2014/main" id="{D5B18BC0-656F-5AED-826A-5EE024C6F0D2}"/>
              </a:ext>
            </a:extLst>
          </p:cNvPr>
          <p:cNvSpPr/>
          <p:nvPr/>
        </p:nvSpPr>
        <p:spPr>
          <a:xfrm>
            <a:off x="10456510" y="4191222"/>
            <a:ext cx="281021" cy="28102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Elipse 23">
            <a:extLst>
              <a:ext uri="{FF2B5EF4-FFF2-40B4-BE49-F238E27FC236}">
                <a16:creationId xmlns:a16="http://schemas.microsoft.com/office/drawing/2014/main" id="{FB0EB9EC-CCFD-75E8-649C-5A0D6CEE2568}"/>
              </a:ext>
            </a:extLst>
          </p:cNvPr>
          <p:cNvSpPr/>
          <p:nvPr/>
        </p:nvSpPr>
        <p:spPr>
          <a:xfrm>
            <a:off x="10855506" y="5001983"/>
            <a:ext cx="281021" cy="28102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Elipse 24">
            <a:extLst>
              <a:ext uri="{FF2B5EF4-FFF2-40B4-BE49-F238E27FC236}">
                <a16:creationId xmlns:a16="http://schemas.microsoft.com/office/drawing/2014/main" id="{F6E78278-60FB-1EB6-DE1C-740606978BB2}"/>
              </a:ext>
            </a:extLst>
          </p:cNvPr>
          <p:cNvSpPr/>
          <p:nvPr/>
        </p:nvSpPr>
        <p:spPr>
          <a:xfrm>
            <a:off x="10484348" y="5905760"/>
            <a:ext cx="281021" cy="281021"/>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Elipse 25">
            <a:extLst>
              <a:ext uri="{FF2B5EF4-FFF2-40B4-BE49-F238E27FC236}">
                <a16:creationId xmlns:a16="http://schemas.microsoft.com/office/drawing/2014/main" id="{C6B42379-40CF-D7B1-C6FD-74244063FFE5}"/>
              </a:ext>
            </a:extLst>
          </p:cNvPr>
          <p:cNvSpPr/>
          <p:nvPr/>
        </p:nvSpPr>
        <p:spPr>
          <a:xfrm>
            <a:off x="9583929" y="6178355"/>
            <a:ext cx="281021" cy="281021"/>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Elipse 26">
            <a:extLst>
              <a:ext uri="{FF2B5EF4-FFF2-40B4-BE49-F238E27FC236}">
                <a16:creationId xmlns:a16="http://schemas.microsoft.com/office/drawing/2014/main" id="{9F63F1FB-8E07-78E3-9AFB-1B09E74CD863}"/>
              </a:ext>
            </a:extLst>
          </p:cNvPr>
          <p:cNvSpPr/>
          <p:nvPr/>
        </p:nvSpPr>
        <p:spPr>
          <a:xfrm>
            <a:off x="8811479" y="5627887"/>
            <a:ext cx="281021" cy="28102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275D15EA-6017-BC77-0160-4570364613B7}"/>
                  </a:ext>
                </a:extLst>
              </p:cNvPr>
              <p:cNvSpPr txBox="1"/>
              <p:nvPr/>
            </p:nvSpPr>
            <p:spPr>
              <a:xfrm>
                <a:off x="10783905" y="4275612"/>
                <a:ext cx="523132" cy="1638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oMath>
                  </m:oMathPara>
                </a14:m>
                <a:endParaRPr lang="es-ES" dirty="0"/>
              </a:p>
            </p:txBody>
          </p:sp>
        </mc:Choice>
        <mc:Fallback xmlns="">
          <p:sp>
            <p:nvSpPr>
              <p:cNvPr id="28" name="CuadroTexto 27">
                <a:extLst>
                  <a:ext uri="{FF2B5EF4-FFF2-40B4-BE49-F238E27FC236}">
                    <a16:creationId xmlns:a16="http://schemas.microsoft.com/office/drawing/2014/main" id="{275D15EA-6017-BC77-0160-4570364613B7}"/>
                  </a:ext>
                </a:extLst>
              </p:cNvPr>
              <p:cNvSpPr txBox="1">
                <a:spLocks noRot="1" noChangeAspect="1" noMove="1" noResize="1" noEditPoints="1" noAdjustHandles="1" noChangeArrowheads="1" noChangeShapeType="1" noTextEdit="1"/>
              </p:cNvSpPr>
              <p:nvPr/>
            </p:nvSpPr>
            <p:spPr>
              <a:xfrm>
                <a:off x="10783905" y="4275612"/>
                <a:ext cx="523132" cy="163834"/>
              </a:xfrm>
              <a:prstGeom prst="rect">
                <a:avLst/>
              </a:prstGeom>
              <a:blipFill>
                <a:blip r:embed="rId4"/>
                <a:stretch>
                  <a:fillRect l="-11628" r="-73256" b="-8148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33765C71-98F0-862F-83A9-1D4A367DF2B1}"/>
                  </a:ext>
                </a:extLst>
              </p:cNvPr>
              <p:cNvSpPr txBox="1"/>
              <p:nvPr/>
            </p:nvSpPr>
            <p:spPr>
              <a:xfrm>
                <a:off x="10992289" y="5319764"/>
                <a:ext cx="523132" cy="1638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=1</m:t>
                      </m:r>
                    </m:oMath>
                  </m:oMathPara>
                </a14:m>
                <a:endParaRPr lang="es-ES" dirty="0"/>
              </a:p>
            </p:txBody>
          </p:sp>
        </mc:Choice>
        <mc:Fallback xmlns="">
          <p:sp>
            <p:nvSpPr>
              <p:cNvPr id="29" name="CuadroTexto 28">
                <a:extLst>
                  <a:ext uri="{FF2B5EF4-FFF2-40B4-BE49-F238E27FC236}">
                    <a16:creationId xmlns:a16="http://schemas.microsoft.com/office/drawing/2014/main" id="{33765C71-98F0-862F-83A9-1D4A367DF2B1}"/>
                  </a:ext>
                </a:extLst>
              </p:cNvPr>
              <p:cNvSpPr txBox="1">
                <a:spLocks noRot="1" noChangeAspect="1" noMove="1" noResize="1" noEditPoints="1" noAdjustHandles="1" noChangeArrowheads="1" noChangeShapeType="1" noTextEdit="1"/>
              </p:cNvSpPr>
              <p:nvPr/>
            </p:nvSpPr>
            <p:spPr>
              <a:xfrm>
                <a:off x="10992289" y="5319764"/>
                <a:ext cx="523132" cy="163834"/>
              </a:xfrm>
              <a:prstGeom prst="rect">
                <a:avLst/>
              </a:prstGeom>
              <a:blipFill>
                <a:blip r:embed="rId5"/>
                <a:stretch>
                  <a:fillRect l="-11628" r="-73256" b="-77778"/>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C486C77E-9AA7-F88B-7561-D3A14FADF135}"/>
                  </a:ext>
                </a:extLst>
              </p:cNvPr>
              <p:cNvSpPr txBox="1"/>
              <p:nvPr/>
            </p:nvSpPr>
            <p:spPr>
              <a:xfrm>
                <a:off x="10542460" y="6223541"/>
                <a:ext cx="447283" cy="163834"/>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2</m:t>
                        </m:r>
                      </m:e>
                    </m:d>
                    <m:r>
                      <a:rPr lang="en-US" b="0" i="1" smtClean="0">
                        <a:latin typeface="Cambria Math" panose="02040503050406030204" pitchFamily="18" charset="0"/>
                      </a:rPr>
                      <m:t>=</m:t>
                    </m:r>
                  </m:oMath>
                </a14:m>
                <a:r>
                  <a:rPr lang="es-ES" dirty="0"/>
                  <a:t>0</a:t>
                </a:r>
              </a:p>
            </p:txBody>
          </p:sp>
        </mc:Choice>
        <mc:Fallback xmlns="">
          <p:sp>
            <p:nvSpPr>
              <p:cNvPr id="30" name="CuadroTexto 29">
                <a:extLst>
                  <a:ext uri="{FF2B5EF4-FFF2-40B4-BE49-F238E27FC236}">
                    <a16:creationId xmlns:a16="http://schemas.microsoft.com/office/drawing/2014/main" id="{C486C77E-9AA7-F88B-7561-D3A14FADF135}"/>
                  </a:ext>
                </a:extLst>
              </p:cNvPr>
              <p:cNvSpPr txBox="1">
                <a:spLocks noRot="1" noChangeAspect="1" noMove="1" noResize="1" noEditPoints="1" noAdjustHandles="1" noChangeArrowheads="1" noChangeShapeType="1" noTextEdit="1"/>
              </p:cNvSpPr>
              <p:nvPr/>
            </p:nvSpPr>
            <p:spPr>
              <a:xfrm>
                <a:off x="10542460" y="6223541"/>
                <a:ext cx="447283" cy="163834"/>
              </a:xfrm>
              <a:prstGeom prst="rect">
                <a:avLst/>
              </a:prstGeom>
              <a:blipFill>
                <a:blip r:embed="rId6"/>
                <a:stretch>
                  <a:fillRect l="-13514" t="-48148" r="-98649" b="-15185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57A6C308-7B68-503A-B3F4-06D86773A5D4}"/>
                  </a:ext>
                </a:extLst>
              </p:cNvPr>
              <p:cNvSpPr txBox="1"/>
              <p:nvPr/>
            </p:nvSpPr>
            <p:spPr>
              <a:xfrm>
                <a:off x="8833180" y="6350971"/>
                <a:ext cx="447283" cy="163834"/>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3</m:t>
                        </m:r>
                      </m:e>
                    </m:d>
                    <m:r>
                      <a:rPr lang="en-US" b="0" i="1" smtClean="0">
                        <a:latin typeface="Cambria Math" panose="02040503050406030204" pitchFamily="18" charset="0"/>
                      </a:rPr>
                      <m:t>=</m:t>
                    </m:r>
                  </m:oMath>
                </a14:m>
                <a:r>
                  <a:rPr lang="es-ES" dirty="0"/>
                  <a:t>0</a:t>
                </a:r>
              </a:p>
            </p:txBody>
          </p:sp>
        </mc:Choice>
        <mc:Fallback xmlns="">
          <p:sp>
            <p:nvSpPr>
              <p:cNvPr id="31" name="CuadroTexto 30">
                <a:extLst>
                  <a:ext uri="{FF2B5EF4-FFF2-40B4-BE49-F238E27FC236}">
                    <a16:creationId xmlns:a16="http://schemas.microsoft.com/office/drawing/2014/main" id="{57A6C308-7B68-503A-B3F4-06D86773A5D4}"/>
                  </a:ext>
                </a:extLst>
              </p:cNvPr>
              <p:cNvSpPr txBox="1">
                <a:spLocks noRot="1" noChangeAspect="1" noMove="1" noResize="1" noEditPoints="1" noAdjustHandles="1" noChangeArrowheads="1" noChangeShapeType="1" noTextEdit="1"/>
              </p:cNvSpPr>
              <p:nvPr/>
            </p:nvSpPr>
            <p:spPr>
              <a:xfrm>
                <a:off x="8833180" y="6350971"/>
                <a:ext cx="447283" cy="163834"/>
              </a:xfrm>
              <a:prstGeom prst="rect">
                <a:avLst/>
              </a:prstGeom>
              <a:blipFill>
                <a:blip r:embed="rId7"/>
                <a:stretch>
                  <a:fillRect l="-13699" t="-48148" r="-101370" b="-15185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97293D69-91DB-9DDC-29C9-95D49CA703DA}"/>
                  </a:ext>
                </a:extLst>
              </p:cNvPr>
              <p:cNvSpPr txBox="1"/>
              <p:nvPr/>
            </p:nvSpPr>
            <p:spPr>
              <a:xfrm>
                <a:off x="8171372" y="5893083"/>
                <a:ext cx="523132" cy="1638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4</m:t>
                          </m:r>
                        </m:e>
                      </m:d>
                      <m:r>
                        <a:rPr lang="en-US" b="0" i="1" smtClean="0">
                          <a:latin typeface="Cambria Math" panose="02040503050406030204" pitchFamily="18" charset="0"/>
                        </a:rPr>
                        <m:t>=1</m:t>
                      </m:r>
                    </m:oMath>
                  </m:oMathPara>
                </a14:m>
                <a:endParaRPr lang="es-ES" dirty="0"/>
              </a:p>
            </p:txBody>
          </p:sp>
        </mc:Choice>
        <mc:Fallback xmlns="">
          <p:sp>
            <p:nvSpPr>
              <p:cNvPr id="32" name="CuadroTexto 31">
                <a:extLst>
                  <a:ext uri="{FF2B5EF4-FFF2-40B4-BE49-F238E27FC236}">
                    <a16:creationId xmlns:a16="http://schemas.microsoft.com/office/drawing/2014/main" id="{97293D69-91DB-9DDC-29C9-95D49CA703DA}"/>
                  </a:ext>
                </a:extLst>
              </p:cNvPr>
              <p:cNvSpPr txBox="1">
                <a:spLocks noRot="1" noChangeAspect="1" noMove="1" noResize="1" noEditPoints="1" noAdjustHandles="1" noChangeArrowheads="1" noChangeShapeType="1" noTextEdit="1"/>
              </p:cNvSpPr>
              <p:nvPr/>
            </p:nvSpPr>
            <p:spPr>
              <a:xfrm>
                <a:off x="8171372" y="5893083"/>
                <a:ext cx="523132" cy="163834"/>
              </a:xfrm>
              <a:prstGeom prst="rect">
                <a:avLst/>
              </a:prstGeom>
              <a:blipFill>
                <a:blip r:embed="rId8"/>
                <a:stretch>
                  <a:fillRect l="-11628" r="-73256" b="-77778"/>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F95AC2AE-79E0-B2A7-A3E6-26D536CB205B}"/>
                  </a:ext>
                </a:extLst>
              </p:cNvPr>
              <p:cNvSpPr txBox="1"/>
              <p:nvPr/>
            </p:nvSpPr>
            <p:spPr>
              <a:xfrm>
                <a:off x="7997382" y="4920066"/>
                <a:ext cx="523132" cy="1638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5</m:t>
                          </m:r>
                        </m:e>
                      </m:d>
                      <m:r>
                        <a:rPr lang="en-US" b="0" i="1" smtClean="0">
                          <a:latin typeface="Cambria Math" panose="02040503050406030204" pitchFamily="18" charset="0"/>
                        </a:rPr>
                        <m:t>=1</m:t>
                      </m:r>
                    </m:oMath>
                  </m:oMathPara>
                </a14:m>
                <a:endParaRPr lang="es-ES" dirty="0"/>
              </a:p>
            </p:txBody>
          </p:sp>
        </mc:Choice>
        <mc:Fallback xmlns="">
          <p:sp>
            <p:nvSpPr>
              <p:cNvPr id="33" name="CuadroTexto 32">
                <a:extLst>
                  <a:ext uri="{FF2B5EF4-FFF2-40B4-BE49-F238E27FC236}">
                    <a16:creationId xmlns:a16="http://schemas.microsoft.com/office/drawing/2014/main" id="{F95AC2AE-79E0-B2A7-A3E6-26D536CB205B}"/>
                  </a:ext>
                </a:extLst>
              </p:cNvPr>
              <p:cNvSpPr txBox="1">
                <a:spLocks noRot="1" noChangeAspect="1" noMove="1" noResize="1" noEditPoints="1" noAdjustHandles="1" noChangeArrowheads="1" noChangeShapeType="1" noTextEdit="1"/>
              </p:cNvSpPr>
              <p:nvPr/>
            </p:nvSpPr>
            <p:spPr>
              <a:xfrm>
                <a:off x="7997382" y="4920066"/>
                <a:ext cx="523132" cy="163834"/>
              </a:xfrm>
              <a:prstGeom prst="rect">
                <a:avLst/>
              </a:prstGeom>
              <a:blipFill>
                <a:blip r:embed="rId9"/>
                <a:stretch>
                  <a:fillRect l="-11628" r="-72093" b="-8148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4" name="CuadroTexto 33">
                <a:extLst>
                  <a:ext uri="{FF2B5EF4-FFF2-40B4-BE49-F238E27FC236}">
                    <a16:creationId xmlns:a16="http://schemas.microsoft.com/office/drawing/2014/main" id="{6ACEF6CD-164B-1A40-85DE-9D12538F3CD6}"/>
                  </a:ext>
                </a:extLst>
              </p:cNvPr>
              <p:cNvSpPr txBox="1"/>
              <p:nvPr/>
            </p:nvSpPr>
            <p:spPr>
              <a:xfrm>
                <a:off x="8556541" y="4061072"/>
                <a:ext cx="523132" cy="1638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6</m:t>
                          </m:r>
                        </m:e>
                      </m:d>
                      <m:r>
                        <a:rPr lang="en-US" b="0" i="1" smtClean="0">
                          <a:latin typeface="Cambria Math" panose="02040503050406030204" pitchFamily="18" charset="0"/>
                        </a:rPr>
                        <m:t>=0</m:t>
                      </m:r>
                    </m:oMath>
                  </m:oMathPara>
                </a14:m>
                <a:endParaRPr lang="es-ES" dirty="0"/>
              </a:p>
            </p:txBody>
          </p:sp>
        </mc:Choice>
        <mc:Fallback xmlns="">
          <p:sp>
            <p:nvSpPr>
              <p:cNvPr id="34" name="CuadroTexto 33">
                <a:extLst>
                  <a:ext uri="{FF2B5EF4-FFF2-40B4-BE49-F238E27FC236}">
                    <a16:creationId xmlns:a16="http://schemas.microsoft.com/office/drawing/2014/main" id="{6ACEF6CD-164B-1A40-85DE-9D12538F3CD6}"/>
                  </a:ext>
                </a:extLst>
              </p:cNvPr>
              <p:cNvSpPr txBox="1">
                <a:spLocks noRot="1" noChangeAspect="1" noMove="1" noResize="1" noEditPoints="1" noAdjustHandles="1" noChangeArrowheads="1" noChangeShapeType="1" noTextEdit="1"/>
              </p:cNvSpPr>
              <p:nvPr/>
            </p:nvSpPr>
            <p:spPr>
              <a:xfrm>
                <a:off x="8556541" y="4061072"/>
                <a:ext cx="523132" cy="163834"/>
              </a:xfrm>
              <a:prstGeom prst="rect">
                <a:avLst/>
              </a:prstGeom>
              <a:blipFill>
                <a:blip r:embed="rId10"/>
                <a:stretch>
                  <a:fillRect l="-11765" r="-74118" b="-81481"/>
                </a:stretch>
              </a:blipFill>
            </p:spPr>
            <p:txBody>
              <a:bodyPr/>
              <a:lstStyle/>
              <a:p>
                <a:r>
                  <a:rPr lang="es-ES">
                    <a:noFill/>
                  </a:rPr>
                  <a:t> </a:t>
                </a:r>
              </a:p>
            </p:txBody>
          </p:sp>
        </mc:Fallback>
      </mc:AlternateContent>
      <p:sp>
        <p:nvSpPr>
          <p:cNvPr id="35" name="CuadroTexto 34">
            <a:extLst>
              <a:ext uri="{FF2B5EF4-FFF2-40B4-BE49-F238E27FC236}">
                <a16:creationId xmlns:a16="http://schemas.microsoft.com/office/drawing/2014/main" id="{88CAF9E6-F66B-ED8A-C06E-8FB781DB0A74}"/>
              </a:ext>
            </a:extLst>
          </p:cNvPr>
          <p:cNvSpPr txBox="1"/>
          <p:nvPr/>
        </p:nvSpPr>
        <p:spPr>
          <a:xfrm>
            <a:off x="6384982" y="5441795"/>
            <a:ext cx="1425666" cy="923330"/>
          </a:xfrm>
          <a:prstGeom prst="rect">
            <a:avLst/>
          </a:prstGeom>
          <a:solidFill>
            <a:schemeClr val="accent6">
              <a:lumMod val="20000"/>
              <a:lumOff val="80000"/>
            </a:schemeClr>
          </a:solidFill>
        </p:spPr>
        <p:txBody>
          <a:bodyPr wrap="square" rtlCol="0">
            <a:spAutoFit/>
          </a:bodyPr>
          <a:lstStyle/>
          <a:p>
            <a:r>
              <a:rPr lang="en-US" dirty="0" err="1"/>
              <a:t>Ejemplo</a:t>
            </a:r>
            <a:r>
              <a:rPr lang="en-US" dirty="0"/>
              <a:t> de </a:t>
            </a:r>
            <a:r>
              <a:rPr lang="en-US" dirty="0" err="1"/>
              <a:t>memoria</a:t>
            </a:r>
            <a:r>
              <a:rPr lang="en-US" dirty="0"/>
              <a:t> o </a:t>
            </a:r>
            <a:r>
              <a:rPr lang="en-US" dirty="0" err="1"/>
              <a:t>patr</a:t>
            </a:r>
            <a:r>
              <a:rPr lang="es-ES" dirty="0" err="1"/>
              <a:t>ón</a:t>
            </a:r>
            <a:r>
              <a:rPr lang="es-ES" dirty="0"/>
              <a:t>:</a:t>
            </a:r>
          </a:p>
        </p:txBody>
      </p:sp>
      <p:sp>
        <p:nvSpPr>
          <p:cNvPr id="38" name="Título 1">
            <a:extLst>
              <a:ext uri="{FF2B5EF4-FFF2-40B4-BE49-F238E27FC236}">
                <a16:creationId xmlns:a16="http://schemas.microsoft.com/office/drawing/2014/main" id="{C7D139BA-5E25-332B-5285-2871AC3DE5A9}"/>
              </a:ext>
            </a:extLst>
          </p:cNvPr>
          <p:cNvSpPr txBox="1">
            <a:spLocks/>
          </p:cNvSpPr>
          <p:nvPr/>
        </p:nvSpPr>
        <p:spPr>
          <a:xfrm>
            <a:off x="0" y="104764"/>
            <a:ext cx="12192000" cy="708208"/>
          </a:xfrm>
          <a:prstGeom prst="rect">
            <a:avLst/>
          </a:prstGeom>
          <a:solidFill>
            <a:schemeClr val="accent6">
              <a:lumMod val="20000"/>
              <a:lumOff val="8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b="1" dirty="0"/>
              <a:t>Modelo de </a:t>
            </a:r>
            <a:r>
              <a:rPr lang="es-ES" sz="2800" b="1" dirty="0" err="1"/>
              <a:t>Hopfield</a:t>
            </a:r>
            <a:r>
              <a:rPr lang="es-ES" sz="2800" b="1" dirty="0"/>
              <a:t> de red neuronal</a:t>
            </a:r>
          </a:p>
        </p:txBody>
      </p:sp>
    </p:spTree>
    <p:extLst>
      <p:ext uri="{BB962C8B-B14F-4D97-AF65-F5344CB8AC3E}">
        <p14:creationId xmlns:p14="http://schemas.microsoft.com/office/powerpoint/2010/main" val="1793782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89085D7-2C7D-3D33-AA91-A1DB18F52F64}"/>
              </a:ext>
            </a:extLst>
          </p:cNvPr>
          <p:cNvSpPr>
            <a:spLocks noGrp="1"/>
          </p:cNvSpPr>
          <p:nvPr>
            <p:ph idx="1"/>
          </p:nvPr>
        </p:nvSpPr>
        <p:spPr>
          <a:xfrm>
            <a:off x="838200" y="1153272"/>
            <a:ext cx="10515600" cy="4351338"/>
          </a:xfrm>
        </p:spPr>
        <p:txBody>
          <a:bodyPr>
            <a:normAutofit fontScale="55000" lnSpcReduction="20000"/>
          </a:bodyPr>
          <a:lstStyle/>
          <a:p>
            <a:pPr>
              <a:lnSpc>
                <a:spcPct val="120000"/>
              </a:lnSpc>
            </a:pPr>
            <a:r>
              <a:rPr lang="es-ES" b="0" i="0" dirty="0">
                <a:solidFill>
                  <a:srgbClr val="202122"/>
                </a:solidFill>
                <a:effectLst/>
                <a:latin typeface="Arial" panose="020B0604020202020204" pitchFamily="34" charset="0"/>
              </a:rPr>
              <a:t>La </a:t>
            </a:r>
            <a:r>
              <a:rPr lang="es-ES" b="1" i="0" dirty="0">
                <a:solidFill>
                  <a:srgbClr val="202122"/>
                </a:solidFill>
                <a:effectLst/>
                <a:latin typeface="Arial" panose="020B0604020202020204" pitchFamily="34" charset="0"/>
              </a:rPr>
              <a:t>teoría </a:t>
            </a:r>
            <a:r>
              <a:rPr lang="es-ES" b="1" i="0" dirty="0" err="1">
                <a:solidFill>
                  <a:srgbClr val="202122"/>
                </a:solidFill>
                <a:effectLst/>
                <a:latin typeface="Arial" panose="020B0604020202020204" pitchFamily="34" charset="0"/>
              </a:rPr>
              <a:t>Hebbiana</a:t>
            </a:r>
            <a:r>
              <a:rPr lang="es-ES" b="1" i="0" dirty="0">
                <a:solidFill>
                  <a:srgbClr val="202122"/>
                </a:solidFill>
                <a:effectLst/>
                <a:latin typeface="Arial" panose="020B0604020202020204" pitchFamily="34" charset="0"/>
              </a:rPr>
              <a:t>, </a:t>
            </a:r>
            <a:r>
              <a:rPr lang="es-ES" i="0" dirty="0">
                <a:solidFill>
                  <a:srgbClr val="202122"/>
                </a:solidFill>
                <a:effectLst/>
                <a:latin typeface="Arial" panose="020B0604020202020204" pitchFamily="34" charset="0"/>
              </a:rPr>
              <a:t>introducida por Donald Hebb en 1949, </a:t>
            </a:r>
            <a:r>
              <a:rPr lang="es-ES" b="0" i="0" dirty="0">
                <a:solidFill>
                  <a:srgbClr val="202122"/>
                </a:solidFill>
                <a:effectLst/>
                <a:latin typeface="Arial" panose="020B0604020202020204" pitchFamily="34" charset="0"/>
              </a:rPr>
              <a:t>describe un </a:t>
            </a:r>
            <a:r>
              <a:rPr lang="es-ES" b="0" i="0" dirty="0">
                <a:solidFill>
                  <a:srgbClr val="B020A9"/>
                </a:solidFill>
                <a:effectLst/>
                <a:latin typeface="Arial" panose="020B0604020202020204" pitchFamily="34" charset="0"/>
              </a:rPr>
              <a:t>mecanismo básico de </a:t>
            </a:r>
            <a:r>
              <a:rPr lang="es-ES" b="0" i="0" u="none" strike="noStrike" dirty="0">
                <a:solidFill>
                  <a:srgbClr val="B020A9"/>
                </a:solidFill>
                <a:effectLst/>
                <a:latin typeface="Arial" panose="020B0604020202020204" pitchFamily="34" charset="0"/>
              </a:rPr>
              <a:t>plasticidad sináptica</a:t>
            </a:r>
            <a:r>
              <a:rPr lang="es-ES" b="0" i="0" dirty="0">
                <a:solidFill>
                  <a:srgbClr val="B020A9"/>
                </a:solidFill>
                <a:effectLst/>
                <a:latin typeface="Arial" panose="020B0604020202020204" pitchFamily="34" charset="0"/>
              </a:rPr>
              <a:t> </a:t>
            </a:r>
            <a:r>
              <a:rPr lang="es-ES" b="0" i="0" dirty="0">
                <a:solidFill>
                  <a:srgbClr val="202122"/>
                </a:solidFill>
                <a:effectLst/>
                <a:latin typeface="Arial" panose="020B0604020202020204" pitchFamily="34" charset="0"/>
              </a:rPr>
              <a:t>en el que el valor de una conexión </a:t>
            </a:r>
            <a:r>
              <a:rPr lang="es-ES" b="0" i="0" u="none" strike="noStrike" dirty="0">
                <a:effectLst/>
                <a:latin typeface="Arial" panose="020B0604020202020204" pitchFamily="34" charset="0"/>
              </a:rPr>
              <a:t>sináptica</a:t>
            </a:r>
            <a:r>
              <a:rPr lang="es-ES" b="0" i="0" dirty="0">
                <a:solidFill>
                  <a:srgbClr val="202122"/>
                </a:solidFill>
                <a:effectLst/>
                <a:latin typeface="Arial" panose="020B0604020202020204" pitchFamily="34" charset="0"/>
              </a:rPr>
              <a:t> se incrementa si las neuronas de ambos lados de dicha sinapsis se activan repetidas veces de forma simultánea:</a:t>
            </a:r>
          </a:p>
          <a:p>
            <a:pPr marL="0" indent="0" algn="ctr">
              <a:lnSpc>
                <a:spcPct val="120000"/>
              </a:lnSpc>
              <a:buNone/>
            </a:pPr>
            <a:r>
              <a:rPr lang="es-ES" b="0" i="1" dirty="0">
                <a:solidFill>
                  <a:srgbClr val="202122"/>
                </a:solidFill>
                <a:effectLst/>
                <a:latin typeface="Arial" panose="020B0604020202020204" pitchFamily="34" charset="0"/>
              </a:rPr>
              <a:t>Supongamos que la persistencia de una actividad repetitiva (o "señal") tiende a inducir cambios celulares duraderos que promueven su estabilidad. ... Cuando el axón de una célula A está lo suficientemente cerca como para excitar a una célula B y repetidamente toma parte en la activación, ocurren procesos de crecimiento o cambios metabólicos en una o ambas células de manera que tanto la eficiencia de la célula A, como la capacidad de excitación de la célula B son aumentadas.</a:t>
            </a:r>
          </a:p>
          <a:p>
            <a:pPr>
              <a:lnSpc>
                <a:spcPct val="120000"/>
              </a:lnSpc>
            </a:pPr>
            <a:r>
              <a:rPr lang="es-ES" b="0" i="0" dirty="0">
                <a:solidFill>
                  <a:srgbClr val="202122"/>
                </a:solidFill>
                <a:effectLst/>
                <a:latin typeface="Arial" panose="020B0604020202020204" pitchFamily="34" charset="0"/>
              </a:rPr>
              <a:t>La teoría se resume a menudo como</a:t>
            </a:r>
            <a:r>
              <a:rPr lang="es-ES" b="0" i="0" dirty="0">
                <a:solidFill>
                  <a:srgbClr val="B020A9"/>
                </a:solidFill>
                <a:effectLst/>
                <a:latin typeface="Arial" panose="020B0604020202020204" pitchFamily="34" charset="0"/>
              </a:rPr>
              <a:t>: "</a:t>
            </a:r>
            <a:r>
              <a:rPr lang="es-ES" b="0" i="1" dirty="0">
                <a:solidFill>
                  <a:srgbClr val="B020A9"/>
                </a:solidFill>
                <a:effectLst/>
                <a:latin typeface="Arial" panose="020B0604020202020204" pitchFamily="34" charset="0"/>
              </a:rPr>
              <a:t>las neuronas que se disparan juntas permanecerán conectadas</a:t>
            </a:r>
            <a:r>
              <a:rPr lang="es-ES" b="0" i="0" dirty="0">
                <a:solidFill>
                  <a:srgbClr val="B020A9"/>
                </a:solidFill>
                <a:effectLst/>
                <a:latin typeface="Arial" panose="020B0604020202020204" pitchFamily="34" charset="0"/>
              </a:rPr>
              <a:t>“ (</a:t>
            </a:r>
            <a:r>
              <a:rPr lang="es-ES" b="0" i="1" dirty="0" err="1">
                <a:solidFill>
                  <a:srgbClr val="B020A9"/>
                </a:solidFill>
                <a:effectLst/>
                <a:latin typeface="Arial" panose="020B0604020202020204" pitchFamily="34" charset="0"/>
              </a:rPr>
              <a:t>neurons</a:t>
            </a:r>
            <a:r>
              <a:rPr lang="es-ES" b="0" i="1" dirty="0">
                <a:solidFill>
                  <a:srgbClr val="B020A9"/>
                </a:solidFill>
                <a:effectLst/>
                <a:latin typeface="Arial" panose="020B0604020202020204" pitchFamily="34" charset="0"/>
              </a:rPr>
              <a:t> </a:t>
            </a:r>
            <a:r>
              <a:rPr lang="es-ES" b="0" i="1" dirty="0" err="1">
                <a:solidFill>
                  <a:srgbClr val="B020A9"/>
                </a:solidFill>
                <a:effectLst/>
                <a:latin typeface="Arial" panose="020B0604020202020204" pitchFamily="34" charset="0"/>
              </a:rPr>
              <a:t>that</a:t>
            </a:r>
            <a:r>
              <a:rPr lang="es-ES" b="0" i="1" dirty="0">
                <a:solidFill>
                  <a:srgbClr val="B020A9"/>
                </a:solidFill>
                <a:effectLst/>
                <a:latin typeface="Arial" panose="020B0604020202020204" pitchFamily="34" charset="0"/>
              </a:rPr>
              <a:t> </a:t>
            </a:r>
            <a:r>
              <a:rPr lang="es-ES" b="0" i="1" dirty="0" err="1">
                <a:solidFill>
                  <a:srgbClr val="B020A9"/>
                </a:solidFill>
                <a:effectLst/>
                <a:latin typeface="Arial" panose="020B0604020202020204" pitchFamily="34" charset="0"/>
              </a:rPr>
              <a:t>fire</a:t>
            </a:r>
            <a:r>
              <a:rPr lang="es-ES" b="0" i="1" dirty="0">
                <a:solidFill>
                  <a:srgbClr val="B020A9"/>
                </a:solidFill>
                <a:effectLst/>
                <a:latin typeface="Arial" panose="020B0604020202020204" pitchFamily="34" charset="0"/>
              </a:rPr>
              <a:t> </a:t>
            </a:r>
            <a:r>
              <a:rPr lang="es-ES" b="0" i="1" dirty="0" err="1">
                <a:solidFill>
                  <a:srgbClr val="B020A9"/>
                </a:solidFill>
                <a:effectLst/>
                <a:latin typeface="Arial" panose="020B0604020202020204" pitchFamily="34" charset="0"/>
              </a:rPr>
              <a:t>together</a:t>
            </a:r>
            <a:r>
              <a:rPr lang="es-ES" b="0" i="1" dirty="0">
                <a:solidFill>
                  <a:srgbClr val="B020A9"/>
                </a:solidFill>
                <a:effectLst/>
                <a:latin typeface="Arial" panose="020B0604020202020204" pitchFamily="34" charset="0"/>
              </a:rPr>
              <a:t> </a:t>
            </a:r>
            <a:r>
              <a:rPr lang="es-ES" b="0" i="1" dirty="0" err="1">
                <a:solidFill>
                  <a:srgbClr val="B020A9"/>
                </a:solidFill>
                <a:effectLst/>
                <a:latin typeface="Arial" panose="020B0604020202020204" pitchFamily="34" charset="0"/>
              </a:rPr>
              <a:t>wire</a:t>
            </a:r>
            <a:r>
              <a:rPr lang="es-ES" b="0" i="1" dirty="0">
                <a:solidFill>
                  <a:srgbClr val="B020A9"/>
                </a:solidFill>
                <a:effectLst/>
                <a:latin typeface="Arial" panose="020B0604020202020204" pitchFamily="34" charset="0"/>
              </a:rPr>
              <a:t> </a:t>
            </a:r>
            <a:r>
              <a:rPr lang="es-ES" b="0" i="1" dirty="0" err="1">
                <a:solidFill>
                  <a:srgbClr val="B020A9"/>
                </a:solidFill>
                <a:effectLst/>
                <a:latin typeface="Arial" panose="020B0604020202020204" pitchFamily="34" charset="0"/>
              </a:rPr>
              <a:t>together</a:t>
            </a:r>
            <a:r>
              <a:rPr lang="es-ES" b="0" i="0" dirty="0">
                <a:solidFill>
                  <a:srgbClr val="B020A9"/>
                </a:solidFill>
                <a:effectLst/>
                <a:latin typeface="Arial" panose="020B0604020202020204" pitchFamily="34" charset="0"/>
              </a:rPr>
              <a:t>), </a:t>
            </a:r>
            <a:r>
              <a:rPr lang="es-ES" b="0" i="0" dirty="0">
                <a:solidFill>
                  <a:srgbClr val="202122"/>
                </a:solidFill>
                <a:effectLst/>
                <a:latin typeface="Arial" panose="020B0604020202020204" pitchFamily="34" charset="0"/>
              </a:rPr>
              <a:t>aunque esto es una simplificación del </a:t>
            </a:r>
            <a:r>
              <a:rPr lang="es-ES" b="0" i="0" u="none" strike="noStrike" dirty="0">
                <a:effectLst/>
                <a:latin typeface="Arial" panose="020B0604020202020204" pitchFamily="34" charset="0"/>
              </a:rPr>
              <a:t>sistema nervioso</a:t>
            </a:r>
            <a:r>
              <a:rPr lang="es-ES" b="0" i="0" dirty="0">
                <a:solidFill>
                  <a:srgbClr val="202122"/>
                </a:solidFill>
                <a:effectLst/>
                <a:latin typeface="Arial" panose="020B0604020202020204" pitchFamily="34" charset="0"/>
              </a:rPr>
              <a:t> no debe tomarse literalmente, así como no representa con exactitud la declaración original de Hebb sobre la causalidad necesaria en los disparos. </a:t>
            </a:r>
          </a:p>
          <a:p>
            <a:pPr>
              <a:lnSpc>
                <a:spcPct val="120000"/>
              </a:lnSpc>
            </a:pPr>
            <a:r>
              <a:rPr lang="es-ES" b="0" i="0" dirty="0">
                <a:solidFill>
                  <a:srgbClr val="202122"/>
                </a:solidFill>
                <a:effectLst/>
                <a:latin typeface="Arial" panose="020B0604020202020204" pitchFamily="34" charset="0"/>
              </a:rPr>
              <a:t>La teoría es comúnmente evocada para explicar algunos tipos de </a:t>
            </a:r>
            <a:r>
              <a:rPr lang="es-ES" b="0" i="0" dirty="0">
                <a:solidFill>
                  <a:srgbClr val="B020A9"/>
                </a:solidFill>
                <a:effectLst/>
                <a:latin typeface="Arial" panose="020B0604020202020204" pitchFamily="34" charset="0"/>
              </a:rPr>
              <a:t>aprendizajes asociativos </a:t>
            </a:r>
            <a:r>
              <a:rPr lang="es-ES" b="0" i="0" dirty="0">
                <a:solidFill>
                  <a:srgbClr val="202122"/>
                </a:solidFill>
                <a:effectLst/>
                <a:latin typeface="Arial" panose="020B0604020202020204" pitchFamily="34" charset="0"/>
              </a:rPr>
              <a:t>en los que la activación simultánea de las células conduce a un pronunciado aumento de la </a:t>
            </a:r>
            <a:r>
              <a:rPr lang="es-ES" b="0" i="0" u="none" strike="noStrike" dirty="0">
                <a:effectLst/>
                <a:latin typeface="Arial" panose="020B0604020202020204" pitchFamily="34" charset="0"/>
              </a:rPr>
              <a:t>fuerza sináptica</a:t>
            </a:r>
            <a:r>
              <a:rPr lang="es-ES" b="0" i="0" dirty="0">
                <a:solidFill>
                  <a:srgbClr val="202122"/>
                </a:solidFill>
                <a:effectLst/>
                <a:latin typeface="Arial" panose="020B0604020202020204" pitchFamily="34" charset="0"/>
              </a:rPr>
              <a:t>. </a:t>
            </a:r>
            <a:endParaRPr lang="es-ES" i="1" dirty="0"/>
          </a:p>
        </p:txBody>
      </p:sp>
      <p:sp>
        <p:nvSpPr>
          <p:cNvPr id="5" name="Título 1">
            <a:extLst>
              <a:ext uri="{FF2B5EF4-FFF2-40B4-BE49-F238E27FC236}">
                <a16:creationId xmlns:a16="http://schemas.microsoft.com/office/drawing/2014/main" id="{E8B8A698-427E-7998-F8C4-C07DFE042961}"/>
              </a:ext>
            </a:extLst>
          </p:cNvPr>
          <p:cNvSpPr txBox="1">
            <a:spLocks/>
          </p:cNvSpPr>
          <p:nvPr/>
        </p:nvSpPr>
        <p:spPr>
          <a:xfrm>
            <a:off x="0" y="104764"/>
            <a:ext cx="12192000" cy="708208"/>
          </a:xfrm>
          <a:prstGeom prst="rect">
            <a:avLst/>
          </a:prstGeom>
          <a:solidFill>
            <a:schemeClr val="accent6">
              <a:lumMod val="20000"/>
              <a:lumOff val="8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b="1" dirty="0"/>
              <a:t>Modelo de </a:t>
            </a:r>
            <a:r>
              <a:rPr lang="es-ES" sz="2800" b="1" dirty="0" err="1"/>
              <a:t>Hopfield</a:t>
            </a:r>
            <a:r>
              <a:rPr lang="es-ES" sz="2800" b="1" dirty="0"/>
              <a:t> de red neuronal: Regla de Hebb</a:t>
            </a:r>
          </a:p>
        </p:txBody>
      </p:sp>
    </p:spTree>
    <p:extLst>
      <p:ext uri="{BB962C8B-B14F-4D97-AF65-F5344CB8AC3E}">
        <p14:creationId xmlns:p14="http://schemas.microsoft.com/office/powerpoint/2010/main" val="2647223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EE31A-7C34-76DB-8ABB-0718585AE49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F59B677-146C-D5DF-2862-93DB0E09E542}"/>
                  </a:ext>
                </a:extLst>
              </p:cNvPr>
              <p:cNvSpPr>
                <a:spLocks noGrp="1"/>
              </p:cNvSpPr>
              <p:nvPr>
                <p:ph idx="1"/>
              </p:nvPr>
            </p:nvSpPr>
            <p:spPr>
              <a:xfrm>
                <a:off x="119069" y="1121344"/>
                <a:ext cx="6423212" cy="5555180"/>
              </a:xfrm>
            </p:spPr>
            <p:txBody>
              <a:bodyPr>
                <a:normAutofit fontScale="85000" lnSpcReduction="10000"/>
              </a:bodyPr>
              <a:lstStyle/>
              <a:p>
                <a:pPr>
                  <a:lnSpc>
                    <a:spcPct val="120000"/>
                  </a:lnSpc>
                </a:pPr>
                <a:r>
                  <a:rPr lang="es-ES" sz="1800" b="0" i="0" u="none" strike="noStrike" baseline="0" dirty="0">
                    <a:latin typeface="LMRoman17-Regular"/>
                  </a:rPr>
                  <a:t>Elegimos los pesos de modo que un</a:t>
                </a:r>
                <a:r>
                  <a:rPr lang="es-ES" sz="1800" b="0" i="0" u="none" strike="noStrike" dirty="0">
                    <a:latin typeface="LMRoman17-Regular"/>
                  </a:rPr>
                  <a:t> conjunto de </a:t>
                </a:r>
                <a14:m>
                  <m:oMath xmlns:m="http://schemas.openxmlformats.org/officeDocument/2006/math">
                    <m:r>
                      <m:rPr>
                        <m:sty m:val="p"/>
                      </m:rPr>
                      <a:rPr lang="en-US" sz="1800" b="0" i="0" baseline="0" smtClean="0">
                        <a:latin typeface="Cambria Math" panose="02040503050406030204" pitchFamily="18" charset="0"/>
                      </a:rPr>
                      <m:t>P</m:t>
                    </m:r>
                  </m:oMath>
                </a14:m>
                <a:r>
                  <a:rPr lang="es-ES" sz="1800" b="0" i="0" u="none" strike="noStrike" baseline="0" dirty="0">
                    <a:latin typeface="LMRoman17-Regular"/>
                  </a:rPr>
                  <a:t> configuraciones particulares de la red </a:t>
                </a:r>
                <a14:m>
                  <m:oMath xmlns:m="http://schemas.openxmlformats.org/officeDocument/2006/math">
                    <m:sSup>
                      <m:sSupPr>
                        <m:ctrlPr>
                          <a:rPr lang="en-US" sz="1800" b="0" i="1" u="none" strike="noStrike" baseline="0" smtClean="0">
                            <a:solidFill>
                              <a:srgbClr val="B020A9"/>
                            </a:solidFill>
                            <a:latin typeface="Cambria Math" panose="02040503050406030204" pitchFamily="18" charset="0"/>
                          </a:rPr>
                        </m:ctrlPr>
                      </m:sSupPr>
                      <m:e>
                        <m:r>
                          <a:rPr lang="en-US" sz="1800" b="0" i="1" u="none" strike="noStrike" baseline="0" smtClean="0">
                            <a:solidFill>
                              <a:srgbClr val="B020A9"/>
                            </a:solidFill>
                            <a:latin typeface="Cambria Math" panose="02040503050406030204" pitchFamily="18" charset="0"/>
                          </a:rPr>
                          <m:t>𝜉</m:t>
                        </m:r>
                      </m:e>
                      <m:sup>
                        <m:r>
                          <a:rPr lang="en-US" sz="1800" b="0" i="1" u="none" strike="noStrike" baseline="0" smtClean="0">
                            <a:solidFill>
                              <a:srgbClr val="B020A9"/>
                            </a:solidFill>
                            <a:latin typeface="Cambria Math" panose="02040503050406030204" pitchFamily="18" charset="0"/>
                          </a:rPr>
                          <m:t>𝜇</m:t>
                        </m:r>
                      </m:sup>
                    </m:sSup>
                    <m:r>
                      <a:rPr lang="en-US" sz="1800" b="0" i="1" u="none" strike="noStrike" baseline="0" smtClean="0">
                        <a:solidFill>
                          <a:srgbClr val="B020A9"/>
                        </a:solidFill>
                        <a:latin typeface="Cambria Math" panose="02040503050406030204" pitchFamily="18" charset="0"/>
                      </a:rPr>
                      <m:t>={</m:t>
                    </m:r>
                    <m:sSubSup>
                      <m:sSubSupPr>
                        <m:ctrlPr>
                          <a:rPr lang="en-US" sz="1800" b="0" i="1" u="none" strike="noStrike" baseline="0" smtClean="0">
                            <a:solidFill>
                              <a:srgbClr val="B020A9"/>
                            </a:solidFill>
                            <a:latin typeface="Cambria Math" panose="02040503050406030204" pitchFamily="18" charset="0"/>
                          </a:rPr>
                        </m:ctrlPr>
                      </m:sSubSupPr>
                      <m:e>
                        <m:r>
                          <a:rPr lang="en-US" sz="1800" b="0" i="1" u="none" strike="noStrike" baseline="0" smtClean="0">
                            <a:solidFill>
                              <a:srgbClr val="B020A9"/>
                            </a:solidFill>
                            <a:latin typeface="Cambria Math" panose="02040503050406030204" pitchFamily="18" charset="0"/>
                          </a:rPr>
                          <m:t>𝜉</m:t>
                        </m:r>
                      </m:e>
                      <m:sub>
                        <m:r>
                          <a:rPr lang="en-US" sz="1800" b="0" i="1" u="none" strike="noStrike" baseline="0" smtClean="0">
                            <a:solidFill>
                              <a:srgbClr val="B020A9"/>
                            </a:solidFill>
                            <a:latin typeface="Cambria Math" panose="02040503050406030204" pitchFamily="18" charset="0"/>
                          </a:rPr>
                          <m:t>𝑖</m:t>
                        </m:r>
                      </m:sub>
                      <m:sup>
                        <m:r>
                          <a:rPr lang="en-US" sz="1800" b="0" i="1" u="none" strike="noStrike" baseline="0" smtClean="0">
                            <a:solidFill>
                              <a:srgbClr val="B020A9"/>
                            </a:solidFill>
                            <a:latin typeface="Cambria Math" panose="02040503050406030204" pitchFamily="18" charset="0"/>
                          </a:rPr>
                          <m:t>𝜇</m:t>
                        </m:r>
                      </m:sup>
                    </m:sSubSup>
                    <m:r>
                      <a:rPr lang="en-US" sz="1800" b="0" i="1" u="none" strike="noStrike" baseline="0" smtClean="0">
                        <a:solidFill>
                          <a:srgbClr val="B020A9"/>
                        </a:solidFill>
                        <a:latin typeface="Cambria Math" panose="02040503050406030204" pitchFamily="18" charset="0"/>
                      </a:rPr>
                      <m:t>=1,0</m:t>
                    </m:r>
                    <m:r>
                      <m:rPr>
                        <m:lit/>
                      </m:rPr>
                      <a:rPr lang="en-US" sz="1800" b="0" i="1" u="none" strike="noStrike" baseline="0" smtClean="0">
                        <a:solidFill>
                          <a:srgbClr val="B020A9"/>
                        </a:solidFill>
                        <a:latin typeface="Cambria Math" panose="02040503050406030204" pitchFamily="18" charset="0"/>
                      </a:rPr>
                      <m:t> </m:t>
                    </m:r>
                    <m:r>
                      <a:rPr lang="en-US" sz="1800" b="0" i="1" u="none" strike="noStrike" baseline="0" smtClean="0">
                        <a:solidFill>
                          <a:srgbClr val="B020A9"/>
                        </a:solidFill>
                        <a:latin typeface="Cambria Math" panose="02040503050406030204" pitchFamily="18" charset="0"/>
                      </a:rPr>
                      <m:t>𝑖</m:t>
                    </m:r>
                    <m:r>
                      <a:rPr lang="en-US" sz="1800" b="0" i="1" u="none" strike="noStrike" baseline="0" smtClean="0">
                        <a:solidFill>
                          <a:srgbClr val="B020A9"/>
                        </a:solidFill>
                        <a:latin typeface="Cambria Math" panose="02040503050406030204" pitchFamily="18" charset="0"/>
                      </a:rPr>
                      <m:t>=0,…,</m:t>
                    </m:r>
                    <m:r>
                      <a:rPr lang="en-US" sz="1800" b="0" i="1" u="none" strike="noStrike" baseline="0" smtClean="0">
                        <a:solidFill>
                          <a:srgbClr val="B020A9"/>
                        </a:solidFill>
                        <a:latin typeface="Cambria Math" panose="02040503050406030204" pitchFamily="18" charset="0"/>
                      </a:rPr>
                      <m:t>𝑁</m:t>
                    </m:r>
                    <m:r>
                      <a:rPr lang="en-US" sz="1800" b="0" i="1" u="none" strike="noStrike" baseline="0" smtClean="0">
                        <a:solidFill>
                          <a:srgbClr val="B020A9"/>
                        </a:solidFill>
                        <a:latin typeface="Cambria Math" panose="02040503050406030204" pitchFamily="18" charset="0"/>
                      </a:rPr>
                      <m:t>}</m:t>
                    </m:r>
                  </m:oMath>
                </a14:m>
                <a:r>
                  <a:rPr lang="es-ES" sz="1800" b="0" i="1" u="none" strike="noStrike" baseline="0" dirty="0">
                    <a:latin typeface="LMMathItalic12-Regular"/>
                  </a:rPr>
                  <a:t>, </a:t>
                </a:r>
                <a:r>
                  <a:rPr lang="es-ES" sz="1800" b="0" i="0" u="none" strike="noStrike" baseline="0" dirty="0">
                    <a:latin typeface="LMRoman17-Regular"/>
                  </a:rPr>
                  <a:t>llamados </a:t>
                </a:r>
                <a:r>
                  <a:rPr lang="es-ES" sz="1800" b="0" i="0" u="none" strike="noStrike" baseline="0" dirty="0">
                    <a:solidFill>
                      <a:srgbClr val="B020A9"/>
                    </a:solidFill>
                    <a:latin typeface="LMRoman17-Regular"/>
                  </a:rPr>
                  <a:t>patrones o memorias</a:t>
                </a:r>
                <a:r>
                  <a:rPr lang="es-ES" sz="1800" b="0" i="0" u="none" strike="noStrike" baseline="0" dirty="0">
                    <a:latin typeface="LMRoman17-Regular"/>
                  </a:rPr>
                  <a:t>, se conviertan</a:t>
                </a:r>
                <a:r>
                  <a:rPr lang="es-ES" sz="1800" b="0" i="0" u="none" strike="noStrike" dirty="0">
                    <a:latin typeface="LMRoman17-Regular"/>
                  </a:rPr>
                  <a:t> en </a:t>
                </a:r>
                <a:r>
                  <a:rPr lang="es-ES" sz="1800" b="0" i="0" u="none" strike="noStrike" dirty="0">
                    <a:solidFill>
                      <a:srgbClr val="B020A9"/>
                    </a:solidFill>
                    <a:latin typeface="LMRoman17-Regular"/>
                  </a:rPr>
                  <a:t>atractores de la dinámica del sistema </a:t>
                </a:r>
                <a:r>
                  <a:rPr lang="es-ES" sz="1800" b="0" i="0" u="none" strike="noStrike" dirty="0">
                    <a:latin typeface="LMRoman17-Regular"/>
                  </a:rPr>
                  <a:t>(es decir, en mínimos del Hamiltoniano). Esto lo conseguimos </a:t>
                </a:r>
                <a:r>
                  <a:rPr lang="es-ES" sz="1800" b="0" i="0" u="none" strike="noStrike" baseline="0" dirty="0">
                    <a:latin typeface="LMRoman17-Regular"/>
                  </a:rPr>
                  <a:t>la </a:t>
                </a:r>
                <a:r>
                  <a:rPr lang="es-ES" sz="1800" b="1" i="0" u="none" strike="noStrike" baseline="0" dirty="0">
                    <a:latin typeface="LMRoman17-Regular"/>
                  </a:rPr>
                  <a:t>regla de aprendizaje </a:t>
                </a:r>
                <a:r>
                  <a:rPr lang="es-ES" sz="1800" b="1" i="0" u="none" strike="noStrike" baseline="0" dirty="0" err="1">
                    <a:latin typeface="LMRoman17-Regular"/>
                  </a:rPr>
                  <a:t>Hebbiano</a:t>
                </a:r>
                <a:r>
                  <a:rPr lang="es-ES" sz="1800" b="1" i="0" u="none" strike="noStrike" baseline="0" dirty="0">
                    <a:latin typeface="LMRoman17-Regular"/>
                  </a:rPr>
                  <a:t>:</a:t>
                </a:r>
                <a:br>
                  <a:rPr lang="es-ES" sz="1800" b="0" i="0" u="none" strike="noStrike" baseline="0" dirty="0">
                    <a:solidFill>
                      <a:srgbClr val="B020A9"/>
                    </a:solidFill>
                    <a:latin typeface="LMRoman17-Regular"/>
                  </a:rPr>
                </a:br>
                <a14:m>
                  <m:oMath xmlns:m="http://schemas.openxmlformats.org/officeDocument/2006/math">
                    <m:sSub>
                      <m:sSubPr>
                        <m:ctrlPr>
                          <a:rPr lang="es-ES" sz="1800" b="0" i="1" u="none" strike="noStrike" baseline="0" smtClean="0">
                            <a:solidFill>
                              <a:srgbClr val="B020A9"/>
                            </a:solidFill>
                            <a:latin typeface="Cambria Math" panose="02040503050406030204" pitchFamily="18" charset="0"/>
                          </a:rPr>
                        </m:ctrlPr>
                      </m:sSubPr>
                      <m:e>
                        <m:r>
                          <a:rPr lang="es-ES" sz="1800" b="0" i="1" u="none" strike="noStrike" baseline="0" smtClean="0">
                            <a:solidFill>
                              <a:srgbClr val="B020A9"/>
                            </a:solidFill>
                            <a:latin typeface="Cambria Math" panose="02040503050406030204" pitchFamily="18" charset="0"/>
                          </a:rPr>
                          <m:t>𝑤</m:t>
                        </m:r>
                      </m:e>
                      <m:sub>
                        <m:r>
                          <a:rPr lang="es-ES" sz="1800" b="0" i="1" u="none" strike="noStrike" baseline="0" smtClean="0">
                            <a:solidFill>
                              <a:srgbClr val="B020A9"/>
                            </a:solidFill>
                            <a:latin typeface="Cambria Math" panose="02040503050406030204" pitchFamily="18" charset="0"/>
                          </a:rPr>
                          <m:t>𝑖𝑗</m:t>
                        </m:r>
                      </m:sub>
                    </m:sSub>
                    <m:r>
                      <a:rPr lang="en-US" sz="1800" b="0" i="1" u="none" strike="noStrike" baseline="0" smtClean="0">
                        <a:solidFill>
                          <a:srgbClr val="B020A9"/>
                        </a:solidFill>
                        <a:latin typeface="Cambria Math" panose="02040503050406030204" pitchFamily="18" charset="0"/>
                      </a:rPr>
                      <m:t>=</m:t>
                    </m:r>
                    <m:f>
                      <m:fPr>
                        <m:ctrlPr>
                          <a:rPr lang="en-US" sz="1800" b="0" i="1" u="none" strike="noStrike" baseline="0" smtClean="0">
                            <a:solidFill>
                              <a:srgbClr val="B020A9"/>
                            </a:solidFill>
                            <a:latin typeface="Cambria Math" panose="02040503050406030204" pitchFamily="18" charset="0"/>
                          </a:rPr>
                        </m:ctrlPr>
                      </m:fPr>
                      <m:num>
                        <m:r>
                          <a:rPr lang="en-US" sz="1800" b="0" i="1" u="none" strike="noStrike" baseline="0" smtClean="0">
                            <a:solidFill>
                              <a:srgbClr val="B020A9"/>
                            </a:solidFill>
                            <a:latin typeface="Cambria Math" panose="02040503050406030204" pitchFamily="18" charset="0"/>
                          </a:rPr>
                          <m:t>1</m:t>
                        </m:r>
                      </m:num>
                      <m:den>
                        <m:r>
                          <a:rPr lang="en-US" sz="1800" b="0" i="1" u="none" strike="noStrike" baseline="0" smtClean="0">
                            <a:solidFill>
                              <a:srgbClr val="B020A9"/>
                            </a:solidFill>
                            <a:latin typeface="Cambria Math" panose="02040503050406030204" pitchFamily="18" charset="0"/>
                          </a:rPr>
                          <m:t>𝑎</m:t>
                        </m:r>
                        <m:d>
                          <m:dPr>
                            <m:ctrlPr>
                              <a:rPr lang="en-US" sz="1800" b="0" i="1" u="none" strike="noStrike" baseline="0" smtClean="0">
                                <a:solidFill>
                                  <a:srgbClr val="B020A9"/>
                                </a:solidFill>
                                <a:latin typeface="Cambria Math" panose="02040503050406030204" pitchFamily="18" charset="0"/>
                              </a:rPr>
                            </m:ctrlPr>
                          </m:dPr>
                          <m:e>
                            <m:r>
                              <a:rPr lang="en-US" sz="1800" b="0" i="1" u="none" strike="noStrike" baseline="0" smtClean="0">
                                <a:solidFill>
                                  <a:srgbClr val="B020A9"/>
                                </a:solidFill>
                                <a:latin typeface="Cambria Math" panose="02040503050406030204" pitchFamily="18" charset="0"/>
                              </a:rPr>
                              <m:t>1−</m:t>
                            </m:r>
                            <m:r>
                              <a:rPr lang="en-US" sz="1800" b="0" i="1" u="none" strike="noStrike" baseline="0" smtClean="0">
                                <a:solidFill>
                                  <a:srgbClr val="B020A9"/>
                                </a:solidFill>
                                <a:latin typeface="Cambria Math" panose="02040503050406030204" pitchFamily="18" charset="0"/>
                              </a:rPr>
                              <m:t>𝑎</m:t>
                            </m:r>
                          </m:e>
                        </m:d>
                        <m:r>
                          <a:rPr lang="en-US" sz="1800" b="0" i="1" u="none" strike="noStrike" baseline="0" smtClean="0">
                            <a:solidFill>
                              <a:srgbClr val="B020A9"/>
                            </a:solidFill>
                            <a:latin typeface="Cambria Math" panose="02040503050406030204" pitchFamily="18" charset="0"/>
                          </a:rPr>
                          <m:t>𝑁</m:t>
                        </m:r>
                      </m:den>
                    </m:f>
                    <m:nary>
                      <m:naryPr>
                        <m:chr m:val="∑"/>
                        <m:ctrlPr>
                          <a:rPr lang="en-US" sz="1800" b="0" i="1" u="none" strike="noStrike" baseline="0" smtClean="0">
                            <a:solidFill>
                              <a:srgbClr val="B020A9"/>
                            </a:solidFill>
                            <a:latin typeface="Cambria Math" panose="02040503050406030204" pitchFamily="18" charset="0"/>
                          </a:rPr>
                        </m:ctrlPr>
                      </m:naryPr>
                      <m:sub>
                        <m:r>
                          <a:rPr lang="en-US" sz="1800" b="0" i="1" u="none" strike="noStrike" baseline="0" smtClean="0">
                            <a:solidFill>
                              <a:srgbClr val="B020A9"/>
                            </a:solidFill>
                            <a:latin typeface="Cambria Math" panose="02040503050406030204" pitchFamily="18" charset="0"/>
                          </a:rPr>
                          <m:t>𝜇</m:t>
                        </m:r>
                        <m:r>
                          <a:rPr lang="en-US" sz="1800" b="0" i="1" u="none" strike="noStrike" baseline="0" smtClean="0">
                            <a:solidFill>
                              <a:srgbClr val="B020A9"/>
                            </a:solidFill>
                            <a:latin typeface="Cambria Math" panose="02040503050406030204" pitchFamily="18" charset="0"/>
                          </a:rPr>
                          <m:t>=1</m:t>
                        </m:r>
                      </m:sub>
                      <m:sup>
                        <m:r>
                          <a:rPr lang="en-US" sz="1800" b="0" i="1" u="none" strike="noStrike" baseline="0" smtClean="0">
                            <a:solidFill>
                              <a:srgbClr val="B020A9"/>
                            </a:solidFill>
                            <a:latin typeface="Cambria Math" panose="02040503050406030204" pitchFamily="18" charset="0"/>
                          </a:rPr>
                          <m:t>𝑃</m:t>
                        </m:r>
                      </m:sup>
                      <m:e>
                        <m:r>
                          <a:rPr lang="en-US" sz="1800" b="0" i="1" u="none" strike="noStrike" baseline="0" smtClean="0">
                            <a:solidFill>
                              <a:srgbClr val="B020A9"/>
                            </a:solidFill>
                            <a:latin typeface="Cambria Math" panose="02040503050406030204" pitchFamily="18" charset="0"/>
                          </a:rPr>
                          <m:t>(</m:t>
                        </m:r>
                        <m:sSubSup>
                          <m:sSubSupPr>
                            <m:ctrlPr>
                              <a:rPr lang="en-US" sz="1800" b="0" i="1" u="none" strike="noStrike" baseline="0" smtClean="0">
                                <a:solidFill>
                                  <a:srgbClr val="B020A9"/>
                                </a:solidFill>
                                <a:latin typeface="Cambria Math" panose="02040503050406030204" pitchFamily="18" charset="0"/>
                              </a:rPr>
                            </m:ctrlPr>
                          </m:sSubSupPr>
                          <m:e>
                            <m:r>
                              <a:rPr lang="en-US" sz="1800" b="0" i="1" u="none" strike="noStrike" baseline="0" smtClean="0">
                                <a:solidFill>
                                  <a:srgbClr val="B020A9"/>
                                </a:solidFill>
                                <a:latin typeface="Cambria Math" panose="02040503050406030204" pitchFamily="18" charset="0"/>
                              </a:rPr>
                              <m:t>𝜉</m:t>
                            </m:r>
                          </m:e>
                          <m:sub>
                            <m:r>
                              <a:rPr lang="en-US" sz="1800" b="0" i="1" u="none" strike="noStrike" baseline="0" smtClean="0">
                                <a:solidFill>
                                  <a:srgbClr val="B020A9"/>
                                </a:solidFill>
                                <a:latin typeface="Cambria Math" panose="02040503050406030204" pitchFamily="18" charset="0"/>
                              </a:rPr>
                              <m:t>𝑖</m:t>
                            </m:r>
                          </m:sub>
                          <m:sup>
                            <m:r>
                              <a:rPr lang="en-US" sz="1800" b="0" i="1" u="none" strike="noStrike" baseline="0" smtClean="0">
                                <a:solidFill>
                                  <a:srgbClr val="B020A9"/>
                                </a:solidFill>
                                <a:latin typeface="Cambria Math" panose="02040503050406030204" pitchFamily="18" charset="0"/>
                              </a:rPr>
                              <m:t>𝜇</m:t>
                            </m:r>
                          </m:sup>
                        </m:sSubSup>
                        <m:r>
                          <a:rPr lang="en-US" sz="1800" b="0" i="1" u="none" strike="noStrike" baseline="0" smtClean="0">
                            <a:solidFill>
                              <a:srgbClr val="B020A9"/>
                            </a:solidFill>
                            <a:latin typeface="Cambria Math" panose="02040503050406030204" pitchFamily="18" charset="0"/>
                          </a:rPr>
                          <m:t>−</m:t>
                        </m:r>
                        <m:r>
                          <a:rPr lang="en-US" sz="1800" b="0" i="1" u="none" strike="noStrike" baseline="0" smtClean="0">
                            <a:solidFill>
                              <a:srgbClr val="B020A9"/>
                            </a:solidFill>
                            <a:latin typeface="Cambria Math" panose="02040503050406030204" pitchFamily="18" charset="0"/>
                          </a:rPr>
                          <m:t>𝑎</m:t>
                        </m:r>
                        <m:r>
                          <a:rPr lang="en-US" sz="1800" b="0" i="1" u="none" strike="noStrike" baseline="0" smtClean="0">
                            <a:solidFill>
                              <a:srgbClr val="B020A9"/>
                            </a:solidFill>
                            <a:latin typeface="Cambria Math" panose="02040503050406030204" pitchFamily="18" charset="0"/>
                          </a:rPr>
                          <m:t>)(</m:t>
                        </m:r>
                        <m:sSubSup>
                          <m:sSubSupPr>
                            <m:ctrlPr>
                              <a:rPr lang="en-US" sz="1800" b="0" i="1" u="none" strike="noStrike" baseline="0" smtClean="0">
                                <a:solidFill>
                                  <a:srgbClr val="B020A9"/>
                                </a:solidFill>
                                <a:latin typeface="Cambria Math" panose="02040503050406030204" pitchFamily="18" charset="0"/>
                              </a:rPr>
                            </m:ctrlPr>
                          </m:sSubSupPr>
                          <m:e>
                            <m:r>
                              <a:rPr lang="en-US" sz="1800" b="0" i="1" u="none" strike="noStrike" baseline="0" smtClean="0">
                                <a:solidFill>
                                  <a:srgbClr val="B020A9"/>
                                </a:solidFill>
                                <a:latin typeface="Cambria Math" panose="02040503050406030204" pitchFamily="18" charset="0"/>
                              </a:rPr>
                              <m:t>𝜉</m:t>
                            </m:r>
                          </m:e>
                          <m:sub>
                            <m:r>
                              <a:rPr lang="en-US" sz="1800" b="0" i="1" u="none" strike="noStrike" baseline="0" smtClean="0">
                                <a:solidFill>
                                  <a:srgbClr val="B020A9"/>
                                </a:solidFill>
                                <a:latin typeface="Cambria Math" panose="02040503050406030204" pitchFamily="18" charset="0"/>
                              </a:rPr>
                              <m:t>𝑗</m:t>
                            </m:r>
                          </m:sub>
                          <m:sup>
                            <m:r>
                              <a:rPr lang="en-US" sz="1800" b="0" i="1" u="none" strike="noStrike" baseline="0" smtClean="0">
                                <a:solidFill>
                                  <a:srgbClr val="B020A9"/>
                                </a:solidFill>
                                <a:latin typeface="Cambria Math" panose="02040503050406030204" pitchFamily="18" charset="0"/>
                              </a:rPr>
                              <m:t>𝜇</m:t>
                            </m:r>
                          </m:sup>
                        </m:sSubSup>
                        <m:r>
                          <a:rPr lang="en-US" sz="1800" b="0" i="1" u="none" strike="noStrike" baseline="0" smtClean="0">
                            <a:solidFill>
                              <a:srgbClr val="B020A9"/>
                            </a:solidFill>
                            <a:latin typeface="Cambria Math" panose="02040503050406030204" pitchFamily="18" charset="0"/>
                          </a:rPr>
                          <m:t>−</m:t>
                        </m:r>
                        <m:r>
                          <a:rPr lang="en-US" sz="1800" b="0" i="1" u="none" strike="noStrike" baseline="0" smtClean="0">
                            <a:solidFill>
                              <a:srgbClr val="B020A9"/>
                            </a:solidFill>
                            <a:latin typeface="Cambria Math" panose="02040503050406030204" pitchFamily="18" charset="0"/>
                          </a:rPr>
                          <m:t>𝑎</m:t>
                        </m:r>
                        <m:r>
                          <a:rPr lang="en-US" sz="1800" b="0" i="1" u="none" strike="noStrike" baseline="0" smtClean="0">
                            <a:solidFill>
                              <a:srgbClr val="B020A9"/>
                            </a:solidFill>
                            <a:latin typeface="Cambria Math" panose="02040503050406030204" pitchFamily="18" charset="0"/>
                          </a:rPr>
                          <m:t>)</m:t>
                        </m:r>
                      </m:e>
                    </m:nary>
                  </m:oMath>
                </a14:m>
                <a:br>
                  <a:rPr lang="en-US" sz="1800" b="0" i="0" u="none" strike="noStrike" baseline="0" dirty="0">
                    <a:latin typeface="LMRoman17-Regular"/>
                  </a:rPr>
                </a:br>
                <a:r>
                  <a:rPr lang="en-US" sz="1800" b="0" i="0" u="none" strike="noStrike" baseline="0" dirty="0">
                    <a:latin typeface="LMRoman17-Regular"/>
                  </a:rPr>
                  <a:t>con</a:t>
                </a:r>
                <a:r>
                  <a:rPr lang="en-US" sz="1800" b="0" i="0" u="none" strike="noStrike" dirty="0">
                    <a:latin typeface="LMRoman17-Regular"/>
                  </a:rPr>
                  <a:t> </a:t>
                </a:r>
                <a14:m>
                  <m:oMath xmlns:m="http://schemas.openxmlformats.org/officeDocument/2006/math">
                    <m:r>
                      <a:rPr lang="en-US" sz="1800" b="0" i="1" u="none" strike="noStrike" smtClean="0">
                        <a:solidFill>
                          <a:srgbClr val="B020A9"/>
                        </a:solidFill>
                        <a:latin typeface="Cambria Math" panose="02040503050406030204" pitchFamily="18" charset="0"/>
                      </a:rPr>
                      <m:t>𝑎</m:t>
                    </m:r>
                    <m:r>
                      <a:rPr lang="en-US" sz="1800" b="0" i="1" u="none" strike="noStrike" smtClean="0">
                        <a:solidFill>
                          <a:srgbClr val="B020A9"/>
                        </a:solidFill>
                        <a:latin typeface="Cambria Math" panose="02040503050406030204" pitchFamily="18" charset="0"/>
                      </a:rPr>
                      <m:t>=</m:t>
                    </m:r>
                    <m:d>
                      <m:dPr>
                        <m:begChr m:val="⟨"/>
                        <m:endChr m:val="⟩"/>
                        <m:ctrlPr>
                          <a:rPr lang="en-US" sz="1800" b="0" i="1" u="none" strike="noStrike" smtClean="0">
                            <a:solidFill>
                              <a:srgbClr val="B020A9"/>
                            </a:solidFill>
                            <a:latin typeface="Cambria Math" panose="02040503050406030204" pitchFamily="18" charset="0"/>
                          </a:rPr>
                        </m:ctrlPr>
                      </m:dPr>
                      <m:e>
                        <m:d>
                          <m:dPr>
                            <m:begChr m:val="⟨"/>
                            <m:endChr m:val="⟩"/>
                            <m:ctrlPr>
                              <a:rPr lang="en-US" sz="1800" b="0" i="1" u="none" strike="noStrike" smtClean="0">
                                <a:solidFill>
                                  <a:srgbClr val="B020A9"/>
                                </a:solidFill>
                                <a:latin typeface="Cambria Math" panose="02040503050406030204" pitchFamily="18" charset="0"/>
                              </a:rPr>
                            </m:ctrlPr>
                          </m:dPr>
                          <m:e>
                            <m:sSubSup>
                              <m:sSubSupPr>
                                <m:ctrlPr>
                                  <a:rPr lang="en-US" sz="1800" b="0" i="1" u="none" strike="noStrike" smtClean="0">
                                    <a:solidFill>
                                      <a:srgbClr val="B020A9"/>
                                    </a:solidFill>
                                    <a:latin typeface="Cambria Math" panose="02040503050406030204" pitchFamily="18" charset="0"/>
                                  </a:rPr>
                                </m:ctrlPr>
                              </m:sSubSupPr>
                              <m:e>
                                <m:r>
                                  <a:rPr lang="en-US" sz="1800" b="0" i="1" u="none" strike="noStrike" smtClean="0">
                                    <a:solidFill>
                                      <a:srgbClr val="B020A9"/>
                                    </a:solidFill>
                                    <a:latin typeface="Cambria Math" panose="02040503050406030204" pitchFamily="18" charset="0"/>
                                  </a:rPr>
                                  <m:t>𝜉</m:t>
                                </m:r>
                              </m:e>
                              <m:sub>
                                <m:r>
                                  <a:rPr lang="en-US" sz="1800" b="0" i="1" u="none" strike="noStrike" smtClean="0">
                                    <a:solidFill>
                                      <a:srgbClr val="B020A9"/>
                                    </a:solidFill>
                                    <a:latin typeface="Cambria Math" panose="02040503050406030204" pitchFamily="18" charset="0"/>
                                  </a:rPr>
                                  <m:t>𝑖</m:t>
                                </m:r>
                              </m:sub>
                              <m:sup>
                                <m:r>
                                  <a:rPr lang="en-US" sz="1800" b="0" i="1" u="none" strike="noStrike" smtClean="0">
                                    <a:solidFill>
                                      <a:srgbClr val="B020A9"/>
                                    </a:solidFill>
                                    <a:latin typeface="Cambria Math" panose="02040503050406030204" pitchFamily="18" charset="0"/>
                                  </a:rPr>
                                  <m:t>𝜇</m:t>
                                </m:r>
                              </m:sup>
                            </m:sSubSup>
                          </m:e>
                        </m:d>
                      </m:e>
                    </m:d>
                  </m:oMath>
                </a14:m>
                <a:r>
                  <a:rPr lang="es-ES" sz="1800" b="0" i="0" u="none" strike="noStrike" baseline="0" dirty="0">
                    <a:latin typeface="LMRoman17-Regular"/>
                  </a:rPr>
                  <a:t>.</a:t>
                </a:r>
              </a:p>
              <a:p>
                <a:pPr>
                  <a:lnSpc>
                    <a:spcPct val="120000"/>
                  </a:lnSpc>
                </a:pPr>
                <a:r>
                  <a:rPr lang="es-ES" sz="1800" dirty="0"/>
                  <a:t>La probabilidad de que una neurona dispare viene dada por la función de transferencia en función de su campo local y umbral: </a:t>
                </a:r>
                <a:br>
                  <a:rPr lang="es-ES" sz="1800" dirty="0"/>
                </a:br>
                <a14:m>
                  <m:oMath xmlns:m="http://schemas.openxmlformats.org/officeDocument/2006/math">
                    <m:r>
                      <a:rPr lang="es-ES" sz="1800" b="0" i="1" smtClean="0">
                        <a:solidFill>
                          <a:srgbClr val="B020A9"/>
                        </a:solidFill>
                        <a:latin typeface="Cambria Math" panose="02040503050406030204" pitchFamily="18" charset="0"/>
                      </a:rPr>
                      <m:t>𝑃</m:t>
                    </m:r>
                    <m:d>
                      <m:dPr>
                        <m:ctrlPr>
                          <a:rPr lang="en-US" sz="1800" b="0" i="1" smtClean="0">
                            <a:solidFill>
                              <a:srgbClr val="B020A9"/>
                            </a:solidFill>
                            <a:latin typeface="Cambria Math" panose="02040503050406030204" pitchFamily="18" charset="0"/>
                          </a:rPr>
                        </m:ctrlPr>
                      </m:dPr>
                      <m:e>
                        <m:r>
                          <a:rPr lang="en-US" sz="1800" b="0" i="1" smtClean="0">
                            <a:solidFill>
                              <a:srgbClr val="B020A9"/>
                            </a:solidFill>
                            <a:latin typeface="Cambria Math" panose="02040503050406030204" pitchFamily="18" charset="0"/>
                          </a:rPr>
                          <m:t>𝑠</m:t>
                        </m:r>
                        <m:d>
                          <m:dPr>
                            <m:begChr m:val="["/>
                            <m:endChr m:val="]"/>
                            <m:ctrlPr>
                              <a:rPr lang="en-US" sz="1800" b="0" i="1" smtClean="0">
                                <a:solidFill>
                                  <a:srgbClr val="B020A9"/>
                                </a:solidFill>
                                <a:latin typeface="Cambria Math" panose="02040503050406030204" pitchFamily="18" charset="0"/>
                              </a:rPr>
                            </m:ctrlPr>
                          </m:dPr>
                          <m:e>
                            <m:r>
                              <a:rPr lang="en-US" sz="1800" b="0" i="1" smtClean="0">
                                <a:solidFill>
                                  <a:srgbClr val="B020A9"/>
                                </a:solidFill>
                                <a:latin typeface="Cambria Math" panose="02040503050406030204" pitchFamily="18" charset="0"/>
                              </a:rPr>
                              <m:t>𝑖</m:t>
                            </m:r>
                          </m:e>
                        </m:d>
                        <m:d>
                          <m:dPr>
                            <m:ctrlPr>
                              <a:rPr lang="en-US" sz="1800" b="0" i="1" smtClean="0">
                                <a:solidFill>
                                  <a:srgbClr val="B020A9"/>
                                </a:solidFill>
                                <a:latin typeface="Cambria Math" panose="02040503050406030204" pitchFamily="18" charset="0"/>
                              </a:rPr>
                            </m:ctrlPr>
                          </m:dPr>
                          <m:e>
                            <m:r>
                              <a:rPr lang="en-US" sz="1800" b="0" i="1" smtClean="0">
                                <a:solidFill>
                                  <a:srgbClr val="B020A9"/>
                                </a:solidFill>
                                <a:latin typeface="Cambria Math" panose="02040503050406030204" pitchFamily="18" charset="0"/>
                              </a:rPr>
                              <m:t>𝑡</m:t>
                            </m:r>
                            <m:r>
                              <a:rPr lang="en-US" sz="1800" b="0" i="1" smtClean="0">
                                <a:solidFill>
                                  <a:srgbClr val="B020A9"/>
                                </a:solidFill>
                                <a:latin typeface="Cambria Math" panose="02040503050406030204" pitchFamily="18" charset="0"/>
                              </a:rPr>
                              <m:t>+1</m:t>
                            </m:r>
                          </m:e>
                        </m:d>
                        <m:r>
                          <a:rPr lang="en-US" sz="1800" b="0" i="1" smtClean="0">
                            <a:solidFill>
                              <a:srgbClr val="B020A9"/>
                            </a:solidFill>
                            <a:latin typeface="Cambria Math" panose="02040503050406030204" pitchFamily="18" charset="0"/>
                          </a:rPr>
                          <m:t>=1</m:t>
                        </m:r>
                      </m:e>
                    </m:d>
                    <m:r>
                      <a:rPr lang="en-US" sz="1800" b="0" i="1" smtClean="0">
                        <a:solidFill>
                          <a:srgbClr val="B020A9"/>
                        </a:solidFill>
                        <a:latin typeface="Cambria Math" panose="02040503050406030204" pitchFamily="18" charset="0"/>
                      </a:rPr>
                      <m:t>=</m:t>
                    </m:r>
                    <m:f>
                      <m:fPr>
                        <m:ctrlPr>
                          <a:rPr lang="en-US" sz="1800" b="0" i="1" smtClean="0">
                            <a:solidFill>
                              <a:srgbClr val="B020A9"/>
                            </a:solidFill>
                            <a:latin typeface="Cambria Math" panose="02040503050406030204" pitchFamily="18" charset="0"/>
                          </a:rPr>
                        </m:ctrlPr>
                      </m:fPr>
                      <m:num>
                        <m:r>
                          <a:rPr lang="en-US" sz="1800" b="0" i="1" smtClean="0">
                            <a:solidFill>
                              <a:srgbClr val="B020A9"/>
                            </a:solidFill>
                            <a:latin typeface="Cambria Math" panose="02040503050406030204" pitchFamily="18" charset="0"/>
                          </a:rPr>
                          <m:t>1</m:t>
                        </m:r>
                      </m:num>
                      <m:den>
                        <m:r>
                          <a:rPr lang="en-US" sz="1800" b="0" i="1" smtClean="0">
                            <a:solidFill>
                              <a:srgbClr val="B020A9"/>
                            </a:solidFill>
                            <a:latin typeface="Cambria Math" panose="02040503050406030204" pitchFamily="18" charset="0"/>
                          </a:rPr>
                          <m:t>2</m:t>
                        </m:r>
                      </m:den>
                    </m:f>
                    <m:d>
                      <m:dPr>
                        <m:ctrlPr>
                          <a:rPr lang="en-US" sz="1800" b="0" i="1" smtClean="0">
                            <a:solidFill>
                              <a:srgbClr val="B020A9"/>
                            </a:solidFill>
                            <a:latin typeface="Cambria Math" panose="02040503050406030204" pitchFamily="18" charset="0"/>
                          </a:rPr>
                        </m:ctrlPr>
                      </m:dPr>
                      <m:e>
                        <m:r>
                          <a:rPr lang="en-US" sz="1800" b="0" i="1" smtClean="0">
                            <a:solidFill>
                              <a:srgbClr val="B020A9"/>
                            </a:solidFill>
                            <a:latin typeface="Cambria Math" panose="02040503050406030204" pitchFamily="18" charset="0"/>
                          </a:rPr>
                          <m:t>1+</m:t>
                        </m:r>
                        <m:func>
                          <m:funcPr>
                            <m:ctrlPr>
                              <a:rPr lang="en-US" sz="1800" b="0" i="1" smtClean="0">
                                <a:solidFill>
                                  <a:srgbClr val="B020A9"/>
                                </a:solidFill>
                                <a:latin typeface="Cambria Math" panose="02040503050406030204" pitchFamily="18" charset="0"/>
                              </a:rPr>
                            </m:ctrlPr>
                          </m:funcPr>
                          <m:fName>
                            <m:r>
                              <m:rPr>
                                <m:sty m:val="p"/>
                              </m:rPr>
                              <a:rPr lang="en-US" sz="1800" b="0" i="0" smtClean="0">
                                <a:solidFill>
                                  <a:srgbClr val="B020A9"/>
                                </a:solidFill>
                                <a:latin typeface="Cambria Math" panose="02040503050406030204" pitchFamily="18" charset="0"/>
                              </a:rPr>
                              <m:t>tanh</m:t>
                            </m:r>
                          </m:fName>
                          <m:e>
                            <m:d>
                              <m:dPr>
                                <m:ctrlPr>
                                  <a:rPr lang="en-US" sz="1800" b="0" i="1" smtClean="0">
                                    <a:solidFill>
                                      <a:srgbClr val="B020A9"/>
                                    </a:solidFill>
                                    <a:latin typeface="Cambria Math" panose="02040503050406030204" pitchFamily="18" charset="0"/>
                                  </a:rPr>
                                </m:ctrlPr>
                              </m:dPr>
                              <m:e>
                                <m:r>
                                  <a:rPr lang="en-US" sz="1800" b="0" i="1" smtClean="0">
                                    <a:solidFill>
                                      <a:srgbClr val="B020A9"/>
                                    </a:solidFill>
                                    <a:latin typeface="Cambria Math" panose="02040503050406030204" pitchFamily="18" charset="0"/>
                                  </a:rPr>
                                  <m:t>𝛽</m:t>
                                </m:r>
                                <m:d>
                                  <m:dPr>
                                    <m:ctrlPr>
                                      <a:rPr lang="en-US" sz="1800" b="0" i="1" smtClean="0">
                                        <a:solidFill>
                                          <a:srgbClr val="B020A9"/>
                                        </a:solidFill>
                                        <a:latin typeface="Cambria Math" panose="02040503050406030204" pitchFamily="18" charset="0"/>
                                      </a:rPr>
                                    </m:ctrlPr>
                                  </m:dPr>
                                  <m:e>
                                    <m:r>
                                      <a:rPr lang="en-US" sz="1800" b="0" i="1" smtClean="0">
                                        <a:solidFill>
                                          <a:srgbClr val="B020A9"/>
                                        </a:solidFill>
                                        <a:latin typeface="Cambria Math" panose="02040503050406030204" pitchFamily="18" charset="0"/>
                                      </a:rPr>
                                      <m:t>h</m:t>
                                    </m:r>
                                    <m:d>
                                      <m:dPr>
                                        <m:begChr m:val="["/>
                                        <m:endChr m:val="]"/>
                                        <m:ctrlPr>
                                          <a:rPr lang="en-US" sz="1800" b="0" i="1" smtClean="0">
                                            <a:solidFill>
                                              <a:srgbClr val="B020A9"/>
                                            </a:solidFill>
                                            <a:latin typeface="Cambria Math" panose="02040503050406030204" pitchFamily="18" charset="0"/>
                                          </a:rPr>
                                        </m:ctrlPr>
                                      </m:dPr>
                                      <m:e>
                                        <m:r>
                                          <a:rPr lang="en-US" sz="1800" b="0" i="1" smtClean="0">
                                            <a:solidFill>
                                              <a:srgbClr val="B020A9"/>
                                            </a:solidFill>
                                            <a:latin typeface="Cambria Math" panose="02040503050406030204" pitchFamily="18" charset="0"/>
                                          </a:rPr>
                                          <m:t>𝑖</m:t>
                                        </m:r>
                                      </m:e>
                                    </m:d>
                                    <m:d>
                                      <m:dPr>
                                        <m:ctrlPr>
                                          <a:rPr lang="en-US" sz="1800" b="0" i="1" smtClean="0">
                                            <a:solidFill>
                                              <a:srgbClr val="B020A9"/>
                                            </a:solidFill>
                                            <a:latin typeface="Cambria Math" panose="02040503050406030204" pitchFamily="18" charset="0"/>
                                          </a:rPr>
                                        </m:ctrlPr>
                                      </m:dPr>
                                      <m:e>
                                        <m:r>
                                          <a:rPr lang="en-US" sz="1800" b="0" i="1" smtClean="0">
                                            <a:solidFill>
                                              <a:srgbClr val="B020A9"/>
                                            </a:solidFill>
                                            <a:latin typeface="Cambria Math" panose="02040503050406030204" pitchFamily="18" charset="0"/>
                                          </a:rPr>
                                          <m:t>𝑡</m:t>
                                        </m:r>
                                      </m:e>
                                    </m:d>
                                    <m:r>
                                      <a:rPr lang="en-US" sz="1800" b="0" i="1" smtClean="0">
                                        <a:solidFill>
                                          <a:srgbClr val="B020A9"/>
                                        </a:solidFill>
                                        <a:latin typeface="Cambria Math" panose="02040503050406030204" pitchFamily="18" charset="0"/>
                                      </a:rPr>
                                      <m:t>−</m:t>
                                    </m:r>
                                    <m:r>
                                      <a:rPr lang="en-US" sz="1800" b="0" i="1" smtClean="0">
                                        <a:solidFill>
                                          <a:srgbClr val="B020A9"/>
                                        </a:solidFill>
                                        <a:latin typeface="Cambria Math" panose="02040503050406030204" pitchFamily="18" charset="0"/>
                                      </a:rPr>
                                      <m:t>𝜃</m:t>
                                    </m:r>
                                    <m:d>
                                      <m:dPr>
                                        <m:begChr m:val="["/>
                                        <m:endChr m:val="]"/>
                                        <m:ctrlPr>
                                          <a:rPr lang="en-US" sz="1800" b="0" i="1" smtClean="0">
                                            <a:solidFill>
                                              <a:srgbClr val="B020A9"/>
                                            </a:solidFill>
                                            <a:latin typeface="Cambria Math" panose="02040503050406030204" pitchFamily="18" charset="0"/>
                                          </a:rPr>
                                        </m:ctrlPr>
                                      </m:dPr>
                                      <m:e>
                                        <m:r>
                                          <a:rPr lang="en-US" sz="1800" b="0" i="1" smtClean="0">
                                            <a:solidFill>
                                              <a:srgbClr val="B020A9"/>
                                            </a:solidFill>
                                            <a:latin typeface="Cambria Math" panose="02040503050406030204" pitchFamily="18" charset="0"/>
                                          </a:rPr>
                                          <m:t>𝑖</m:t>
                                        </m:r>
                                      </m:e>
                                    </m:d>
                                  </m:e>
                                </m:d>
                              </m:e>
                            </m:d>
                          </m:e>
                        </m:func>
                      </m:e>
                    </m:d>
                    <m:r>
                      <a:rPr lang="en-US" sz="1800" b="0" i="1" smtClean="0">
                        <a:latin typeface="Cambria Math" panose="02040503050406030204" pitchFamily="18" charset="0"/>
                      </a:rPr>
                      <m:t>,</m:t>
                    </m:r>
                  </m:oMath>
                </a14:m>
                <a:br>
                  <a:rPr lang="en-US" sz="1800" dirty="0"/>
                </a:br>
                <a:r>
                  <a:rPr lang="en-US" sz="1800" dirty="0" err="1"/>
                  <a:t>donde</a:t>
                </a:r>
                <a:r>
                  <a:rPr lang="en-US" sz="1800" dirty="0"/>
                  <a:t> </a:t>
                </a:r>
                <a14:m>
                  <m:oMath xmlns:m="http://schemas.openxmlformats.org/officeDocument/2006/math">
                    <m:r>
                      <a:rPr lang="en-US" sz="1800" b="0" i="1" smtClean="0">
                        <a:latin typeface="Cambria Math" panose="02040503050406030204" pitchFamily="18" charset="0"/>
                      </a:rPr>
                      <m:t>𝛽</m:t>
                    </m:r>
                    <m:r>
                      <a:rPr lang="en-US" sz="1800" b="0" i="1" smtClean="0">
                        <a:latin typeface="Cambria Math" panose="02040503050406030204" pitchFamily="18" charset="0"/>
                      </a:rPr>
                      <m:t>=1/</m:t>
                    </m:r>
                    <m:r>
                      <a:rPr lang="en-US" sz="1800" b="0" i="1" smtClean="0">
                        <a:latin typeface="Cambria Math" panose="02040503050406030204" pitchFamily="18" charset="0"/>
                      </a:rPr>
                      <m:t>𝑇</m:t>
                    </m:r>
                  </m:oMath>
                </a14:m>
                <a:r>
                  <a:rPr lang="en-US" sz="1800" dirty="0"/>
                  <a:t> es un </a:t>
                </a:r>
                <a:r>
                  <a:rPr lang="en-US" sz="1800" dirty="0" err="1"/>
                  <a:t>parámetro</a:t>
                </a:r>
                <a:r>
                  <a:rPr lang="en-US" sz="1800" dirty="0"/>
                  <a:t> que </a:t>
                </a:r>
                <a:r>
                  <a:rPr lang="en-US" sz="1800" dirty="0" err="1"/>
                  <a:t>controla</a:t>
                </a:r>
                <a:r>
                  <a:rPr lang="en-US" sz="1800" dirty="0"/>
                  <a:t> la </a:t>
                </a:r>
                <a:r>
                  <a:rPr lang="en-US" sz="1800" dirty="0" err="1"/>
                  <a:t>estocasticidad</a:t>
                </a:r>
                <a:r>
                  <a:rPr lang="en-US" sz="1800" dirty="0"/>
                  <a:t> (</a:t>
                </a:r>
                <a:r>
                  <a:rPr lang="en-US" sz="1800" dirty="0" err="1"/>
                  <a:t>análogo</a:t>
                </a:r>
                <a:r>
                  <a:rPr lang="en-US" sz="1800" dirty="0"/>
                  <a:t> al </a:t>
                </a:r>
                <a:r>
                  <a:rPr lang="en-US" sz="1800" dirty="0" err="1"/>
                  <a:t>inverso</a:t>
                </a:r>
                <a:r>
                  <a:rPr lang="en-US" sz="1800" dirty="0"/>
                  <a:t> de la </a:t>
                </a:r>
                <a:r>
                  <a:rPr lang="en-US" sz="1800" dirty="0" err="1"/>
                  <a:t>temperatura</a:t>
                </a:r>
                <a:r>
                  <a:rPr lang="en-US" sz="1800" dirty="0"/>
                  <a:t> </a:t>
                </a:r>
                <a:r>
                  <a:rPr lang="en-US" sz="1800" dirty="0" err="1"/>
                  <a:t>en</a:t>
                </a:r>
                <a:r>
                  <a:rPr lang="en-US" sz="1800" dirty="0"/>
                  <a:t> </a:t>
                </a:r>
                <a:r>
                  <a:rPr lang="en-US" sz="1800" dirty="0" err="1"/>
                  <a:t>física</a:t>
                </a:r>
                <a:r>
                  <a:rPr lang="en-US" sz="1800" dirty="0"/>
                  <a:t> </a:t>
                </a:r>
                <a:r>
                  <a:rPr lang="en-US" sz="1800" dirty="0" err="1"/>
                  <a:t>estadística</a:t>
                </a:r>
                <a:r>
                  <a:rPr lang="en-US" sz="1800" dirty="0"/>
                  <a:t>). </a:t>
                </a:r>
              </a:p>
              <a:p>
                <a:pPr>
                  <a:lnSpc>
                    <a:spcPct val="120000"/>
                  </a:lnSpc>
                </a:pPr>
                <a:r>
                  <a:rPr lang="en-US" sz="1800" dirty="0"/>
                  <a:t>Para </a:t>
                </a:r>
                <a14:m>
                  <m:oMath xmlns:m="http://schemas.openxmlformats.org/officeDocument/2006/math">
                    <m:r>
                      <a:rPr lang="en-US" sz="1800" b="0" i="1" smtClean="0">
                        <a:latin typeface="Cambria Math" panose="02040503050406030204" pitchFamily="18" charset="0"/>
                      </a:rPr>
                      <m:t>𝑇</m:t>
                    </m:r>
                    <m:r>
                      <a:rPr lang="es-ES" sz="1800" b="0" i="1" smtClean="0">
                        <a:latin typeface="Cambria Math" panose="02040503050406030204" pitchFamily="18" charset="0"/>
                      </a:rPr>
                      <m:t>=0</m:t>
                    </m:r>
                  </m:oMath>
                </a14:m>
                <a:r>
                  <a:rPr lang="en-US" sz="1800" dirty="0"/>
                  <a:t>, </a:t>
                </a:r>
                <a:r>
                  <a:rPr lang="en-US" sz="1800" dirty="0" err="1"/>
                  <a:t>el</a:t>
                </a:r>
                <a:r>
                  <a:rPr lang="en-US" sz="1800" dirty="0"/>
                  <a:t> </a:t>
                </a:r>
                <a:r>
                  <a:rPr lang="en-US" sz="1800" dirty="0" err="1"/>
                  <a:t>proceso</a:t>
                </a:r>
                <a:r>
                  <a:rPr lang="en-US" sz="1800" dirty="0"/>
                  <a:t> es </a:t>
                </a:r>
                <a:r>
                  <a:rPr lang="en-US" sz="1800" dirty="0" err="1"/>
                  <a:t>determinista</a:t>
                </a:r>
                <a:r>
                  <a:rPr lang="en-US" sz="1800" dirty="0"/>
                  <a:t>:</a:t>
                </a:r>
                <a:br>
                  <a:rPr lang="es-ES" sz="1800" dirty="0"/>
                </a:br>
                <a14:m>
                  <m:oMath xmlns:m="http://schemas.openxmlformats.org/officeDocument/2006/math">
                    <m:r>
                      <a:rPr lang="es-ES" sz="1800" b="0" i="1" smtClean="0">
                        <a:latin typeface="Cambria Math" panose="02040503050406030204" pitchFamily="18" charset="0"/>
                      </a:rPr>
                      <m:t>𝑃</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𝑠</m:t>
                        </m:r>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𝑖</m:t>
                            </m:r>
                          </m:e>
                        </m:d>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+1</m:t>
                            </m:r>
                          </m:e>
                        </m:d>
                        <m:r>
                          <a:rPr lang="en-US" sz="1800" b="0" i="1" smtClean="0">
                            <a:latin typeface="Cambria Math" panose="02040503050406030204" pitchFamily="18" charset="0"/>
                          </a:rPr>
                          <m:t>=1</m:t>
                        </m:r>
                      </m:e>
                    </m:d>
                    <m:r>
                      <a:rPr lang="en-US" sz="1800" b="0" i="1" smtClean="0">
                        <a:latin typeface="Cambria Math" panose="02040503050406030204" pitchFamily="18" charset="0"/>
                      </a:rPr>
                      <m:t>=</m:t>
                    </m:r>
                    <m:r>
                      <a:rPr lang="es-ES" sz="1800" b="0" i="1" smtClean="0">
                        <a:latin typeface="Cambria Math" panose="02040503050406030204" pitchFamily="18" charset="0"/>
                      </a:rPr>
                      <m:t>1</m:t>
                    </m:r>
                    <m:r>
                      <m:rPr>
                        <m:lit/>
                      </m:rPr>
                      <a:rPr lang="en-US" sz="1800" b="0" i="1" smtClean="0">
                        <a:latin typeface="Cambria Math" panose="02040503050406030204" pitchFamily="18" charset="0"/>
                      </a:rPr>
                      <m:t> </m:t>
                    </m:r>
                    <m:r>
                      <a:rPr lang="en-US" sz="1800" b="0" i="1" smtClean="0">
                        <a:latin typeface="Cambria Math" panose="02040503050406030204" pitchFamily="18" charset="0"/>
                      </a:rPr>
                      <m:t>𝑠𝑖</m:t>
                    </m:r>
                    <m:r>
                      <m:rPr>
                        <m:lit/>
                      </m:rPr>
                      <a:rPr lang="en-US" sz="1800" b="0" i="1" smtClean="0">
                        <a:latin typeface="Cambria Math" panose="02040503050406030204" pitchFamily="18" charset="0"/>
                      </a:rPr>
                      <m:t>  </m:t>
                    </m:r>
                    <m:r>
                      <a:rPr lang="en-US" sz="1800" b="0" i="1" smtClean="0">
                        <a:latin typeface="Cambria Math" panose="02040503050406030204" pitchFamily="18" charset="0"/>
                      </a:rPr>
                      <m:t>h</m:t>
                    </m:r>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𝑖</m:t>
                        </m:r>
                      </m:e>
                    </m:d>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&gt;</m:t>
                    </m:r>
                    <m:r>
                      <a:rPr lang="en-US" sz="1800" b="0" i="1" smtClean="0">
                        <a:latin typeface="Cambria Math" panose="02040503050406030204" pitchFamily="18" charset="0"/>
                      </a:rPr>
                      <m:t>𝜃</m:t>
                    </m:r>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𝑖</m:t>
                        </m:r>
                      </m:e>
                    </m:d>
                  </m:oMath>
                </a14:m>
                <a:endParaRPr lang="en-US" sz="1800" dirty="0"/>
              </a:p>
              <a:p>
                <a:pPr>
                  <a:lnSpc>
                    <a:spcPct val="120000"/>
                  </a:lnSpc>
                </a:pPr>
                <a:r>
                  <a:rPr lang="en-US" sz="1800" dirty="0"/>
                  <a:t>Por </a:t>
                </a:r>
                <a:r>
                  <a:rPr lang="en-US" sz="1800" dirty="0" err="1"/>
                  <a:t>el</a:t>
                </a:r>
                <a:r>
                  <a:rPr lang="en-US" sz="1800" dirty="0"/>
                  <a:t> </a:t>
                </a:r>
                <a:r>
                  <a:rPr lang="en-US" sz="1800" dirty="0" err="1"/>
                  <a:t>contrario</a:t>
                </a:r>
                <a:r>
                  <a:rPr lang="en-US" sz="1800" dirty="0"/>
                  <a:t>, para </a:t>
                </a:r>
                <a14:m>
                  <m:oMath xmlns:m="http://schemas.openxmlformats.org/officeDocument/2006/math">
                    <m:r>
                      <a:rPr lang="en-US" sz="1800" b="0" i="1" smtClean="0">
                        <a:latin typeface="Cambria Math" panose="02040503050406030204" pitchFamily="18" charset="0"/>
                      </a:rPr>
                      <m:t>𝑇</m:t>
                    </m:r>
                    <m:r>
                      <a:rPr lang="es-ES" sz="1800" b="0" i="1" smtClean="0">
                        <a:latin typeface="Cambria Math" panose="02040503050406030204" pitchFamily="18" charset="0"/>
                      </a:rPr>
                      <m:t>=</m:t>
                    </m:r>
                    <m:r>
                      <a:rPr lang="es-ES" sz="1800" b="0" i="1" smtClean="0">
                        <a:latin typeface="Cambria Math" panose="02040503050406030204" pitchFamily="18" charset="0"/>
                        <a:ea typeface="Cambria Math" panose="02040503050406030204" pitchFamily="18" charset="0"/>
                      </a:rPr>
                      <m:t>∞</m:t>
                    </m:r>
                  </m:oMath>
                </a14:m>
                <a:r>
                  <a:rPr lang="en-US" sz="1800" dirty="0"/>
                  <a:t>, </a:t>
                </a:r>
                <a14:m>
                  <m:oMath xmlns:m="http://schemas.openxmlformats.org/officeDocument/2006/math">
                    <m:r>
                      <a:rPr lang="es-ES" sz="1800" b="0" i="1" smtClean="0">
                        <a:latin typeface="Cambria Math" panose="02040503050406030204" pitchFamily="18" charset="0"/>
                      </a:rPr>
                      <m:t>𝑃</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𝑠</m:t>
                        </m:r>
                      </m:e>
                    </m:d>
                    <m:r>
                      <a:rPr lang="en-US" sz="1800" b="0" i="1" smtClean="0">
                        <a:latin typeface="Cambria Math" panose="02040503050406030204" pitchFamily="18" charset="0"/>
                      </a:rPr>
                      <m:t>=</m:t>
                    </m:r>
                    <m:r>
                      <a:rPr lang="en-US" sz="1800" b="0" i="1" smtClean="0">
                        <a:latin typeface="Cambria Math" panose="02040503050406030204" pitchFamily="18" charset="0"/>
                      </a:rPr>
                      <m:t>𝑐𝑡𝑒</m:t>
                    </m:r>
                  </m:oMath>
                </a14:m>
                <a:r>
                  <a:rPr lang="en-US" sz="1800" dirty="0"/>
                  <a:t> y </a:t>
                </a:r>
                <a:r>
                  <a:rPr lang="en-US" sz="1800" dirty="0" err="1"/>
                  <a:t>todas</a:t>
                </a:r>
                <a:r>
                  <a:rPr lang="en-US" sz="1800" dirty="0"/>
                  <a:t> las </a:t>
                </a:r>
                <a:r>
                  <a:rPr lang="en-US" sz="1800" dirty="0" err="1"/>
                  <a:t>configuraciones</a:t>
                </a:r>
                <a:r>
                  <a:rPr lang="en-US" sz="1800" dirty="0"/>
                  <a:t> son </a:t>
                </a:r>
                <a:r>
                  <a:rPr lang="en-US" sz="1800" dirty="0" err="1"/>
                  <a:t>igualmente</a:t>
                </a:r>
                <a:r>
                  <a:rPr lang="en-US" sz="1800" dirty="0"/>
                  <a:t> </a:t>
                </a:r>
                <a:r>
                  <a:rPr lang="en-US" sz="1800" dirty="0" err="1"/>
                  <a:t>probables</a:t>
                </a:r>
                <a:r>
                  <a:rPr lang="en-US" sz="1800" dirty="0"/>
                  <a:t>. </a:t>
                </a:r>
              </a:p>
              <a:p>
                <a:pPr>
                  <a:lnSpc>
                    <a:spcPct val="120000"/>
                  </a:lnSpc>
                </a:pPr>
                <a:endParaRPr lang="es-ES" sz="1800" b="0" i="0" u="none" strike="noStrike" baseline="0" dirty="0">
                  <a:latin typeface="LMRoman17-Regular"/>
                </a:endParaRPr>
              </a:p>
            </p:txBody>
          </p:sp>
        </mc:Choice>
        <mc:Fallback xmlns="">
          <p:sp>
            <p:nvSpPr>
              <p:cNvPr id="3" name="Marcador de contenido 2">
                <a:extLst>
                  <a:ext uri="{FF2B5EF4-FFF2-40B4-BE49-F238E27FC236}">
                    <a16:creationId xmlns:a16="http://schemas.microsoft.com/office/drawing/2014/main" id="{AF59B677-146C-D5DF-2862-93DB0E09E542}"/>
                  </a:ext>
                </a:extLst>
              </p:cNvPr>
              <p:cNvSpPr>
                <a:spLocks noGrp="1" noRot="1" noChangeAspect="1" noMove="1" noResize="1" noEditPoints="1" noAdjustHandles="1" noChangeArrowheads="1" noChangeShapeType="1" noTextEdit="1"/>
              </p:cNvSpPr>
              <p:nvPr>
                <p:ph idx="1"/>
              </p:nvPr>
            </p:nvSpPr>
            <p:spPr>
              <a:xfrm>
                <a:off x="119069" y="1121344"/>
                <a:ext cx="6423212" cy="5555180"/>
              </a:xfrm>
              <a:blipFill>
                <a:blip r:embed="rId2"/>
                <a:stretch>
                  <a:fillRect l="-285" r="-1140"/>
                </a:stretch>
              </a:blipFill>
            </p:spPr>
            <p:txBody>
              <a:bodyPr/>
              <a:lstStyle/>
              <a:p>
                <a:r>
                  <a:rPr lang="es-ES">
                    <a:noFill/>
                  </a:rPr>
                  <a:t> </a:t>
                </a:r>
              </a:p>
            </p:txBody>
          </p:sp>
        </mc:Fallback>
      </mc:AlternateContent>
      <p:pic>
        <p:nvPicPr>
          <p:cNvPr id="4" name="Picture 2" descr="Understanding Deep Learning through Energy Landscapes">
            <a:extLst>
              <a:ext uri="{FF2B5EF4-FFF2-40B4-BE49-F238E27FC236}">
                <a16:creationId xmlns:a16="http://schemas.microsoft.com/office/drawing/2014/main" id="{9E1C4C9E-9442-47A9-1F1D-9BE02ECB0F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2018" y="970022"/>
            <a:ext cx="4603821" cy="2315722"/>
          </a:xfrm>
          <a:prstGeom prst="rect">
            <a:avLst/>
          </a:prstGeom>
          <a:noFill/>
          <a:extLst>
            <a:ext uri="{909E8E84-426E-40DD-AFC4-6F175D3DCCD1}">
              <a14:hiddenFill xmlns:a14="http://schemas.microsoft.com/office/drawing/2010/main">
                <a:solidFill>
                  <a:srgbClr val="FFFFFF"/>
                </a:solidFill>
              </a14:hiddenFill>
            </a:ext>
          </a:extLst>
        </p:spPr>
      </p:pic>
      <p:sp>
        <p:nvSpPr>
          <p:cNvPr id="6" name="Heptágono 5">
            <a:extLst>
              <a:ext uri="{FF2B5EF4-FFF2-40B4-BE49-F238E27FC236}">
                <a16:creationId xmlns:a16="http://schemas.microsoft.com/office/drawing/2014/main" id="{2F577AEB-F704-2452-1D57-17800B25191D}"/>
              </a:ext>
            </a:extLst>
          </p:cNvPr>
          <p:cNvSpPr/>
          <p:nvPr/>
        </p:nvSpPr>
        <p:spPr>
          <a:xfrm rot="2078317">
            <a:off x="8880408" y="4121794"/>
            <a:ext cx="2136818" cy="2136819"/>
          </a:xfrm>
          <a:prstGeom prst="heptagon">
            <a:avLst/>
          </a:prstGeom>
          <a:noFill/>
          <a:ln w="95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7" name="Conector recto 6">
            <a:extLst>
              <a:ext uri="{FF2B5EF4-FFF2-40B4-BE49-F238E27FC236}">
                <a16:creationId xmlns:a16="http://schemas.microsoft.com/office/drawing/2014/main" id="{F8D13808-5097-7231-8FB3-092156D8E857}"/>
              </a:ext>
            </a:extLst>
          </p:cNvPr>
          <p:cNvCxnSpPr>
            <a:cxnSpLocks/>
            <a:stCxn id="6" idx="4"/>
          </p:cNvCxnSpPr>
          <p:nvPr/>
        </p:nvCxnSpPr>
        <p:spPr>
          <a:xfrm>
            <a:off x="8895963" y="4834510"/>
            <a:ext cx="828476" cy="1500015"/>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EC5E72CB-C63D-501B-FF4A-586B45EF5F58}"/>
              </a:ext>
            </a:extLst>
          </p:cNvPr>
          <p:cNvCxnSpPr>
            <a:cxnSpLocks/>
            <a:stCxn id="6" idx="4"/>
            <a:endCxn id="6" idx="1"/>
          </p:cNvCxnSpPr>
          <p:nvPr/>
        </p:nvCxnSpPr>
        <p:spPr>
          <a:xfrm>
            <a:off x="8895963" y="4834510"/>
            <a:ext cx="1758083" cy="121457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8DAE95E1-470A-AE72-600B-7E6A9388F820}"/>
              </a:ext>
            </a:extLst>
          </p:cNvPr>
          <p:cNvCxnSpPr>
            <a:cxnSpLocks/>
            <a:stCxn id="6" idx="4"/>
            <a:endCxn id="6" idx="0"/>
          </p:cNvCxnSpPr>
          <p:nvPr/>
        </p:nvCxnSpPr>
        <p:spPr>
          <a:xfrm>
            <a:off x="8895963" y="4834510"/>
            <a:ext cx="2124509" cy="3118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CA9EAD3D-254D-6CD5-535D-9CE7B0025589}"/>
              </a:ext>
            </a:extLst>
          </p:cNvPr>
          <p:cNvCxnSpPr>
            <a:cxnSpLocks/>
            <a:stCxn id="6" idx="4"/>
            <a:endCxn id="6" idx="6"/>
          </p:cNvCxnSpPr>
          <p:nvPr/>
        </p:nvCxnSpPr>
        <p:spPr>
          <a:xfrm flipV="1">
            <a:off x="8895963" y="4311166"/>
            <a:ext cx="1660136" cy="5233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273BCFE1-27A1-41E9-F6A1-EE9BD783149B}"/>
              </a:ext>
            </a:extLst>
          </p:cNvPr>
          <p:cNvCxnSpPr>
            <a:cxnSpLocks/>
            <a:stCxn id="6" idx="5"/>
            <a:endCxn id="6" idx="3"/>
          </p:cNvCxnSpPr>
          <p:nvPr/>
        </p:nvCxnSpPr>
        <p:spPr>
          <a:xfrm flipH="1">
            <a:off x="8950322" y="4172373"/>
            <a:ext cx="660283" cy="16266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56BED8DA-68CB-66DE-50B7-FEF012B77BE8}"/>
              </a:ext>
            </a:extLst>
          </p:cNvPr>
          <p:cNvCxnSpPr>
            <a:cxnSpLocks/>
            <a:stCxn id="6" idx="5"/>
            <a:endCxn id="6" idx="2"/>
          </p:cNvCxnSpPr>
          <p:nvPr/>
        </p:nvCxnSpPr>
        <p:spPr>
          <a:xfrm>
            <a:off x="9610605" y="4172373"/>
            <a:ext cx="122130" cy="2167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3C544AF1-622A-B4EF-1113-A20862DC8BDA}"/>
              </a:ext>
            </a:extLst>
          </p:cNvPr>
          <p:cNvCxnSpPr>
            <a:cxnSpLocks/>
            <a:stCxn id="6" idx="5"/>
            <a:endCxn id="6" idx="1"/>
          </p:cNvCxnSpPr>
          <p:nvPr/>
        </p:nvCxnSpPr>
        <p:spPr>
          <a:xfrm>
            <a:off x="9610605" y="4172373"/>
            <a:ext cx="1043442" cy="18767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C12713A3-327B-85F3-ED46-FCD88513AB39}"/>
              </a:ext>
            </a:extLst>
          </p:cNvPr>
          <p:cNvCxnSpPr>
            <a:cxnSpLocks/>
            <a:stCxn id="6" idx="5"/>
            <a:endCxn id="6" idx="0"/>
          </p:cNvCxnSpPr>
          <p:nvPr/>
        </p:nvCxnSpPr>
        <p:spPr>
          <a:xfrm>
            <a:off x="9610605" y="4172373"/>
            <a:ext cx="1409868" cy="9740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A0A945AB-C798-61DD-6C4E-132804E90ABE}"/>
              </a:ext>
            </a:extLst>
          </p:cNvPr>
          <p:cNvCxnSpPr>
            <a:cxnSpLocks/>
            <a:stCxn id="6" idx="6"/>
            <a:endCxn id="6" idx="3"/>
          </p:cNvCxnSpPr>
          <p:nvPr/>
        </p:nvCxnSpPr>
        <p:spPr>
          <a:xfrm flipH="1">
            <a:off x="8950322" y="4311166"/>
            <a:ext cx="1605777" cy="14878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40F9668A-39CB-FAC2-3817-27236E16E1AA}"/>
              </a:ext>
            </a:extLst>
          </p:cNvPr>
          <p:cNvCxnSpPr>
            <a:cxnSpLocks/>
            <a:stCxn id="6" idx="6"/>
            <a:endCxn id="6" idx="2"/>
          </p:cNvCxnSpPr>
          <p:nvPr/>
        </p:nvCxnSpPr>
        <p:spPr>
          <a:xfrm flipH="1">
            <a:off x="9732735" y="4311166"/>
            <a:ext cx="823364" cy="2028349"/>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Conector recto 16">
            <a:extLst>
              <a:ext uri="{FF2B5EF4-FFF2-40B4-BE49-F238E27FC236}">
                <a16:creationId xmlns:a16="http://schemas.microsoft.com/office/drawing/2014/main" id="{3EAE0925-2D5C-8257-CF86-0F4499B165D9}"/>
              </a:ext>
            </a:extLst>
          </p:cNvPr>
          <p:cNvCxnSpPr>
            <a:cxnSpLocks/>
            <a:stCxn id="6" idx="6"/>
            <a:endCxn id="6" idx="1"/>
          </p:cNvCxnSpPr>
          <p:nvPr/>
        </p:nvCxnSpPr>
        <p:spPr>
          <a:xfrm>
            <a:off x="10556099" y="4311166"/>
            <a:ext cx="97947" cy="17379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2E5DDDB1-FE03-5F6E-B0CD-9CEFD3D9D464}"/>
              </a:ext>
            </a:extLst>
          </p:cNvPr>
          <p:cNvCxnSpPr>
            <a:cxnSpLocks/>
            <a:stCxn id="6" idx="0"/>
            <a:endCxn id="6" idx="3"/>
          </p:cNvCxnSpPr>
          <p:nvPr/>
        </p:nvCxnSpPr>
        <p:spPr>
          <a:xfrm flipH="1">
            <a:off x="8950322" y="5146379"/>
            <a:ext cx="2070151" cy="652607"/>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33E31B94-B51D-8509-F25C-A5759FE02E7F}"/>
              </a:ext>
            </a:extLst>
          </p:cNvPr>
          <p:cNvCxnSpPr>
            <a:cxnSpLocks/>
            <a:stCxn id="6" idx="0"/>
            <a:endCxn id="6" idx="2"/>
          </p:cNvCxnSpPr>
          <p:nvPr/>
        </p:nvCxnSpPr>
        <p:spPr>
          <a:xfrm flipH="1">
            <a:off x="9732735" y="5146379"/>
            <a:ext cx="1287738" cy="119313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47759455-BB7B-07CA-B596-C04D1A35E568}"/>
              </a:ext>
            </a:extLst>
          </p:cNvPr>
          <p:cNvCxnSpPr>
            <a:cxnSpLocks/>
            <a:stCxn id="6" idx="1"/>
            <a:endCxn id="6" idx="3"/>
          </p:cNvCxnSpPr>
          <p:nvPr/>
        </p:nvCxnSpPr>
        <p:spPr>
          <a:xfrm flipH="1" flipV="1">
            <a:off x="8950322" y="5798985"/>
            <a:ext cx="1703724" cy="250095"/>
          </a:xfrm>
          <a:prstGeom prst="line">
            <a:avLst/>
          </a:prstGeom>
        </p:spPr>
        <p:style>
          <a:lnRef idx="1">
            <a:schemeClr val="accent1"/>
          </a:lnRef>
          <a:fillRef idx="0">
            <a:schemeClr val="accent1"/>
          </a:fillRef>
          <a:effectRef idx="0">
            <a:schemeClr val="accent1"/>
          </a:effectRef>
          <a:fontRef idx="minor">
            <a:schemeClr val="tx1"/>
          </a:fontRef>
        </p:style>
      </p:cxnSp>
      <p:sp>
        <p:nvSpPr>
          <p:cNvPr id="21" name="Elipse 20">
            <a:extLst>
              <a:ext uri="{FF2B5EF4-FFF2-40B4-BE49-F238E27FC236}">
                <a16:creationId xmlns:a16="http://schemas.microsoft.com/office/drawing/2014/main" id="{F0518BAC-6A31-05B2-A3BE-F6B953735FBF}"/>
              </a:ext>
            </a:extLst>
          </p:cNvPr>
          <p:cNvSpPr/>
          <p:nvPr/>
        </p:nvSpPr>
        <p:spPr>
          <a:xfrm>
            <a:off x="8737247" y="4696260"/>
            <a:ext cx="281021" cy="28102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Elipse 21">
            <a:extLst>
              <a:ext uri="{FF2B5EF4-FFF2-40B4-BE49-F238E27FC236}">
                <a16:creationId xmlns:a16="http://schemas.microsoft.com/office/drawing/2014/main" id="{BEAD700A-6EF1-FAB3-0217-92CFE78665E8}"/>
              </a:ext>
            </a:extLst>
          </p:cNvPr>
          <p:cNvSpPr/>
          <p:nvPr/>
        </p:nvSpPr>
        <p:spPr>
          <a:xfrm>
            <a:off x="9477884" y="4053360"/>
            <a:ext cx="281021" cy="281021"/>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Elipse 22">
            <a:extLst>
              <a:ext uri="{FF2B5EF4-FFF2-40B4-BE49-F238E27FC236}">
                <a16:creationId xmlns:a16="http://schemas.microsoft.com/office/drawing/2014/main" id="{93083838-D229-47DC-FF38-FC2D99F0CEAE}"/>
              </a:ext>
            </a:extLst>
          </p:cNvPr>
          <p:cNvSpPr/>
          <p:nvPr/>
        </p:nvSpPr>
        <p:spPr>
          <a:xfrm>
            <a:off x="10456510" y="4191222"/>
            <a:ext cx="281021" cy="28102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Elipse 23">
            <a:extLst>
              <a:ext uri="{FF2B5EF4-FFF2-40B4-BE49-F238E27FC236}">
                <a16:creationId xmlns:a16="http://schemas.microsoft.com/office/drawing/2014/main" id="{BF952E5B-A2EA-80A5-5357-2D1E4EDC472E}"/>
              </a:ext>
            </a:extLst>
          </p:cNvPr>
          <p:cNvSpPr/>
          <p:nvPr/>
        </p:nvSpPr>
        <p:spPr>
          <a:xfrm>
            <a:off x="10855506" y="5001983"/>
            <a:ext cx="281021" cy="28102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Elipse 24">
            <a:extLst>
              <a:ext uri="{FF2B5EF4-FFF2-40B4-BE49-F238E27FC236}">
                <a16:creationId xmlns:a16="http://schemas.microsoft.com/office/drawing/2014/main" id="{CB62AB90-DEF0-8B5A-82C2-805D1455BD2D}"/>
              </a:ext>
            </a:extLst>
          </p:cNvPr>
          <p:cNvSpPr/>
          <p:nvPr/>
        </p:nvSpPr>
        <p:spPr>
          <a:xfrm>
            <a:off x="10484348" y="5905760"/>
            <a:ext cx="281021" cy="281021"/>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Elipse 25">
            <a:extLst>
              <a:ext uri="{FF2B5EF4-FFF2-40B4-BE49-F238E27FC236}">
                <a16:creationId xmlns:a16="http://schemas.microsoft.com/office/drawing/2014/main" id="{8043B684-552E-7CD5-9907-595994CF2FF3}"/>
              </a:ext>
            </a:extLst>
          </p:cNvPr>
          <p:cNvSpPr/>
          <p:nvPr/>
        </p:nvSpPr>
        <p:spPr>
          <a:xfrm>
            <a:off x="9583929" y="6178355"/>
            <a:ext cx="281021" cy="281021"/>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Elipse 26">
            <a:extLst>
              <a:ext uri="{FF2B5EF4-FFF2-40B4-BE49-F238E27FC236}">
                <a16:creationId xmlns:a16="http://schemas.microsoft.com/office/drawing/2014/main" id="{C5C996BC-E4FE-6B31-C703-B4E2185662CB}"/>
              </a:ext>
            </a:extLst>
          </p:cNvPr>
          <p:cNvSpPr/>
          <p:nvPr/>
        </p:nvSpPr>
        <p:spPr>
          <a:xfrm>
            <a:off x="8811479" y="5627887"/>
            <a:ext cx="281021" cy="28102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8F5B3A64-3DBE-7B04-1D09-AAEC955733F3}"/>
                  </a:ext>
                </a:extLst>
              </p:cNvPr>
              <p:cNvSpPr txBox="1"/>
              <p:nvPr/>
            </p:nvSpPr>
            <p:spPr>
              <a:xfrm>
                <a:off x="10783905" y="4275612"/>
                <a:ext cx="523132" cy="1638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oMath>
                  </m:oMathPara>
                </a14:m>
                <a:endParaRPr lang="es-ES" dirty="0"/>
              </a:p>
            </p:txBody>
          </p:sp>
        </mc:Choice>
        <mc:Fallback xmlns="">
          <p:sp>
            <p:nvSpPr>
              <p:cNvPr id="28" name="CuadroTexto 27">
                <a:extLst>
                  <a:ext uri="{FF2B5EF4-FFF2-40B4-BE49-F238E27FC236}">
                    <a16:creationId xmlns:a16="http://schemas.microsoft.com/office/drawing/2014/main" id="{8F5B3A64-3DBE-7B04-1D09-AAEC955733F3}"/>
                  </a:ext>
                </a:extLst>
              </p:cNvPr>
              <p:cNvSpPr txBox="1">
                <a:spLocks noRot="1" noChangeAspect="1" noMove="1" noResize="1" noEditPoints="1" noAdjustHandles="1" noChangeArrowheads="1" noChangeShapeType="1" noTextEdit="1"/>
              </p:cNvSpPr>
              <p:nvPr/>
            </p:nvSpPr>
            <p:spPr>
              <a:xfrm>
                <a:off x="10783905" y="4275612"/>
                <a:ext cx="523132" cy="163834"/>
              </a:xfrm>
              <a:prstGeom prst="rect">
                <a:avLst/>
              </a:prstGeom>
              <a:blipFill>
                <a:blip r:embed="rId4"/>
                <a:stretch>
                  <a:fillRect l="-11628" r="-73256" b="-8148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75993014-1B8C-4E56-1502-93D4A3E65627}"/>
                  </a:ext>
                </a:extLst>
              </p:cNvPr>
              <p:cNvSpPr txBox="1"/>
              <p:nvPr/>
            </p:nvSpPr>
            <p:spPr>
              <a:xfrm>
                <a:off x="10992289" y="5319764"/>
                <a:ext cx="523132" cy="1638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=1</m:t>
                      </m:r>
                    </m:oMath>
                  </m:oMathPara>
                </a14:m>
                <a:endParaRPr lang="es-ES" dirty="0"/>
              </a:p>
            </p:txBody>
          </p:sp>
        </mc:Choice>
        <mc:Fallback xmlns="">
          <p:sp>
            <p:nvSpPr>
              <p:cNvPr id="29" name="CuadroTexto 28">
                <a:extLst>
                  <a:ext uri="{FF2B5EF4-FFF2-40B4-BE49-F238E27FC236}">
                    <a16:creationId xmlns:a16="http://schemas.microsoft.com/office/drawing/2014/main" id="{75993014-1B8C-4E56-1502-93D4A3E65627}"/>
                  </a:ext>
                </a:extLst>
              </p:cNvPr>
              <p:cNvSpPr txBox="1">
                <a:spLocks noRot="1" noChangeAspect="1" noMove="1" noResize="1" noEditPoints="1" noAdjustHandles="1" noChangeArrowheads="1" noChangeShapeType="1" noTextEdit="1"/>
              </p:cNvSpPr>
              <p:nvPr/>
            </p:nvSpPr>
            <p:spPr>
              <a:xfrm>
                <a:off x="10992289" y="5319764"/>
                <a:ext cx="523132" cy="163834"/>
              </a:xfrm>
              <a:prstGeom prst="rect">
                <a:avLst/>
              </a:prstGeom>
              <a:blipFill>
                <a:blip r:embed="rId5"/>
                <a:stretch>
                  <a:fillRect l="-11628" r="-73256" b="-77778"/>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3CE1CBE7-AAF6-9833-7AD1-A138C41300A5}"/>
                  </a:ext>
                </a:extLst>
              </p:cNvPr>
              <p:cNvSpPr txBox="1"/>
              <p:nvPr/>
            </p:nvSpPr>
            <p:spPr>
              <a:xfrm>
                <a:off x="10542460" y="6223541"/>
                <a:ext cx="447283" cy="163834"/>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2</m:t>
                        </m:r>
                      </m:e>
                    </m:d>
                    <m:r>
                      <a:rPr lang="en-US" b="0" i="1" smtClean="0">
                        <a:latin typeface="Cambria Math" panose="02040503050406030204" pitchFamily="18" charset="0"/>
                      </a:rPr>
                      <m:t>=</m:t>
                    </m:r>
                  </m:oMath>
                </a14:m>
                <a:r>
                  <a:rPr lang="es-ES" dirty="0"/>
                  <a:t>0</a:t>
                </a:r>
              </a:p>
            </p:txBody>
          </p:sp>
        </mc:Choice>
        <mc:Fallback xmlns="">
          <p:sp>
            <p:nvSpPr>
              <p:cNvPr id="30" name="CuadroTexto 29">
                <a:extLst>
                  <a:ext uri="{FF2B5EF4-FFF2-40B4-BE49-F238E27FC236}">
                    <a16:creationId xmlns:a16="http://schemas.microsoft.com/office/drawing/2014/main" id="{3CE1CBE7-AAF6-9833-7AD1-A138C41300A5}"/>
                  </a:ext>
                </a:extLst>
              </p:cNvPr>
              <p:cNvSpPr txBox="1">
                <a:spLocks noRot="1" noChangeAspect="1" noMove="1" noResize="1" noEditPoints="1" noAdjustHandles="1" noChangeArrowheads="1" noChangeShapeType="1" noTextEdit="1"/>
              </p:cNvSpPr>
              <p:nvPr/>
            </p:nvSpPr>
            <p:spPr>
              <a:xfrm>
                <a:off x="10542460" y="6223541"/>
                <a:ext cx="447283" cy="163834"/>
              </a:xfrm>
              <a:prstGeom prst="rect">
                <a:avLst/>
              </a:prstGeom>
              <a:blipFill>
                <a:blip r:embed="rId6"/>
                <a:stretch>
                  <a:fillRect l="-13514" t="-48148" r="-98649" b="-15185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348E2024-CA46-41BF-EB66-6298AFBD37B5}"/>
                  </a:ext>
                </a:extLst>
              </p:cNvPr>
              <p:cNvSpPr txBox="1"/>
              <p:nvPr/>
            </p:nvSpPr>
            <p:spPr>
              <a:xfrm>
                <a:off x="8833180" y="6350971"/>
                <a:ext cx="447283" cy="163834"/>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3</m:t>
                        </m:r>
                      </m:e>
                    </m:d>
                    <m:r>
                      <a:rPr lang="en-US" b="0" i="1" smtClean="0">
                        <a:latin typeface="Cambria Math" panose="02040503050406030204" pitchFamily="18" charset="0"/>
                      </a:rPr>
                      <m:t>=</m:t>
                    </m:r>
                  </m:oMath>
                </a14:m>
                <a:r>
                  <a:rPr lang="es-ES" dirty="0"/>
                  <a:t>0</a:t>
                </a:r>
              </a:p>
            </p:txBody>
          </p:sp>
        </mc:Choice>
        <mc:Fallback xmlns="">
          <p:sp>
            <p:nvSpPr>
              <p:cNvPr id="31" name="CuadroTexto 30">
                <a:extLst>
                  <a:ext uri="{FF2B5EF4-FFF2-40B4-BE49-F238E27FC236}">
                    <a16:creationId xmlns:a16="http://schemas.microsoft.com/office/drawing/2014/main" id="{348E2024-CA46-41BF-EB66-6298AFBD37B5}"/>
                  </a:ext>
                </a:extLst>
              </p:cNvPr>
              <p:cNvSpPr txBox="1">
                <a:spLocks noRot="1" noChangeAspect="1" noMove="1" noResize="1" noEditPoints="1" noAdjustHandles="1" noChangeArrowheads="1" noChangeShapeType="1" noTextEdit="1"/>
              </p:cNvSpPr>
              <p:nvPr/>
            </p:nvSpPr>
            <p:spPr>
              <a:xfrm>
                <a:off x="8833180" y="6350971"/>
                <a:ext cx="447283" cy="163834"/>
              </a:xfrm>
              <a:prstGeom prst="rect">
                <a:avLst/>
              </a:prstGeom>
              <a:blipFill>
                <a:blip r:embed="rId7"/>
                <a:stretch>
                  <a:fillRect l="-13699" t="-48148" r="-101370" b="-151852"/>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004E52AC-B9CA-6DA0-42DC-CE0B47CC7B86}"/>
                  </a:ext>
                </a:extLst>
              </p:cNvPr>
              <p:cNvSpPr txBox="1"/>
              <p:nvPr/>
            </p:nvSpPr>
            <p:spPr>
              <a:xfrm>
                <a:off x="8171372" y="5893083"/>
                <a:ext cx="523132" cy="1638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4</m:t>
                          </m:r>
                        </m:e>
                      </m:d>
                      <m:r>
                        <a:rPr lang="en-US" b="0" i="1" smtClean="0">
                          <a:latin typeface="Cambria Math" panose="02040503050406030204" pitchFamily="18" charset="0"/>
                        </a:rPr>
                        <m:t>=1</m:t>
                      </m:r>
                    </m:oMath>
                  </m:oMathPara>
                </a14:m>
                <a:endParaRPr lang="es-ES" dirty="0"/>
              </a:p>
            </p:txBody>
          </p:sp>
        </mc:Choice>
        <mc:Fallback xmlns="">
          <p:sp>
            <p:nvSpPr>
              <p:cNvPr id="32" name="CuadroTexto 31">
                <a:extLst>
                  <a:ext uri="{FF2B5EF4-FFF2-40B4-BE49-F238E27FC236}">
                    <a16:creationId xmlns:a16="http://schemas.microsoft.com/office/drawing/2014/main" id="{004E52AC-B9CA-6DA0-42DC-CE0B47CC7B86}"/>
                  </a:ext>
                </a:extLst>
              </p:cNvPr>
              <p:cNvSpPr txBox="1">
                <a:spLocks noRot="1" noChangeAspect="1" noMove="1" noResize="1" noEditPoints="1" noAdjustHandles="1" noChangeArrowheads="1" noChangeShapeType="1" noTextEdit="1"/>
              </p:cNvSpPr>
              <p:nvPr/>
            </p:nvSpPr>
            <p:spPr>
              <a:xfrm>
                <a:off x="8171372" y="5893083"/>
                <a:ext cx="523132" cy="163834"/>
              </a:xfrm>
              <a:prstGeom prst="rect">
                <a:avLst/>
              </a:prstGeom>
              <a:blipFill>
                <a:blip r:embed="rId8"/>
                <a:stretch>
                  <a:fillRect l="-11628" r="-73256" b="-77778"/>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BBE2A992-FDC5-932F-38E1-F601ECD3DF31}"/>
                  </a:ext>
                </a:extLst>
              </p:cNvPr>
              <p:cNvSpPr txBox="1"/>
              <p:nvPr/>
            </p:nvSpPr>
            <p:spPr>
              <a:xfrm>
                <a:off x="7997382" y="4920066"/>
                <a:ext cx="523132" cy="1638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5</m:t>
                          </m:r>
                        </m:e>
                      </m:d>
                      <m:r>
                        <a:rPr lang="en-US" b="0" i="1" smtClean="0">
                          <a:latin typeface="Cambria Math" panose="02040503050406030204" pitchFamily="18" charset="0"/>
                        </a:rPr>
                        <m:t>=1</m:t>
                      </m:r>
                    </m:oMath>
                  </m:oMathPara>
                </a14:m>
                <a:endParaRPr lang="es-ES" dirty="0"/>
              </a:p>
            </p:txBody>
          </p:sp>
        </mc:Choice>
        <mc:Fallback xmlns="">
          <p:sp>
            <p:nvSpPr>
              <p:cNvPr id="33" name="CuadroTexto 32">
                <a:extLst>
                  <a:ext uri="{FF2B5EF4-FFF2-40B4-BE49-F238E27FC236}">
                    <a16:creationId xmlns:a16="http://schemas.microsoft.com/office/drawing/2014/main" id="{BBE2A992-FDC5-932F-38E1-F601ECD3DF31}"/>
                  </a:ext>
                </a:extLst>
              </p:cNvPr>
              <p:cNvSpPr txBox="1">
                <a:spLocks noRot="1" noChangeAspect="1" noMove="1" noResize="1" noEditPoints="1" noAdjustHandles="1" noChangeArrowheads="1" noChangeShapeType="1" noTextEdit="1"/>
              </p:cNvSpPr>
              <p:nvPr/>
            </p:nvSpPr>
            <p:spPr>
              <a:xfrm>
                <a:off x="7997382" y="4920066"/>
                <a:ext cx="523132" cy="163834"/>
              </a:xfrm>
              <a:prstGeom prst="rect">
                <a:avLst/>
              </a:prstGeom>
              <a:blipFill>
                <a:blip r:embed="rId9"/>
                <a:stretch>
                  <a:fillRect l="-11628" r="-72093" b="-8148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4" name="CuadroTexto 33">
                <a:extLst>
                  <a:ext uri="{FF2B5EF4-FFF2-40B4-BE49-F238E27FC236}">
                    <a16:creationId xmlns:a16="http://schemas.microsoft.com/office/drawing/2014/main" id="{1C4C29DD-7CC6-F6F6-8B5F-812CEBB7CAEA}"/>
                  </a:ext>
                </a:extLst>
              </p:cNvPr>
              <p:cNvSpPr txBox="1"/>
              <p:nvPr/>
            </p:nvSpPr>
            <p:spPr>
              <a:xfrm>
                <a:off x="8556541" y="4061072"/>
                <a:ext cx="523132" cy="1638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6</m:t>
                          </m:r>
                        </m:e>
                      </m:d>
                      <m:r>
                        <a:rPr lang="en-US" b="0" i="1" smtClean="0">
                          <a:latin typeface="Cambria Math" panose="02040503050406030204" pitchFamily="18" charset="0"/>
                        </a:rPr>
                        <m:t>=0</m:t>
                      </m:r>
                    </m:oMath>
                  </m:oMathPara>
                </a14:m>
                <a:endParaRPr lang="es-ES" dirty="0"/>
              </a:p>
            </p:txBody>
          </p:sp>
        </mc:Choice>
        <mc:Fallback xmlns="">
          <p:sp>
            <p:nvSpPr>
              <p:cNvPr id="34" name="CuadroTexto 33">
                <a:extLst>
                  <a:ext uri="{FF2B5EF4-FFF2-40B4-BE49-F238E27FC236}">
                    <a16:creationId xmlns:a16="http://schemas.microsoft.com/office/drawing/2014/main" id="{1C4C29DD-7CC6-F6F6-8B5F-812CEBB7CAEA}"/>
                  </a:ext>
                </a:extLst>
              </p:cNvPr>
              <p:cNvSpPr txBox="1">
                <a:spLocks noRot="1" noChangeAspect="1" noMove="1" noResize="1" noEditPoints="1" noAdjustHandles="1" noChangeArrowheads="1" noChangeShapeType="1" noTextEdit="1"/>
              </p:cNvSpPr>
              <p:nvPr/>
            </p:nvSpPr>
            <p:spPr>
              <a:xfrm>
                <a:off x="8556541" y="4061072"/>
                <a:ext cx="523132" cy="163834"/>
              </a:xfrm>
              <a:prstGeom prst="rect">
                <a:avLst/>
              </a:prstGeom>
              <a:blipFill>
                <a:blip r:embed="rId10"/>
                <a:stretch>
                  <a:fillRect l="-11765" r="-74118" b="-81481"/>
                </a:stretch>
              </a:blipFill>
            </p:spPr>
            <p:txBody>
              <a:bodyPr/>
              <a:lstStyle/>
              <a:p>
                <a:r>
                  <a:rPr lang="es-ES">
                    <a:noFill/>
                  </a:rPr>
                  <a:t> </a:t>
                </a:r>
              </a:p>
            </p:txBody>
          </p:sp>
        </mc:Fallback>
      </mc:AlternateContent>
      <p:sp>
        <p:nvSpPr>
          <p:cNvPr id="35" name="CuadroTexto 34">
            <a:extLst>
              <a:ext uri="{FF2B5EF4-FFF2-40B4-BE49-F238E27FC236}">
                <a16:creationId xmlns:a16="http://schemas.microsoft.com/office/drawing/2014/main" id="{70DC1CF5-38CD-23B3-0913-8DE3BB612D68}"/>
              </a:ext>
            </a:extLst>
          </p:cNvPr>
          <p:cNvSpPr txBox="1"/>
          <p:nvPr/>
        </p:nvSpPr>
        <p:spPr>
          <a:xfrm>
            <a:off x="6486654" y="5716690"/>
            <a:ext cx="1425666" cy="923330"/>
          </a:xfrm>
          <a:prstGeom prst="rect">
            <a:avLst/>
          </a:prstGeom>
          <a:solidFill>
            <a:schemeClr val="accent6">
              <a:lumMod val="20000"/>
              <a:lumOff val="80000"/>
            </a:schemeClr>
          </a:solidFill>
        </p:spPr>
        <p:txBody>
          <a:bodyPr wrap="square" rtlCol="0">
            <a:spAutoFit/>
          </a:bodyPr>
          <a:lstStyle/>
          <a:p>
            <a:r>
              <a:rPr lang="en-US" dirty="0" err="1"/>
              <a:t>Ejemplo</a:t>
            </a:r>
            <a:r>
              <a:rPr lang="en-US" dirty="0"/>
              <a:t> de </a:t>
            </a:r>
            <a:r>
              <a:rPr lang="en-US" dirty="0" err="1"/>
              <a:t>memoria</a:t>
            </a:r>
            <a:r>
              <a:rPr lang="en-US" dirty="0"/>
              <a:t> o </a:t>
            </a:r>
            <a:r>
              <a:rPr lang="en-US" dirty="0" err="1"/>
              <a:t>patr</a:t>
            </a:r>
            <a:r>
              <a:rPr lang="es-ES" dirty="0" err="1"/>
              <a:t>ón</a:t>
            </a:r>
            <a:r>
              <a:rPr lang="es-ES" dirty="0"/>
              <a:t>:</a:t>
            </a:r>
          </a:p>
        </p:txBody>
      </p:sp>
      <p:sp>
        <p:nvSpPr>
          <p:cNvPr id="38" name="Título 1">
            <a:extLst>
              <a:ext uri="{FF2B5EF4-FFF2-40B4-BE49-F238E27FC236}">
                <a16:creationId xmlns:a16="http://schemas.microsoft.com/office/drawing/2014/main" id="{01A03CE9-FF68-803A-5EDF-120342DC5707}"/>
              </a:ext>
            </a:extLst>
          </p:cNvPr>
          <p:cNvSpPr txBox="1">
            <a:spLocks/>
          </p:cNvSpPr>
          <p:nvPr/>
        </p:nvSpPr>
        <p:spPr>
          <a:xfrm>
            <a:off x="0" y="104764"/>
            <a:ext cx="12192000" cy="708208"/>
          </a:xfrm>
          <a:prstGeom prst="rect">
            <a:avLst/>
          </a:prstGeom>
          <a:solidFill>
            <a:schemeClr val="accent6">
              <a:lumMod val="20000"/>
              <a:lumOff val="8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b="1" dirty="0"/>
              <a:t>Modelo de </a:t>
            </a:r>
            <a:r>
              <a:rPr lang="es-ES" sz="2800" b="1" dirty="0" err="1"/>
              <a:t>Hopfield</a:t>
            </a:r>
            <a:r>
              <a:rPr lang="es-ES" sz="2800" b="1" dirty="0"/>
              <a:t> de red neuronal</a:t>
            </a:r>
          </a:p>
        </p:txBody>
      </p:sp>
    </p:spTree>
    <p:extLst>
      <p:ext uri="{BB962C8B-B14F-4D97-AF65-F5344CB8AC3E}">
        <p14:creationId xmlns:p14="http://schemas.microsoft.com/office/powerpoint/2010/main" val="370396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BB378D2A-BC20-FA6A-16DF-B6C84C46AA8D}"/>
              </a:ext>
            </a:extLst>
          </p:cNvPr>
          <p:cNvSpPr txBox="1">
            <a:spLocks/>
          </p:cNvSpPr>
          <p:nvPr/>
        </p:nvSpPr>
        <p:spPr>
          <a:xfrm>
            <a:off x="0" y="104764"/>
            <a:ext cx="12192000" cy="708208"/>
          </a:xfrm>
          <a:prstGeom prst="rect">
            <a:avLst/>
          </a:prstGeom>
          <a:solidFill>
            <a:schemeClr val="accent6">
              <a:lumMod val="20000"/>
              <a:lumOff val="8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b="1" dirty="0"/>
              <a:t>Modelo de </a:t>
            </a:r>
            <a:r>
              <a:rPr lang="es-ES" sz="2800" b="1" dirty="0" err="1"/>
              <a:t>Hopfield</a:t>
            </a:r>
            <a:r>
              <a:rPr lang="es-ES" sz="2800" b="1" dirty="0"/>
              <a:t> de red neuronal: Diagrama de fases</a:t>
            </a:r>
          </a:p>
        </p:txBody>
      </p:sp>
      <p:pic>
        <p:nvPicPr>
          <p:cNvPr id="4098" name="Picture 2" descr="Phase diagram of the Hopfield model, from 30 | Download Scientific Diagram">
            <a:extLst>
              <a:ext uri="{FF2B5EF4-FFF2-40B4-BE49-F238E27FC236}">
                <a16:creationId xmlns:a16="http://schemas.microsoft.com/office/drawing/2014/main" id="{799700CF-8D53-1730-6112-F2584ACBEB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510" y="1082428"/>
            <a:ext cx="6029325" cy="452554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274E01D8-A0A0-18AE-1811-09B4AE4BA9EE}"/>
                  </a:ext>
                </a:extLst>
              </p:cNvPr>
              <p:cNvSpPr txBox="1"/>
              <p:nvPr/>
            </p:nvSpPr>
            <p:spPr>
              <a:xfrm>
                <a:off x="5218064" y="1082428"/>
                <a:ext cx="6589058" cy="5135252"/>
              </a:xfrm>
              <a:prstGeom prst="rect">
                <a:avLst/>
              </a:prstGeom>
              <a:noFill/>
            </p:spPr>
            <p:txBody>
              <a:bodyPr wrap="square">
                <a:spAutoFit/>
              </a:bodyPr>
              <a:lstStyle/>
              <a:p>
                <a:pPr marL="285750" indent="-285750">
                  <a:spcBef>
                    <a:spcPts val="400"/>
                  </a:spcBef>
                  <a:buFont typeface="Arial" panose="020B0604020202020204" pitchFamily="34" charset="0"/>
                  <a:buChar char="•"/>
                </a:pPr>
                <a:r>
                  <a:rPr lang="es-ES" sz="1600" b="1" i="0" u="none" strike="noStrike" baseline="0" dirty="0">
                    <a:latin typeface="LMRoman17-Regular"/>
                  </a:rPr>
                  <a:t>Parámetros de control:</a:t>
                </a:r>
                <a:r>
                  <a:rPr lang="es-ES" sz="1600" b="0" i="0" u="none" strike="noStrike" baseline="0" dirty="0">
                    <a:latin typeface="LMRoman17-Regular"/>
                  </a:rPr>
                  <a:t> </a:t>
                </a:r>
                <a:r>
                  <a:rPr lang="es-ES" sz="1600" b="0" i="0" u="none" strike="noStrike" baseline="0" dirty="0">
                    <a:solidFill>
                      <a:srgbClr val="B020A9"/>
                    </a:solidFill>
                    <a:latin typeface="LMRoman17-Regular"/>
                  </a:rPr>
                  <a:t>temperatura </a:t>
                </a:r>
                <a14:m>
                  <m:oMath xmlns:m="http://schemas.openxmlformats.org/officeDocument/2006/math">
                    <m:r>
                      <a:rPr lang="es-ES" sz="1600" b="0" i="1" u="none" strike="noStrike" baseline="0" smtClean="0">
                        <a:solidFill>
                          <a:srgbClr val="B020A9"/>
                        </a:solidFill>
                        <a:latin typeface="Cambria Math" panose="02040503050406030204" pitchFamily="18" charset="0"/>
                      </a:rPr>
                      <m:t>𝑇</m:t>
                    </m:r>
                  </m:oMath>
                </a14:m>
                <a:r>
                  <a:rPr lang="es-ES" sz="1600" b="0" i="0" u="none" strike="noStrike" baseline="0" dirty="0">
                    <a:latin typeface="LMRoman17-Regular"/>
                  </a:rPr>
                  <a:t>, </a:t>
                </a:r>
                <a:r>
                  <a:rPr lang="es-ES" sz="1600" b="0" i="0" u="none" strike="noStrike" baseline="0" dirty="0">
                    <a:solidFill>
                      <a:srgbClr val="B020A9"/>
                    </a:solidFill>
                    <a:latin typeface="LMRoman17-Regular"/>
                  </a:rPr>
                  <a:t>carga de memoria </a:t>
                </a:r>
                <a14:m>
                  <m:oMath xmlns:m="http://schemas.openxmlformats.org/officeDocument/2006/math">
                    <m:r>
                      <a:rPr lang="en-US" sz="1600" b="0" i="1" smtClean="0">
                        <a:solidFill>
                          <a:srgbClr val="B020A9"/>
                        </a:solidFill>
                        <a:latin typeface="Cambria Math" panose="02040503050406030204" pitchFamily="18" charset="0"/>
                      </a:rPr>
                      <m:t>𝛼</m:t>
                    </m:r>
                    <m:r>
                      <a:rPr lang="en-US" sz="1600" b="0" i="1" smtClean="0">
                        <a:solidFill>
                          <a:srgbClr val="B020A9"/>
                        </a:solidFill>
                        <a:latin typeface="Cambria Math" panose="02040503050406030204" pitchFamily="18" charset="0"/>
                      </a:rPr>
                      <m:t>=</m:t>
                    </m:r>
                    <m:r>
                      <a:rPr lang="en-US" sz="1600" b="0" i="1" smtClean="0">
                        <a:solidFill>
                          <a:srgbClr val="B020A9"/>
                        </a:solidFill>
                        <a:latin typeface="Cambria Math" panose="02040503050406030204" pitchFamily="18" charset="0"/>
                      </a:rPr>
                      <m:t>𝑃</m:t>
                    </m:r>
                    <m:r>
                      <a:rPr lang="en-US" sz="1600" b="0" i="1" smtClean="0">
                        <a:solidFill>
                          <a:srgbClr val="B020A9"/>
                        </a:solidFill>
                        <a:latin typeface="Cambria Math" panose="02040503050406030204" pitchFamily="18" charset="0"/>
                      </a:rPr>
                      <m:t>/</m:t>
                    </m:r>
                    <m:r>
                      <a:rPr lang="en-US" sz="1600" b="0" i="1" smtClean="0">
                        <a:solidFill>
                          <a:srgbClr val="B020A9"/>
                        </a:solidFill>
                        <a:latin typeface="Cambria Math" panose="02040503050406030204" pitchFamily="18" charset="0"/>
                      </a:rPr>
                      <m:t>𝑁</m:t>
                    </m:r>
                  </m:oMath>
                </a14:m>
                <a:r>
                  <a:rPr lang="es-ES" sz="1600" dirty="0"/>
                  <a:t>.</a:t>
                </a:r>
                <a:r>
                  <a:rPr lang="es-ES" sz="1600" b="0" i="0" u="none" strike="noStrike" baseline="0" dirty="0">
                    <a:latin typeface="LMRoman17-Regular"/>
                  </a:rPr>
                  <a:t> </a:t>
                </a:r>
              </a:p>
              <a:p>
                <a:pPr marL="285750" indent="-285750">
                  <a:spcBef>
                    <a:spcPts val="400"/>
                  </a:spcBef>
                  <a:buFont typeface="Arial" panose="020B0604020202020204" pitchFamily="34" charset="0"/>
                  <a:buChar char="•"/>
                </a:pPr>
                <a:r>
                  <a:rPr lang="es-ES" sz="1600" b="1" i="0" u="none" strike="noStrike" baseline="0" dirty="0">
                    <a:latin typeface="LMRoman17-Regular"/>
                  </a:rPr>
                  <a:t>Parámetros de orden:</a:t>
                </a:r>
                <a:r>
                  <a:rPr lang="es-ES" sz="1600" b="1" i="0" u="none" strike="noStrike" dirty="0">
                    <a:latin typeface="LMRoman17-Regular"/>
                  </a:rPr>
                  <a:t> </a:t>
                </a:r>
                <a:r>
                  <a:rPr lang="es-ES" sz="1600" b="0" i="0" u="none" strike="noStrike" dirty="0">
                    <a:solidFill>
                      <a:srgbClr val="B020A9"/>
                    </a:solidFill>
                    <a:latin typeface="LMRoman17-Regular"/>
                  </a:rPr>
                  <a:t>Solapamiento</a:t>
                </a:r>
                <a:r>
                  <a:rPr lang="es-ES" sz="1600" b="0" i="0" u="none" strike="noStrike" dirty="0">
                    <a:latin typeface="LMRoman17-Regular"/>
                  </a:rPr>
                  <a:t>, que mide e</a:t>
                </a:r>
                <a:r>
                  <a:rPr lang="es-ES" sz="1600" b="0" i="0" u="none" strike="noStrike" baseline="0" dirty="0">
                    <a:latin typeface="LMRoman17-Regular"/>
                  </a:rPr>
                  <a:t>l grado de recuperación de las memorias</a:t>
                </a:r>
                <a:r>
                  <a:rPr lang="es-ES" sz="1600" b="0" i="0" u="none" strike="noStrike" dirty="0">
                    <a:latin typeface="LMRoman17-Regular"/>
                  </a:rPr>
                  <a:t>: </a:t>
                </a:r>
                <a:br>
                  <a:rPr lang="en-US" sz="1600" b="0" i="1" u="none" strike="noStrike" dirty="0">
                    <a:latin typeface="Cambria Math" panose="02040503050406030204" pitchFamily="18" charset="0"/>
                  </a:rPr>
                </a:br>
                <a14:m>
                  <m:oMath xmlns:m="http://schemas.openxmlformats.org/officeDocument/2006/math">
                    <m:sSup>
                      <m:sSupPr>
                        <m:ctrlPr>
                          <a:rPr lang="en-US" sz="1600" b="0" i="1" u="none" strike="noStrike" smtClean="0">
                            <a:solidFill>
                              <a:srgbClr val="B020A9"/>
                            </a:solidFill>
                            <a:latin typeface="Cambria Math" panose="02040503050406030204" pitchFamily="18" charset="0"/>
                          </a:rPr>
                        </m:ctrlPr>
                      </m:sSupPr>
                      <m:e>
                        <m:r>
                          <a:rPr lang="es-ES" sz="1600" b="0" i="1" u="none" strike="noStrike" smtClean="0">
                            <a:solidFill>
                              <a:srgbClr val="B020A9"/>
                            </a:solidFill>
                            <a:latin typeface="Cambria Math" panose="02040503050406030204" pitchFamily="18" charset="0"/>
                          </a:rPr>
                          <m:t>𝑚</m:t>
                        </m:r>
                      </m:e>
                      <m:sup>
                        <m:r>
                          <a:rPr lang="en-US" sz="1600" b="0" i="1" u="none" strike="noStrike" smtClean="0">
                            <a:solidFill>
                              <a:srgbClr val="B020A9"/>
                            </a:solidFill>
                            <a:latin typeface="Cambria Math" panose="02040503050406030204" pitchFamily="18" charset="0"/>
                          </a:rPr>
                          <m:t>𝜇</m:t>
                        </m:r>
                      </m:sup>
                    </m:sSup>
                    <m:d>
                      <m:dPr>
                        <m:ctrlPr>
                          <a:rPr lang="en-US" sz="1600" b="0" i="1" u="none" strike="noStrike" smtClean="0">
                            <a:solidFill>
                              <a:srgbClr val="B020A9"/>
                            </a:solidFill>
                            <a:latin typeface="Cambria Math" panose="02040503050406030204" pitchFamily="18" charset="0"/>
                          </a:rPr>
                        </m:ctrlPr>
                      </m:dPr>
                      <m:e>
                        <m:r>
                          <a:rPr lang="en-US" sz="1600" b="1" i="1" u="none" strike="noStrike" smtClean="0">
                            <a:solidFill>
                              <a:srgbClr val="B020A9"/>
                            </a:solidFill>
                            <a:latin typeface="Cambria Math" panose="02040503050406030204" pitchFamily="18" charset="0"/>
                          </a:rPr>
                          <m:t>𝒔</m:t>
                        </m:r>
                      </m:e>
                    </m:d>
                    <m:r>
                      <a:rPr lang="en-US" sz="1600" b="0" i="1" u="none" strike="noStrike" smtClean="0">
                        <a:solidFill>
                          <a:srgbClr val="B020A9"/>
                        </a:solidFill>
                        <a:latin typeface="Cambria Math" panose="02040503050406030204" pitchFamily="18" charset="0"/>
                      </a:rPr>
                      <m:t>=</m:t>
                    </m:r>
                    <m:f>
                      <m:fPr>
                        <m:ctrlPr>
                          <a:rPr lang="en-US" sz="1600" b="0" i="1" u="none" strike="noStrike" smtClean="0">
                            <a:solidFill>
                              <a:srgbClr val="B020A9"/>
                            </a:solidFill>
                            <a:latin typeface="Cambria Math" panose="02040503050406030204" pitchFamily="18" charset="0"/>
                          </a:rPr>
                        </m:ctrlPr>
                      </m:fPr>
                      <m:num>
                        <m:r>
                          <a:rPr lang="en-US" sz="1600" b="0" i="1" u="none" strike="noStrike" smtClean="0">
                            <a:solidFill>
                              <a:srgbClr val="B020A9"/>
                            </a:solidFill>
                            <a:latin typeface="Cambria Math" panose="02040503050406030204" pitchFamily="18" charset="0"/>
                          </a:rPr>
                          <m:t>1</m:t>
                        </m:r>
                      </m:num>
                      <m:den>
                        <m:r>
                          <a:rPr lang="en-US" sz="1600" b="0" i="1" u="none" strike="noStrike" smtClean="0">
                            <a:solidFill>
                              <a:srgbClr val="B020A9"/>
                            </a:solidFill>
                            <a:latin typeface="Cambria Math" panose="02040503050406030204" pitchFamily="18" charset="0"/>
                          </a:rPr>
                          <m:t>𝑎</m:t>
                        </m:r>
                        <m:d>
                          <m:dPr>
                            <m:ctrlPr>
                              <a:rPr lang="en-US" sz="1600" b="0" i="1" u="none" strike="noStrike" smtClean="0">
                                <a:solidFill>
                                  <a:srgbClr val="B020A9"/>
                                </a:solidFill>
                                <a:latin typeface="Cambria Math" panose="02040503050406030204" pitchFamily="18" charset="0"/>
                              </a:rPr>
                            </m:ctrlPr>
                          </m:dPr>
                          <m:e>
                            <m:r>
                              <a:rPr lang="en-US" sz="1600" b="0" i="1" u="none" strike="noStrike" smtClean="0">
                                <a:solidFill>
                                  <a:srgbClr val="B020A9"/>
                                </a:solidFill>
                                <a:latin typeface="Cambria Math" panose="02040503050406030204" pitchFamily="18" charset="0"/>
                              </a:rPr>
                              <m:t>1−</m:t>
                            </m:r>
                            <m:r>
                              <a:rPr lang="en-US" sz="1600" b="0" i="1" u="none" strike="noStrike" smtClean="0">
                                <a:solidFill>
                                  <a:srgbClr val="B020A9"/>
                                </a:solidFill>
                                <a:latin typeface="Cambria Math" panose="02040503050406030204" pitchFamily="18" charset="0"/>
                              </a:rPr>
                              <m:t>𝑎</m:t>
                            </m:r>
                          </m:e>
                        </m:d>
                        <m:r>
                          <a:rPr lang="en-US" sz="1600" b="0" i="1" u="none" strike="noStrike" smtClean="0">
                            <a:solidFill>
                              <a:srgbClr val="B020A9"/>
                            </a:solidFill>
                            <a:latin typeface="Cambria Math" panose="02040503050406030204" pitchFamily="18" charset="0"/>
                          </a:rPr>
                          <m:t>𝑁</m:t>
                        </m:r>
                      </m:den>
                    </m:f>
                    <m:nary>
                      <m:naryPr>
                        <m:chr m:val="∑"/>
                        <m:supHide m:val="on"/>
                        <m:ctrlPr>
                          <a:rPr lang="en-US" sz="1600" b="0" i="1" u="none" strike="noStrike" smtClean="0">
                            <a:solidFill>
                              <a:srgbClr val="B020A9"/>
                            </a:solidFill>
                            <a:latin typeface="Cambria Math" panose="02040503050406030204" pitchFamily="18" charset="0"/>
                          </a:rPr>
                        </m:ctrlPr>
                      </m:naryPr>
                      <m:sub>
                        <m:r>
                          <a:rPr lang="en-US" sz="1600" b="0" i="1" u="none" strike="noStrike" smtClean="0">
                            <a:solidFill>
                              <a:srgbClr val="B020A9"/>
                            </a:solidFill>
                            <a:latin typeface="Cambria Math" panose="02040503050406030204" pitchFamily="18" charset="0"/>
                          </a:rPr>
                          <m:t>𝑖</m:t>
                        </m:r>
                      </m:sub>
                      <m:sup/>
                      <m:e>
                        <m:d>
                          <m:dPr>
                            <m:ctrlPr>
                              <a:rPr lang="en-US" sz="1600" b="0" i="1" u="none" strike="noStrike" smtClean="0">
                                <a:solidFill>
                                  <a:srgbClr val="B020A9"/>
                                </a:solidFill>
                                <a:latin typeface="Cambria Math" panose="02040503050406030204" pitchFamily="18" charset="0"/>
                              </a:rPr>
                            </m:ctrlPr>
                          </m:dPr>
                          <m:e>
                            <m:sSubSup>
                              <m:sSubSupPr>
                                <m:ctrlPr>
                                  <a:rPr lang="en-US" sz="1600" b="0" i="1" u="none" strike="noStrike" smtClean="0">
                                    <a:solidFill>
                                      <a:srgbClr val="B020A9"/>
                                    </a:solidFill>
                                    <a:latin typeface="Cambria Math" panose="02040503050406030204" pitchFamily="18" charset="0"/>
                                  </a:rPr>
                                </m:ctrlPr>
                              </m:sSubSupPr>
                              <m:e>
                                <m:r>
                                  <a:rPr lang="en-US" sz="1600" b="0" i="1" u="none" strike="noStrike" smtClean="0">
                                    <a:solidFill>
                                      <a:srgbClr val="B020A9"/>
                                    </a:solidFill>
                                    <a:latin typeface="Cambria Math" panose="02040503050406030204" pitchFamily="18" charset="0"/>
                                  </a:rPr>
                                  <m:t>𝜉</m:t>
                                </m:r>
                              </m:e>
                              <m:sub>
                                <m:r>
                                  <a:rPr lang="en-US" sz="1600" b="0" i="1" u="none" strike="noStrike" smtClean="0">
                                    <a:solidFill>
                                      <a:srgbClr val="B020A9"/>
                                    </a:solidFill>
                                    <a:latin typeface="Cambria Math" panose="02040503050406030204" pitchFamily="18" charset="0"/>
                                  </a:rPr>
                                  <m:t>𝑖</m:t>
                                </m:r>
                              </m:sub>
                              <m:sup>
                                <m:r>
                                  <a:rPr lang="en-US" sz="1600" b="0" i="1" u="none" strike="noStrike" smtClean="0">
                                    <a:solidFill>
                                      <a:srgbClr val="B020A9"/>
                                    </a:solidFill>
                                    <a:latin typeface="Cambria Math" panose="02040503050406030204" pitchFamily="18" charset="0"/>
                                  </a:rPr>
                                  <m:t>𝜇</m:t>
                                </m:r>
                              </m:sup>
                            </m:sSubSup>
                            <m:r>
                              <a:rPr lang="en-US" sz="1600" b="0" i="1" u="none" strike="noStrike" smtClean="0">
                                <a:solidFill>
                                  <a:srgbClr val="B020A9"/>
                                </a:solidFill>
                                <a:latin typeface="Cambria Math" panose="02040503050406030204" pitchFamily="18" charset="0"/>
                              </a:rPr>
                              <m:t>−</m:t>
                            </m:r>
                            <m:r>
                              <a:rPr lang="en-US" sz="1600" b="0" i="1" u="none" strike="noStrike" smtClean="0">
                                <a:solidFill>
                                  <a:srgbClr val="B020A9"/>
                                </a:solidFill>
                                <a:latin typeface="Cambria Math" panose="02040503050406030204" pitchFamily="18" charset="0"/>
                              </a:rPr>
                              <m:t>𝑎</m:t>
                            </m:r>
                          </m:e>
                        </m:d>
                        <m:d>
                          <m:dPr>
                            <m:ctrlPr>
                              <a:rPr lang="en-US" sz="1600" b="0" i="1" u="none" strike="noStrike" smtClean="0">
                                <a:solidFill>
                                  <a:srgbClr val="B020A9"/>
                                </a:solidFill>
                                <a:latin typeface="Cambria Math" panose="02040503050406030204" pitchFamily="18" charset="0"/>
                              </a:rPr>
                            </m:ctrlPr>
                          </m:dPr>
                          <m:e>
                            <m:sSub>
                              <m:sSubPr>
                                <m:ctrlPr>
                                  <a:rPr lang="en-US" sz="1600" b="0" i="1" u="none" strike="noStrike" smtClean="0">
                                    <a:solidFill>
                                      <a:srgbClr val="B020A9"/>
                                    </a:solidFill>
                                    <a:latin typeface="Cambria Math" panose="02040503050406030204" pitchFamily="18" charset="0"/>
                                  </a:rPr>
                                </m:ctrlPr>
                              </m:sSubPr>
                              <m:e>
                                <m:r>
                                  <a:rPr lang="en-US" sz="1600" b="0" i="1" u="none" strike="noStrike" smtClean="0">
                                    <a:solidFill>
                                      <a:srgbClr val="B020A9"/>
                                    </a:solidFill>
                                    <a:latin typeface="Cambria Math" panose="02040503050406030204" pitchFamily="18" charset="0"/>
                                  </a:rPr>
                                  <m:t>𝑠</m:t>
                                </m:r>
                              </m:e>
                              <m:sub>
                                <m:r>
                                  <a:rPr lang="en-US" sz="1600" b="0" i="1" u="none" strike="noStrike" smtClean="0">
                                    <a:solidFill>
                                      <a:srgbClr val="B020A9"/>
                                    </a:solidFill>
                                    <a:latin typeface="Cambria Math" panose="02040503050406030204" pitchFamily="18" charset="0"/>
                                  </a:rPr>
                                  <m:t>𝑖</m:t>
                                </m:r>
                              </m:sub>
                            </m:sSub>
                            <m:r>
                              <a:rPr lang="en-US" sz="1600" b="0" i="1" u="none" strike="noStrike" smtClean="0">
                                <a:solidFill>
                                  <a:srgbClr val="B020A9"/>
                                </a:solidFill>
                                <a:latin typeface="Cambria Math" panose="02040503050406030204" pitchFamily="18" charset="0"/>
                              </a:rPr>
                              <m:t>−</m:t>
                            </m:r>
                            <m:r>
                              <a:rPr lang="en-US" sz="1600" b="0" i="1" u="none" strike="noStrike" smtClean="0">
                                <a:solidFill>
                                  <a:srgbClr val="B020A9"/>
                                </a:solidFill>
                                <a:latin typeface="Cambria Math" panose="02040503050406030204" pitchFamily="18" charset="0"/>
                              </a:rPr>
                              <m:t>𝑎</m:t>
                            </m:r>
                          </m:e>
                        </m:d>
                      </m:e>
                    </m:nary>
                  </m:oMath>
                </a14:m>
                <a:endParaRPr lang="es-ES" sz="1600" dirty="0"/>
              </a:p>
              <a:p>
                <a:pPr marL="285750" indent="-285750">
                  <a:spcBef>
                    <a:spcPts val="400"/>
                  </a:spcBef>
                  <a:buFont typeface="Arial" panose="020B0604020202020204" pitchFamily="34" charset="0"/>
                  <a:buChar char="•"/>
                </a:pPr>
                <a:r>
                  <a:rPr lang="es-ES" sz="1600" dirty="0"/>
                  <a:t>Distinguimos tres fases: </a:t>
                </a:r>
              </a:p>
              <a:p>
                <a:pPr marL="800100" lvl="1" indent="-342900">
                  <a:spcBef>
                    <a:spcPts val="400"/>
                  </a:spcBef>
                  <a:buFont typeface="+mj-lt"/>
                  <a:buAutoNum type="arabicPeriod"/>
                </a:pPr>
                <a:r>
                  <a:rPr lang="es-ES" sz="1600" b="1" dirty="0">
                    <a:solidFill>
                      <a:srgbClr val="B020A9"/>
                    </a:solidFill>
                  </a:rPr>
                  <a:t>Fase de memoria (</a:t>
                </a:r>
                <a:r>
                  <a:rPr lang="es-ES" sz="1600" b="1" dirty="0" err="1">
                    <a:solidFill>
                      <a:srgbClr val="B020A9"/>
                    </a:solidFill>
                  </a:rPr>
                  <a:t>retrival</a:t>
                </a:r>
                <a:r>
                  <a:rPr lang="es-ES" sz="1600" b="1" dirty="0">
                    <a:solidFill>
                      <a:srgbClr val="B020A9"/>
                    </a:solidFill>
                  </a:rPr>
                  <a:t>). </a:t>
                </a:r>
                <a:r>
                  <a:rPr kumimoji="0" lang="es-ES" altLang="es-ES" sz="1600" b="0" i="0" u="none" strike="noStrike" cap="none" normalizeH="0" baseline="0" dirty="0">
                    <a:ln>
                      <a:noFill/>
                    </a:ln>
                    <a:solidFill>
                      <a:schemeClr val="tx1"/>
                    </a:solidFill>
                    <a:effectLst/>
                  </a:rPr>
                  <a:t>La red es capaz de recuperar correctamente los patrones almacenados. Se da a </a:t>
                </a:r>
                <a:r>
                  <a:rPr kumimoji="0" lang="es-ES" altLang="es-ES" sz="1600" b="1" i="0" u="none" strike="noStrike" cap="none" normalizeH="0" baseline="0" dirty="0">
                    <a:ln>
                      <a:noFill/>
                    </a:ln>
                    <a:solidFill>
                      <a:schemeClr val="tx1"/>
                    </a:solidFill>
                    <a:effectLst/>
                  </a:rPr>
                  <a:t>baja temperatura</a:t>
                </a:r>
                <a:r>
                  <a:rPr kumimoji="0" lang="es-ES" altLang="es-ES" sz="1600" b="0" i="0" u="none" strike="noStrike" cap="none" normalizeH="0" baseline="0" dirty="0">
                    <a:ln>
                      <a:noFill/>
                    </a:ln>
                    <a:solidFill>
                      <a:schemeClr val="tx1"/>
                    </a:solidFill>
                    <a:effectLst/>
                  </a:rPr>
                  <a:t> y </a:t>
                </a:r>
                <a:r>
                  <a:rPr kumimoji="0" lang="es-ES" altLang="es-ES" sz="1600" b="1" i="0" u="none" strike="noStrike" cap="none" normalizeH="0" baseline="0" dirty="0">
                    <a:ln>
                      <a:noFill/>
                    </a:ln>
                    <a:solidFill>
                      <a:schemeClr val="tx1"/>
                    </a:solidFill>
                    <a:effectLst/>
                  </a:rPr>
                  <a:t>baja carga. </a:t>
                </a:r>
                <a:r>
                  <a:rPr kumimoji="0" lang="es-ES" altLang="es-ES" sz="1600" b="0" i="0" u="none" strike="noStrike" cap="none" normalizeH="0" baseline="0" dirty="0">
                    <a:ln>
                      <a:noFill/>
                    </a:ln>
                    <a:solidFill>
                      <a:schemeClr val="tx1"/>
                    </a:solidFill>
                    <a:effectLst/>
                  </a:rPr>
                  <a:t>Las memorias son atractores estables: </a:t>
                </a:r>
                <a14:m>
                  <m:oMath xmlns:m="http://schemas.openxmlformats.org/officeDocument/2006/math">
                    <m:sSup>
                      <m:sSupPr>
                        <m:ctrlPr>
                          <a:rPr kumimoji="0" lang="en-US" altLang="es-ES" sz="1600" b="0" i="1" u="none" strike="noStrike" cap="none" normalizeH="0" baseline="0" smtClean="0">
                            <a:ln>
                              <a:noFill/>
                            </a:ln>
                            <a:solidFill>
                              <a:schemeClr val="tx1"/>
                            </a:solidFill>
                            <a:effectLst/>
                            <a:latin typeface="Cambria Math" panose="02040503050406030204" pitchFamily="18" charset="0"/>
                          </a:rPr>
                        </m:ctrlPr>
                      </m:sSupPr>
                      <m:e>
                        <m:r>
                          <a:rPr kumimoji="0" lang="en-US" altLang="es-ES" sz="1600" b="0" i="1" u="none" strike="noStrike" cap="none" normalizeH="0" baseline="0" smtClean="0">
                            <a:ln>
                              <a:noFill/>
                            </a:ln>
                            <a:solidFill>
                              <a:schemeClr val="tx1"/>
                            </a:solidFill>
                            <a:effectLst/>
                            <a:latin typeface="Cambria Math" panose="02040503050406030204" pitchFamily="18" charset="0"/>
                          </a:rPr>
                          <m:t>𝑚</m:t>
                        </m:r>
                      </m:e>
                      <m:sup>
                        <m:r>
                          <a:rPr kumimoji="0" lang="en-US" altLang="es-ES" sz="1600" b="0" i="1" u="none" strike="noStrike" cap="none" normalizeH="0" baseline="0" smtClean="0">
                            <a:ln>
                              <a:noFill/>
                            </a:ln>
                            <a:solidFill>
                              <a:schemeClr val="tx1"/>
                            </a:solidFill>
                            <a:effectLst/>
                            <a:latin typeface="Cambria Math" panose="02040503050406030204" pitchFamily="18" charset="0"/>
                          </a:rPr>
                          <m:t>𝑖</m:t>
                        </m:r>
                      </m:sup>
                    </m:sSup>
                    <m:r>
                      <a:rPr kumimoji="0" lang="en-US" altLang="es-ES" sz="1600" b="0" i="1" u="none" strike="noStrike" cap="none" normalizeH="0" baseline="0" smtClean="0">
                        <a:ln>
                          <a:noFill/>
                        </a:ln>
                        <a:solidFill>
                          <a:schemeClr val="tx1"/>
                        </a:solidFill>
                        <a:effectLst/>
                        <a:latin typeface="Cambria Math" panose="02040503050406030204" pitchFamily="18" charset="0"/>
                      </a:rPr>
                      <m:t>→1</m:t>
                    </m:r>
                  </m:oMath>
                </a14:m>
                <a:r>
                  <a:rPr kumimoji="0" lang="es-ES" altLang="es-ES" sz="1600" b="0" i="0" u="none" strike="noStrike" cap="none" normalizeH="0" baseline="0" dirty="0">
                    <a:ln>
                      <a:noFill/>
                    </a:ln>
                    <a:solidFill>
                      <a:schemeClr val="tx1"/>
                    </a:solidFill>
                    <a:effectLst/>
                  </a:rPr>
                  <a:t> para un cierto patrón </a:t>
                </a:r>
                <a14:m>
                  <m:oMath xmlns:m="http://schemas.openxmlformats.org/officeDocument/2006/math">
                    <m:r>
                      <a:rPr kumimoji="0" lang="es-ES" altLang="es-ES" sz="1600" b="0" i="1" u="none" strike="noStrike" cap="none" normalizeH="0" baseline="0" smtClean="0">
                        <a:ln>
                          <a:noFill/>
                        </a:ln>
                        <a:solidFill>
                          <a:schemeClr val="tx1"/>
                        </a:solidFill>
                        <a:effectLst/>
                        <a:latin typeface="Cambria Math" panose="02040503050406030204" pitchFamily="18" charset="0"/>
                      </a:rPr>
                      <m:t>𝑖</m:t>
                    </m:r>
                  </m:oMath>
                </a14:m>
                <a:r>
                  <a:rPr kumimoji="0" lang="es-ES" altLang="es-ES" sz="1600" b="0" i="0" u="none" strike="noStrike" cap="none" normalizeH="0" dirty="0">
                    <a:ln>
                      <a:noFill/>
                    </a:ln>
                    <a:solidFill>
                      <a:schemeClr val="tx1"/>
                    </a:solidFill>
                    <a:effectLst/>
                  </a:rPr>
                  <a:t>.</a:t>
                </a:r>
              </a:p>
              <a:p>
                <a:pPr marL="800100" lvl="1" indent="-342900">
                  <a:spcBef>
                    <a:spcPts val="400"/>
                  </a:spcBef>
                  <a:buFont typeface="+mj-lt"/>
                  <a:buAutoNum type="arabicPeriod"/>
                </a:pPr>
                <a:r>
                  <a:rPr lang="es-ES" sz="1600" b="1" dirty="0">
                    <a:solidFill>
                      <a:srgbClr val="B020A9"/>
                    </a:solidFill>
                  </a:rPr>
                  <a:t>Fase de vidrio de espines (spin </a:t>
                </a:r>
                <a:r>
                  <a:rPr lang="es-ES" sz="1600" b="1" dirty="0" err="1">
                    <a:solidFill>
                      <a:srgbClr val="B020A9"/>
                    </a:solidFill>
                  </a:rPr>
                  <a:t>glass</a:t>
                </a:r>
                <a:r>
                  <a:rPr lang="es-ES" sz="1600" b="1" dirty="0">
                    <a:solidFill>
                      <a:srgbClr val="B020A9"/>
                    </a:solidFill>
                  </a:rPr>
                  <a:t>). </a:t>
                </a:r>
                <a:r>
                  <a:rPr lang="es-ES" sz="1600" dirty="0"/>
                  <a:t>Existe un gran número de estos metaestables (mínimos locales de la energía.</a:t>
                </a:r>
                <a:r>
                  <a:rPr lang="es-ES" sz="1600" b="1" dirty="0">
                    <a:solidFill>
                      <a:srgbClr val="7030A0"/>
                    </a:solidFill>
                  </a:rPr>
                  <a:t> </a:t>
                </a:r>
                <a:r>
                  <a:rPr kumimoji="0" lang="es-ES" altLang="es-ES" sz="1600" b="0" i="0" u="none" strike="noStrike" cap="none" normalizeH="0" baseline="0" dirty="0">
                    <a:ln>
                      <a:noFill/>
                    </a:ln>
                    <a:solidFill>
                      <a:schemeClr val="tx1"/>
                    </a:solidFill>
                    <a:effectLst/>
                  </a:rPr>
                  <a:t>Aparece a </a:t>
                </a:r>
                <a:r>
                  <a:rPr kumimoji="0" lang="es-ES" altLang="es-ES" sz="1600" b="1" i="0" u="none" strike="noStrike" cap="none" normalizeH="0" baseline="0" dirty="0">
                    <a:ln>
                      <a:noFill/>
                    </a:ln>
                    <a:solidFill>
                      <a:schemeClr val="tx1"/>
                    </a:solidFill>
                    <a:effectLst/>
                  </a:rPr>
                  <a:t>temperaturas intermedias</a:t>
                </a:r>
                <a:r>
                  <a:rPr kumimoji="0" lang="es-ES" altLang="es-ES" sz="1600" b="0" i="0" u="none" strike="noStrike" cap="none" normalizeH="0" baseline="0" dirty="0">
                    <a:ln>
                      <a:noFill/>
                    </a:ln>
                    <a:solidFill>
                      <a:schemeClr val="tx1"/>
                    </a:solidFill>
                    <a:effectLst/>
                  </a:rPr>
                  <a:t> y </a:t>
                </a:r>
                <a:r>
                  <a:rPr kumimoji="0" lang="es-ES" altLang="es-ES" sz="1600" b="1" i="0" u="none" strike="noStrike" cap="none" normalizeH="0" baseline="0" dirty="0">
                    <a:ln>
                      <a:noFill/>
                    </a:ln>
                    <a:solidFill>
                      <a:schemeClr val="tx1"/>
                    </a:solidFill>
                    <a:effectLst/>
                  </a:rPr>
                  <a:t>alta carga</a:t>
                </a:r>
                <a:r>
                  <a:rPr kumimoji="0" lang="es-ES" altLang="es-ES" sz="1600" b="0" i="0" u="none" strike="noStrike" cap="none" normalizeH="0" baseline="0" dirty="0">
                    <a:ln>
                      <a:noFill/>
                    </a:ln>
                    <a:solidFill>
                      <a:schemeClr val="tx1"/>
                    </a:solidFill>
                    <a:effectLst/>
                  </a:rPr>
                  <a:t>. El solapamiento con los patrones es cercano a cero, pero el sistema no es completamente desordenado. </a:t>
                </a:r>
              </a:p>
              <a:p>
                <a:pPr marL="800100" lvl="1" indent="-342900">
                  <a:spcBef>
                    <a:spcPts val="400"/>
                  </a:spcBef>
                  <a:buFont typeface="+mj-lt"/>
                  <a:buAutoNum type="arabicPeriod"/>
                </a:pPr>
                <a:r>
                  <a:rPr lang="es-ES" sz="1600" b="1" dirty="0">
                    <a:solidFill>
                      <a:srgbClr val="B020A9"/>
                    </a:solidFill>
                  </a:rPr>
                  <a:t>Fase paramagnética (desordenada). </a:t>
                </a:r>
                <a:r>
                  <a:rPr kumimoji="0" lang="es-ES" altLang="es-ES" sz="1600" b="0" i="0" u="none" strike="noStrike" cap="none" normalizeH="0" baseline="0" dirty="0">
                    <a:ln>
                      <a:noFill/>
                    </a:ln>
                    <a:solidFill>
                      <a:schemeClr val="tx1"/>
                    </a:solidFill>
                    <a:effectLst/>
                  </a:rPr>
                  <a:t>El estado de la red es completamente </a:t>
                </a:r>
                <a:r>
                  <a:rPr kumimoji="0" lang="es-ES" altLang="es-ES" sz="1600" b="0" i="0" u="none" strike="noStrike" cap="none" normalizeH="0" baseline="0" dirty="0" err="1">
                    <a:ln>
                      <a:noFill/>
                    </a:ln>
                    <a:solidFill>
                      <a:schemeClr val="tx1"/>
                    </a:solidFill>
                    <a:effectLst/>
                  </a:rPr>
                  <a:t>aleatorioNo</a:t>
                </a:r>
                <a:r>
                  <a:rPr kumimoji="0" lang="es-ES" altLang="es-ES" sz="1600" b="0" i="0" u="none" strike="noStrike" cap="none" normalizeH="0" baseline="0" dirty="0">
                    <a:ln>
                      <a:noFill/>
                    </a:ln>
                    <a:solidFill>
                      <a:schemeClr val="tx1"/>
                    </a:solidFill>
                    <a:effectLst/>
                  </a:rPr>
                  <a:t> hay memoria, el sistema es incapaz de recuperar patrones</a:t>
                </a:r>
                <a:r>
                  <a:rPr lang="es-ES" sz="1600" dirty="0"/>
                  <a:t> . </a:t>
                </a:r>
                <a:r>
                  <a:rPr kumimoji="0" lang="es-ES" altLang="es-ES" sz="1600" b="0" i="0" u="none" strike="noStrike" cap="none" normalizeH="0" baseline="0" dirty="0">
                    <a:ln>
                      <a:noFill/>
                    </a:ln>
                    <a:solidFill>
                      <a:schemeClr val="tx1"/>
                    </a:solidFill>
                    <a:effectLst/>
                  </a:rPr>
                  <a:t>Se da a </a:t>
                </a:r>
                <a:r>
                  <a:rPr kumimoji="0" lang="es-ES" altLang="es-ES" sz="1600" b="1" i="0" u="none" strike="noStrike" cap="none" normalizeH="0" baseline="0" dirty="0">
                    <a:ln>
                      <a:noFill/>
                    </a:ln>
                    <a:solidFill>
                      <a:schemeClr val="tx1"/>
                    </a:solidFill>
                    <a:effectLst/>
                  </a:rPr>
                  <a:t>temperaturas altas</a:t>
                </a:r>
                <a:r>
                  <a:rPr kumimoji="0" lang="es-ES" altLang="es-ES" sz="1600" b="0" i="0" u="none" strike="noStrike" cap="none" normalizeH="0" baseline="0" dirty="0">
                    <a:ln>
                      <a:noFill/>
                    </a:ln>
                    <a:solidFill>
                      <a:schemeClr val="tx1"/>
                    </a:solidFill>
                    <a:effectLst/>
                  </a:rPr>
                  <a:t>. . El solapamiento con cualquier patrón es </a:t>
                </a:r>
                <a14:m>
                  <m:oMath xmlns:m="http://schemas.openxmlformats.org/officeDocument/2006/math">
                    <m:sSup>
                      <m:sSupPr>
                        <m:ctrlPr>
                          <a:rPr kumimoji="0" lang="en-US" altLang="es-ES" sz="1600" b="0" i="1" u="none" strike="noStrike" cap="none" normalizeH="0" baseline="0" smtClean="0">
                            <a:ln>
                              <a:noFill/>
                            </a:ln>
                            <a:solidFill>
                              <a:schemeClr val="tx1"/>
                            </a:solidFill>
                            <a:effectLst/>
                            <a:latin typeface="Cambria Math" panose="02040503050406030204" pitchFamily="18" charset="0"/>
                          </a:rPr>
                        </m:ctrlPr>
                      </m:sSupPr>
                      <m:e>
                        <m:r>
                          <a:rPr kumimoji="0" lang="es-ES" altLang="es-ES" sz="1600" b="0" i="1" u="none" strike="noStrike" cap="none" normalizeH="0" baseline="0" smtClean="0">
                            <a:ln>
                              <a:noFill/>
                            </a:ln>
                            <a:solidFill>
                              <a:schemeClr val="tx1"/>
                            </a:solidFill>
                            <a:effectLst/>
                            <a:latin typeface="Cambria Math" panose="02040503050406030204" pitchFamily="18" charset="0"/>
                          </a:rPr>
                          <m:t>𝑚</m:t>
                        </m:r>
                      </m:e>
                      <m:sup>
                        <m:r>
                          <a:rPr kumimoji="0" lang="en-US" altLang="es-ES" sz="1600" b="0" i="1" u="none" strike="noStrike" cap="none" normalizeH="0" baseline="0" smtClean="0">
                            <a:ln>
                              <a:noFill/>
                            </a:ln>
                            <a:solidFill>
                              <a:schemeClr val="tx1"/>
                            </a:solidFill>
                            <a:effectLst/>
                            <a:latin typeface="Cambria Math" panose="02040503050406030204" pitchFamily="18" charset="0"/>
                          </a:rPr>
                          <m:t>𝑖</m:t>
                        </m:r>
                      </m:sup>
                    </m:sSup>
                    <m:r>
                      <a:rPr kumimoji="0" lang="en-US" altLang="es-ES" sz="1600" b="0" i="1" u="none" strike="noStrike" cap="none" normalizeH="0" baseline="0" smtClean="0">
                        <a:ln>
                          <a:noFill/>
                        </a:ln>
                        <a:solidFill>
                          <a:schemeClr val="tx1"/>
                        </a:solidFill>
                        <a:effectLst/>
                        <a:latin typeface="Cambria Math" panose="02040503050406030204" pitchFamily="18" charset="0"/>
                      </a:rPr>
                      <m:t>→0</m:t>
                    </m:r>
                    <m:r>
                      <m:rPr>
                        <m:lit/>
                      </m:rPr>
                      <a:rPr kumimoji="0" lang="en-US" altLang="es-ES" sz="1600" b="0" i="1" u="none" strike="noStrike" cap="none" normalizeH="0" baseline="0" smtClean="0">
                        <a:ln>
                          <a:noFill/>
                        </a:ln>
                        <a:solidFill>
                          <a:schemeClr val="tx1"/>
                        </a:solidFill>
                        <a:effectLst/>
                        <a:latin typeface="Cambria Math" panose="02040503050406030204" pitchFamily="18" charset="0"/>
                      </a:rPr>
                      <m:t> </m:t>
                    </m:r>
                    <m:r>
                      <a:rPr kumimoji="0" lang="en-US" altLang="es-ES" sz="1600" b="0" i="1" u="none" strike="noStrike" cap="none" normalizeH="0" baseline="0" smtClean="0">
                        <a:ln>
                          <a:noFill/>
                        </a:ln>
                        <a:solidFill>
                          <a:schemeClr val="tx1"/>
                        </a:solidFill>
                        <a:effectLst/>
                        <a:latin typeface="Cambria Math" panose="02040503050406030204" pitchFamily="18" charset="0"/>
                      </a:rPr>
                      <m:t>∀</m:t>
                    </m:r>
                    <m:r>
                      <a:rPr kumimoji="0" lang="en-US" altLang="es-ES" sz="1600" b="0" i="1" u="none" strike="noStrike" cap="none" normalizeH="0" baseline="0" smtClean="0">
                        <a:ln>
                          <a:noFill/>
                        </a:ln>
                        <a:solidFill>
                          <a:schemeClr val="tx1"/>
                        </a:solidFill>
                        <a:effectLst/>
                        <a:latin typeface="Cambria Math" panose="02040503050406030204" pitchFamily="18" charset="0"/>
                      </a:rPr>
                      <m:t>𝑖</m:t>
                    </m:r>
                  </m:oMath>
                </a14:m>
                <a:r>
                  <a:rPr kumimoji="0" lang="es-ES" altLang="es-ES" sz="1600" b="0" i="0" u="none" strike="noStrike" cap="none" normalizeH="0" baseline="0" dirty="0">
                    <a:ln>
                      <a:noFill/>
                    </a:ln>
                    <a:solidFill>
                      <a:schemeClr val="tx1"/>
                    </a:solidFill>
                    <a:effectLst/>
                  </a:rPr>
                  <a:t>. </a:t>
                </a:r>
                <a:endParaRPr lang="es-ES" sz="1600" dirty="0"/>
              </a:p>
            </p:txBody>
          </p:sp>
        </mc:Choice>
        <mc:Fallback xmlns="">
          <p:sp>
            <p:nvSpPr>
              <p:cNvPr id="12" name="CuadroTexto 11">
                <a:extLst>
                  <a:ext uri="{FF2B5EF4-FFF2-40B4-BE49-F238E27FC236}">
                    <a16:creationId xmlns:a16="http://schemas.microsoft.com/office/drawing/2014/main" id="{274E01D8-A0A0-18AE-1811-09B4AE4BA9EE}"/>
                  </a:ext>
                </a:extLst>
              </p:cNvPr>
              <p:cNvSpPr txBox="1">
                <a:spLocks noRot="1" noChangeAspect="1" noMove="1" noResize="1" noEditPoints="1" noAdjustHandles="1" noChangeArrowheads="1" noChangeShapeType="1" noTextEdit="1"/>
              </p:cNvSpPr>
              <p:nvPr/>
            </p:nvSpPr>
            <p:spPr>
              <a:xfrm>
                <a:off x="5218064" y="1082428"/>
                <a:ext cx="6589058" cy="5135252"/>
              </a:xfrm>
              <a:prstGeom prst="rect">
                <a:avLst/>
              </a:prstGeom>
              <a:blipFill>
                <a:blip r:embed="rId3"/>
                <a:stretch>
                  <a:fillRect l="-370" t="-356" b="-831"/>
                </a:stretch>
              </a:blipFill>
            </p:spPr>
            <p:txBody>
              <a:bodyPr/>
              <a:lstStyle/>
              <a:p>
                <a:r>
                  <a:rPr lang="es-ES">
                    <a:noFill/>
                  </a:rPr>
                  <a:t> </a:t>
                </a:r>
              </a:p>
            </p:txBody>
          </p:sp>
        </mc:Fallback>
      </mc:AlternateContent>
    </p:spTree>
    <p:extLst>
      <p:ext uri="{BB962C8B-B14F-4D97-AF65-F5344CB8AC3E}">
        <p14:creationId xmlns:p14="http://schemas.microsoft.com/office/powerpoint/2010/main" val="1585824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A89BE84-0D65-90C2-308F-5253085E917D}"/>
                  </a:ext>
                </a:extLst>
              </p:cNvPr>
              <p:cNvSpPr>
                <a:spLocks noGrp="1"/>
              </p:cNvSpPr>
              <p:nvPr>
                <p:ph idx="1"/>
              </p:nvPr>
            </p:nvSpPr>
            <p:spPr>
              <a:xfrm>
                <a:off x="195325" y="920241"/>
                <a:ext cx="9120491" cy="5551068"/>
              </a:xfrm>
            </p:spPr>
            <p:txBody>
              <a:bodyPr>
                <a:noAutofit/>
              </a:bodyPr>
              <a:lstStyle/>
              <a:p>
                <a:pPr marL="514350" indent="-514350">
                  <a:lnSpc>
                    <a:spcPct val="100000"/>
                  </a:lnSpc>
                  <a:buFont typeface="+mj-lt"/>
                  <a:buAutoNum type="arabicPeriod"/>
                </a:pPr>
                <a:r>
                  <a:rPr lang="es-ES" sz="1600" dirty="0"/>
                  <a:t>Crear un </a:t>
                </a:r>
                <a:r>
                  <a:rPr lang="es-ES" sz="1600" dirty="0">
                    <a:solidFill>
                      <a:srgbClr val="B020A9"/>
                    </a:solidFill>
                  </a:rPr>
                  <a:t>vector de estados </a:t>
                </a:r>
                <a14:m>
                  <m:oMath xmlns:m="http://schemas.openxmlformats.org/officeDocument/2006/math">
                    <m:r>
                      <a:rPr lang="es-ES" sz="1600" b="1" i="1" smtClean="0">
                        <a:solidFill>
                          <a:srgbClr val="B020A9"/>
                        </a:solidFill>
                        <a:latin typeface="Cambria Math" panose="02040503050406030204" pitchFamily="18" charset="0"/>
                      </a:rPr>
                      <m:t>𝒔</m:t>
                    </m:r>
                  </m:oMath>
                </a14:m>
                <a:r>
                  <a:rPr lang="es-ES" sz="1600" b="1" dirty="0">
                    <a:solidFill>
                      <a:srgbClr val="B020A9"/>
                    </a:solidFill>
                  </a:rPr>
                  <a:t> </a:t>
                </a:r>
                <a:r>
                  <a:rPr lang="es-ES" sz="1600" dirty="0"/>
                  <a:t>de tamaño </a:t>
                </a:r>
                <a14:m>
                  <m:oMath xmlns:m="http://schemas.openxmlformats.org/officeDocument/2006/math">
                    <m:r>
                      <a:rPr lang="es-ES" sz="1600" b="0" i="1" smtClean="0">
                        <a:latin typeface="Cambria Math" panose="02040503050406030204" pitchFamily="18" charset="0"/>
                      </a:rPr>
                      <m:t>𝑁</m:t>
                    </m:r>
                  </m:oMath>
                </a14:m>
                <a:r>
                  <a:rPr lang="es-ES" sz="1600" b="1" dirty="0"/>
                  <a:t> </a:t>
                </a:r>
                <a:r>
                  <a:rPr lang="es-ES" sz="1600" dirty="0"/>
                  <a:t>(número de neuronas) con un estado inicial aleatorio: </a:t>
                </a:r>
                <a14:m>
                  <m:oMath xmlns:m="http://schemas.openxmlformats.org/officeDocument/2006/math">
                    <m:sSub>
                      <m:sSubPr>
                        <m:ctrlPr>
                          <a:rPr lang="es-ES" sz="1600" b="0" i="1" smtClean="0">
                            <a:latin typeface="Cambria Math" panose="02040503050406030204" pitchFamily="18" charset="0"/>
                          </a:rPr>
                        </m:ctrlPr>
                      </m:sSubPr>
                      <m:e>
                        <m:r>
                          <a:rPr lang="es-ES" sz="1600" b="0" i="1" smtClean="0">
                            <a:latin typeface="Cambria Math" panose="02040503050406030204" pitchFamily="18" charset="0"/>
                          </a:rPr>
                          <m:t>𝑠</m:t>
                        </m:r>
                      </m:e>
                      <m:sub>
                        <m:r>
                          <a:rPr lang="es-ES" sz="1600" b="0" i="1" smtClean="0">
                            <a:latin typeface="Cambria Math" panose="02040503050406030204" pitchFamily="18" charset="0"/>
                          </a:rPr>
                          <m:t>𝑖</m:t>
                        </m:r>
                      </m:sub>
                    </m:sSub>
                    <m:r>
                      <a:rPr lang="es-ES" sz="1600" b="0" i="1" smtClean="0">
                        <a:latin typeface="Cambria Math" panose="02040503050406030204" pitchFamily="18" charset="0"/>
                      </a:rPr>
                      <m:t>=0,1</m:t>
                    </m:r>
                  </m:oMath>
                </a14:m>
                <a:r>
                  <a:rPr lang="es-ES" sz="1600" dirty="0"/>
                  <a:t> con probabilidad </a:t>
                </a:r>
                <a14:m>
                  <m:oMath xmlns:m="http://schemas.openxmlformats.org/officeDocument/2006/math">
                    <m:r>
                      <a:rPr lang="es-ES" sz="1600" b="0" i="1" smtClean="0">
                        <a:latin typeface="Cambria Math" panose="02040503050406030204" pitchFamily="18" charset="0"/>
                      </a:rPr>
                      <m:t>1/2</m:t>
                    </m:r>
                  </m:oMath>
                </a14:m>
                <a:r>
                  <a:rPr lang="es-ES" sz="1600" dirty="0"/>
                  <a:t>.</a:t>
                </a:r>
              </a:p>
              <a:p>
                <a:pPr marL="514350" indent="-514350">
                  <a:lnSpc>
                    <a:spcPct val="100000"/>
                  </a:lnSpc>
                  <a:buFont typeface="+mj-lt"/>
                  <a:buAutoNum type="arabicPeriod"/>
                </a:pPr>
                <a:r>
                  <a:rPr lang="es-ES" sz="1600" dirty="0"/>
                  <a:t>Definir un conjunto de </a:t>
                </a:r>
                <a14:m>
                  <m:oMath xmlns:m="http://schemas.openxmlformats.org/officeDocument/2006/math">
                    <m:r>
                      <a:rPr lang="es-ES" sz="1600" b="0" i="1" smtClean="0">
                        <a:solidFill>
                          <a:srgbClr val="B020A9"/>
                        </a:solidFill>
                        <a:latin typeface="Cambria Math" panose="02040503050406030204" pitchFamily="18" charset="0"/>
                      </a:rPr>
                      <m:t>𝑃</m:t>
                    </m:r>
                  </m:oMath>
                </a14:m>
                <a:r>
                  <a:rPr lang="es-ES" sz="1600" dirty="0">
                    <a:solidFill>
                      <a:srgbClr val="B020A9"/>
                    </a:solidFill>
                  </a:rPr>
                  <a:t> memorias </a:t>
                </a:r>
                <a14:m>
                  <m:oMath xmlns:m="http://schemas.openxmlformats.org/officeDocument/2006/math">
                    <m:sSubSup>
                      <m:sSubSupPr>
                        <m:ctrlPr>
                          <a:rPr lang="en-US" sz="1600" b="0" i="1" smtClean="0">
                            <a:solidFill>
                              <a:schemeClr val="tx1"/>
                            </a:solidFill>
                            <a:latin typeface="Cambria Math" panose="02040503050406030204" pitchFamily="18" charset="0"/>
                          </a:rPr>
                        </m:ctrlPr>
                      </m:sSubSupPr>
                      <m:e>
                        <m:d>
                          <m:dPr>
                            <m:begChr m:val="{"/>
                            <m:endChr m:val="}"/>
                            <m:ctrlPr>
                              <a:rPr lang="en-US" sz="1600" b="0" i="1" smtClean="0">
                                <a:solidFill>
                                  <a:schemeClr val="tx1"/>
                                </a:solidFill>
                                <a:latin typeface="Cambria Math" panose="02040503050406030204" pitchFamily="18" charset="0"/>
                              </a:rPr>
                            </m:ctrlPr>
                          </m:dPr>
                          <m:e>
                            <m:sSup>
                              <m:sSupPr>
                                <m:ctrlPr>
                                  <a:rPr lang="en-US" sz="1600" b="0" i="1" smtClean="0">
                                    <a:solidFill>
                                      <a:schemeClr val="tx1"/>
                                    </a:solidFill>
                                    <a:latin typeface="Cambria Math" panose="02040503050406030204" pitchFamily="18" charset="0"/>
                                  </a:rPr>
                                </m:ctrlPr>
                              </m:sSupPr>
                              <m:e>
                                <m:r>
                                  <a:rPr lang="en-US" sz="1600" b="1" i="1" smtClean="0">
                                    <a:solidFill>
                                      <a:schemeClr val="tx1"/>
                                    </a:solidFill>
                                    <a:latin typeface="Cambria Math" panose="02040503050406030204" pitchFamily="18" charset="0"/>
                                  </a:rPr>
                                  <m:t>𝝃</m:t>
                                </m:r>
                              </m:e>
                              <m:sup>
                                <m:r>
                                  <a:rPr lang="en-US" sz="1600" b="0" i="1" smtClean="0">
                                    <a:solidFill>
                                      <a:schemeClr val="tx1"/>
                                    </a:solidFill>
                                    <a:latin typeface="Cambria Math" panose="02040503050406030204" pitchFamily="18" charset="0"/>
                                  </a:rPr>
                                  <m:t>𝜇</m:t>
                                </m:r>
                              </m:sup>
                            </m:sSup>
                          </m:e>
                        </m:d>
                      </m:e>
                      <m:sub>
                        <m:r>
                          <a:rPr lang="en-US" sz="1600" b="0" i="1" smtClean="0">
                            <a:solidFill>
                              <a:schemeClr val="tx1"/>
                            </a:solidFill>
                            <a:latin typeface="Cambria Math" panose="02040503050406030204" pitchFamily="18" charset="0"/>
                          </a:rPr>
                          <m:t>𝜇</m:t>
                        </m:r>
                        <m:r>
                          <a:rPr lang="en-US" sz="1600" b="0" i="1" smtClean="0">
                            <a:solidFill>
                              <a:schemeClr val="tx1"/>
                            </a:solidFill>
                            <a:latin typeface="Cambria Math" panose="02040503050406030204" pitchFamily="18" charset="0"/>
                          </a:rPr>
                          <m:t>=0</m:t>
                        </m:r>
                      </m:sub>
                      <m:sup>
                        <m:r>
                          <a:rPr lang="en-US" sz="1600" b="0" i="1" smtClean="0">
                            <a:solidFill>
                              <a:schemeClr val="tx1"/>
                            </a:solidFill>
                            <a:latin typeface="Cambria Math" panose="02040503050406030204" pitchFamily="18" charset="0"/>
                          </a:rPr>
                          <m:t>𝑃</m:t>
                        </m:r>
                        <m:r>
                          <a:rPr lang="en-US" sz="1600" b="0" i="1" smtClean="0">
                            <a:solidFill>
                              <a:schemeClr val="tx1"/>
                            </a:solidFill>
                            <a:latin typeface="Cambria Math" panose="02040503050406030204" pitchFamily="18" charset="0"/>
                          </a:rPr>
                          <m:t>−1</m:t>
                        </m:r>
                      </m:sup>
                    </m:sSubSup>
                  </m:oMath>
                </a14:m>
                <a:r>
                  <a:rPr lang="es-ES" sz="1600" dirty="0">
                    <a:solidFill>
                      <a:schemeClr val="tx1"/>
                    </a:solidFill>
                  </a:rPr>
                  <a:t>, </a:t>
                </a:r>
                <a14:m>
                  <m:oMath xmlns:m="http://schemas.openxmlformats.org/officeDocument/2006/math">
                    <m:sSup>
                      <m:sSupPr>
                        <m:ctrlPr>
                          <a:rPr lang="en-US" sz="1600" b="1" i="1" smtClean="0">
                            <a:solidFill>
                              <a:schemeClr val="tx1"/>
                            </a:solidFill>
                            <a:latin typeface="Cambria Math" panose="02040503050406030204" pitchFamily="18" charset="0"/>
                          </a:rPr>
                        </m:ctrlPr>
                      </m:sSupPr>
                      <m:e>
                        <m:r>
                          <a:rPr lang="en-US" sz="1600" b="1" i="1" smtClean="0">
                            <a:solidFill>
                              <a:schemeClr val="tx1"/>
                            </a:solidFill>
                            <a:latin typeface="Cambria Math" panose="02040503050406030204" pitchFamily="18" charset="0"/>
                          </a:rPr>
                          <m:t>𝝃</m:t>
                        </m:r>
                      </m:e>
                      <m:sup>
                        <m:r>
                          <a:rPr lang="en-US" sz="1600" b="0" i="1" smtClean="0">
                            <a:solidFill>
                              <a:schemeClr val="tx1"/>
                            </a:solidFill>
                            <a:latin typeface="Cambria Math" panose="02040503050406030204" pitchFamily="18" charset="0"/>
                          </a:rPr>
                          <m:t>𝜇</m:t>
                        </m:r>
                      </m:sup>
                    </m:sSup>
                    <m:r>
                      <a:rPr lang="en-US" sz="1600" b="1" i="1" smtClean="0">
                        <a:solidFill>
                          <a:schemeClr val="tx1"/>
                        </a:solidFill>
                        <a:latin typeface="Cambria Math" panose="02040503050406030204" pitchFamily="18" charset="0"/>
                      </a:rPr>
                      <m:t>=</m:t>
                    </m:r>
                    <m:sSubSup>
                      <m:sSubSupPr>
                        <m:ctrlPr>
                          <a:rPr lang="en-US" sz="1600" b="1" i="1" smtClean="0">
                            <a:solidFill>
                              <a:schemeClr val="tx1"/>
                            </a:solidFill>
                            <a:latin typeface="Cambria Math" panose="02040503050406030204" pitchFamily="18" charset="0"/>
                          </a:rPr>
                        </m:ctrlPr>
                      </m:sSubSupPr>
                      <m:e>
                        <m:d>
                          <m:dPr>
                            <m:begChr m:val="{"/>
                            <m:endChr m:val="}"/>
                            <m:ctrlPr>
                              <a:rPr lang="en-US" sz="1600" b="1" i="1" smtClean="0">
                                <a:solidFill>
                                  <a:schemeClr val="tx1"/>
                                </a:solidFill>
                                <a:latin typeface="Cambria Math" panose="02040503050406030204" pitchFamily="18" charset="0"/>
                              </a:rPr>
                            </m:ctrlPr>
                          </m:dPr>
                          <m:e>
                            <m:sSubSup>
                              <m:sSubSupPr>
                                <m:ctrlPr>
                                  <a:rPr lang="en-US" sz="1600" b="0" i="1" smtClean="0">
                                    <a:solidFill>
                                      <a:schemeClr val="tx1"/>
                                    </a:solidFill>
                                    <a:latin typeface="Cambria Math" panose="02040503050406030204" pitchFamily="18" charset="0"/>
                                  </a:rPr>
                                </m:ctrlPr>
                              </m:sSubSupPr>
                              <m:e>
                                <m:r>
                                  <a:rPr lang="en-US" sz="1600" b="0" i="1" smtClean="0">
                                    <a:solidFill>
                                      <a:schemeClr val="tx1"/>
                                    </a:solidFill>
                                    <a:latin typeface="Cambria Math" panose="02040503050406030204" pitchFamily="18" charset="0"/>
                                  </a:rPr>
                                  <m:t>𝜉</m:t>
                                </m:r>
                              </m:e>
                              <m:sub>
                                <m:r>
                                  <a:rPr lang="en-US" sz="1600" b="0" i="1" smtClean="0">
                                    <a:solidFill>
                                      <a:schemeClr val="tx1"/>
                                    </a:solidFill>
                                    <a:latin typeface="Cambria Math" panose="02040503050406030204" pitchFamily="18" charset="0"/>
                                  </a:rPr>
                                  <m:t>𝑖</m:t>
                                </m:r>
                              </m:sub>
                              <m:sup>
                                <m:r>
                                  <a:rPr lang="en-US" sz="1600" b="0" i="1" smtClean="0">
                                    <a:solidFill>
                                      <a:schemeClr val="tx1"/>
                                    </a:solidFill>
                                    <a:latin typeface="Cambria Math" panose="02040503050406030204" pitchFamily="18" charset="0"/>
                                  </a:rPr>
                                  <m:t>𝜇</m:t>
                                </m:r>
                              </m:sup>
                            </m:sSubSup>
                            <m:r>
                              <a:rPr lang="en-US" sz="1600" b="1" i="1" smtClean="0">
                                <a:solidFill>
                                  <a:schemeClr val="tx1"/>
                                </a:solidFill>
                                <a:latin typeface="Cambria Math" panose="02040503050406030204" pitchFamily="18" charset="0"/>
                              </a:rPr>
                              <m:t>=</m:t>
                            </m:r>
                            <m:r>
                              <a:rPr lang="en-US" sz="1600" b="0" i="1" smtClean="0">
                                <a:solidFill>
                                  <a:schemeClr val="tx1"/>
                                </a:solidFill>
                                <a:latin typeface="Cambria Math" panose="02040503050406030204" pitchFamily="18" charset="0"/>
                              </a:rPr>
                              <m:t>0,</m:t>
                            </m:r>
                            <m:r>
                              <m:rPr>
                                <m:lit/>
                              </m:rPr>
                              <a:rPr lang="en-US" sz="1600" b="0" i="1" smtClean="0">
                                <a:solidFill>
                                  <a:schemeClr val="tx1"/>
                                </a:solidFill>
                                <a:latin typeface="Cambria Math" panose="02040503050406030204" pitchFamily="18" charset="0"/>
                              </a:rPr>
                              <m:t> </m:t>
                            </m:r>
                            <m:r>
                              <a:rPr lang="en-US" sz="1600" b="0" i="1" smtClean="0">
                                <a:solidFill>
                                  <a:schemeClr val="tx1"/>
                                </a:solidFill>
                                <a:latin typeface="Cambria Math" panose="02040503050406030204" pitchFamily="18" charset="0"/>
                              </a:rPr>
                              <m:t>1</m:t>
                            </m:r>
                          </m:e>
                        </m:d>
                      </m:e>
                      <m:sub>
                        <m:r>
                          <a:rPr lang="en-US" sz="1600" b="0" i="1" smtClean="0">
                            <a:solidFill>
                              <a:schemeClr val="tx1"/>
                            </a:solidFill>
                            <a:latin typeface="Cambria Math" panose="02040503050406030204" pitchFamily="18" charset="0"/>
                          </a:rPr>
                          <m:t>𝑖</m:t>
                        </m:r>
                        <m:r>
                          <a:rPr lang="en-US" sz="1600" b="0" i="1" smtClean="0">
                            <a:solidFill>
                              <a:schemeClr val="tx1"/>
                            </a:solidFill>
                            <a:latin typeface="Cambria Math" panose="02040503050406030204" pitchFamily="18" charset="0"/>
                          </a:rPr>
                          <m:t>=0</m:t>
                        </m:r>
                      </m:sub>
                      <m:sup>
                        <m:r>
                          <a:rPr lang="en-US" sz="1600" b="0" i="1" smtClean="0">
                            <a:solidFill>
                              <a:schemeClr val="tx1"/>
                            </a:solidFill>
                            <a:latin typeface="Cambria Math" panose="02040503050406030204" pitchFamily="18" charset="0"/>
                          </a:rPr>
                          <m:t>𝑁</m:t>
                        </m:r>
                        <m:r>
                          <a:rPr lang="en-US" sz="1600" b="0" i="1" smtClean="0">
                            <a:solidFill>
                              <a:schemeClr val="tx1"/>
                            </a:solidFill>
                            <a:latin typeface="Cambria Math" panose="02040503050406030204" pitchFamily="18" charset="0"/>
                          </a:rPr>
                          <m:t>−1</m:t>
                        </m:r>
                      </m:sup>
                    </m:sSubSup>
                  </m:oMath>
                </a14:m>
                <a:r>
                  <a:rPr lang="es-ES" sz="1600" dirty="0"/>
                  <a:t>. Para empezar, podemos definir la memoria </a:t>
                </a:r>
                <a14:m>
                  <m:oMath xmlns:m="http://schemas.openxmlformats.org/officeDocument/2006/math">
                    <m:r>
                      <a:rPr lang="en-US" sz="1600" b="0" i="1" smtClean="0">
                        <a:latin typeface="Cambria Math" panose="02040503050406030204" pitchFamily="18" charset="0"/>
                      </a:rPr>
                      <m:t>𝜇</m:t>
                    </m:r>
                  </m:oMath>
                </a14:m>
                <a:r>
                  <a:rPr lang="es-ES" sz="1600" dirty="0"/>
                  <a:t>-</a:t>
                </a:r>
                <a:r>
                  <a:rPr lang="es-ES" sz="1600" dirty="0" err="1"/>
                  <a:t>ésima</a:t>
                </a:r>
                <a:r>
                  <a:rPr lang="es-ES" sz="1600" dirty="0"/>
                  <a:t> como </a:t>
                </a:r>
                <a14:m>
                  <m:oMath xmlns:m="http://schemas.openxmlformats.org/officeDocument/2006/math">
                    <m:sSubSup>
                      <m:sSubSupPr>
                        <m:ctrlPr>
                          <a:rPr lang="en-US" sz="1600" b="0" i="1" smtClean="0">
                            <a:latin typeface="Cambria Math" panose="02040503050406030204" pitchFamily="18" charset="0"/>
                          </a:rPr>
                        </m:ctrlPr>
                      </m:sSubSupPr>
                      <m:e>
                        <m:r>
                          <a:rPr lang="en-US" sz="1600" b="0" i="1" smtClean="0">
                            <a:latin typeface="Cambria Math" panose="02040503050406030204" pitchFamily="18" charset="0"/>
                          </a:rPr>
                          <m:t>𝜉</m:t>
                        </m:r>
                      </m:e>
                      <m:sub>
                        <m:r>
                          <a:rPr lang="en-US" sz="1600" b="0" i="1" smtClean="0">
                            <a:latin typeface="Cambria Math" panose="02040503050406030204" pitchFamily="18" charset="0"/>
                          </a:rPr>
                          <m:t>𝑖</m:t>
                        </m:r>
                      </m:sub>
                      <m:sup>
                        <m:r>
                          <a:rPr lang="en-US" sz="1600" b="0" i="1" smtClean="0">
                            <a:latin typeface="Cambria Math" panose="02040503050406030204" pitchFamily="18" charset="0"/>
                          </a:rPr>
                          <m:t>𝜇</m:t>
                        </m:r>
                      </m:sup>
                    </m:sSubSup>
                    <m:r>
                      <a:rPr lang="en-US" sz="1600" b="1" i="1" smtClean="0">
                        <a:latin typeface="Cambria Math" panose="02040503050406030204" pitchFamily="18" charset="0"/>
                      </a:rPr>
                      <m:t>=</m:t>
                    </m:r>
                    <m:r>
                      <a:rPr lang="en-US" sz="1600" b="0" i="1" smtClean="0">
                        <a:latin typeface="Cambria Math" panose="02040503050406030204" pitchFamily="18" charset="0"/>
                      </a:rPr>
                      <m:t>1</m:t>
                    </m:r>
                  </m:oMath>
                </a14:m>
                <a:r>
                  <a:rPr lang="es-ES" sz="1600" dirty="0"/>
                  <a:t> para </a:t>
                </a:r>
                <a14:m>
                  <m:oMath xmlns:m="http://schemas.openxmlformats.org/officeDocument/2006/math">
                    <m:r>
                      <a:rPr lang="es-ES" sz="1600" b="0" i="1" smtClean="0">
                        <a:latin typeface="Cambria Math" panose="02040503050406030204" pitchFamily="18" charset="0"/>
                      </a:rPr>
                      <m:t>𝑖</m:t>
                    </m:r>
                    <m:r>
                      <a:rPr lang="en-US" sz="1600" b="0" i="1" smtClean="0">
                        <a:latin typeface="Cambria Math" panose="02040503050406030204" pitchFamily="18" charset="0"/>
                      </a:rPr>
                      <m:t>∈[</m:t>
                    </m:r>
                    <m:r>
                      <a:rPr lang="en-US" sz="1600" b="0" i="1" smtClean="0">
                        <a:latin typeface="Cambria Math" panose="02040503050406030204" pitchFamily="18" charset="0"/>
                      </a:rPr>
                      <m:t>𝑖</m:t>
                    </m:r>
                    <m:r>
                      <a:rPr lang="en-US" sz="1600" b="0" i="1" smtClean="0">
                        <a:latin typeface="Cambria Math" panose="02040503050406030204" pitchFamily="18" charset="0"/>
                      </a:rPr>
                      <m:t>⋅</m:t>
                    </m:r>
                    <m:r>
                      <a:rPr lang="en-US" sz="1600" b="0" i="1" smtClean="0">
                        <a:latin typeface="Cambria Math" panose="02040503050406030204" pitchFamily="18" charset="0"/>
                      </a:rPr>
                      <m:t>𝜇</m:t>
                    </m:r>
                    <m:r>
                      <a:rPr lang="en-US" sz="1600" b="0" i="1" smtClean="0">
                        <a:latin typeface="Cambria Math" panose="02040503050406030204" pitchFamily="18" charset="0"/>
                      </a:rPr>
                      <m:t>,</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𝑖</m:t>
                        </m:r>
                        <m:r>
                          <a:rPr lang="en-US" sz="1600" b="0" i="1" smtClean="0">
                            <a:latin typeface="Cambria Math" panose="02040503050406030204" pitchFamily="18" charset="0"/>
                          </a:rPr>
                          <m:t>+1</m:t>
                        </m:r>
                      </m:e>
                    </m:d>
                    <m:r>
                      <a:rPr lang="en-US" sz="1600" b="0" i="1" smtClean="0">
                        <a:latin typeface="Cambria Math" panose="02040503050406030204" pitchFamily="18" charset="0"/>
                      </a:rPr>
                      <m:t>⋅</m:t>
                    </m:r>
                    <m:r>
                      <a:rPr lang="en-US" sz="1600" b="0" i="1" smtClean="0">
                        <a:latin typeface="Cambria Math" panose="02040503050406030204" pitchFamily="18" charset="0"/>
                      </a:rPr>
                      <m:t>𝜇</m:t>
                    </m:r>
                    <m:r>
                      <a:rPr lang="en-US" sz="1600" b="0" i="1" smtClean="0">
                        <a:latin typeface="Cambria Math" panose="02040503050406030204" pitchFamily="18" charset="0"/>
                      </a:rPr>
                      <m:t>]</m:t>
                    </m:r>
                  </m:oMath>
                </a14:m>
                <a:r>
                  <a:rPr lang="es-ES" sz="1600" dirty="0"/>
                  <a:t>, y </a:t>
                </a:r>
                <a14:m>
                  <m:oMath xmlns:m="http://schemas.openxmlformats.org/officeDocument/2006/math">
                    <m:sSubSup>
                      <m:sSubSupPr>
                        <m:ctrlPr>
                          <a:rPr lang="en-US" sz="1600" b="0" i="1" smtClean="0">
                            <a:latin typeface="Cambria Math" panose="02040503050406030204" pitchFamily="18" charset="0"/>
                          </a:rPr>
                        </m:ctrlPr>
                      </m:sSubSupPr>
                      <m:e>
                        <m:r>
                          <a:rPr lang="en-US" sz="1600" b="0" i="1" smtClean="0">
                            <a:latin typeface="Cambria Math" panose="02040503050406030204" pitchFamily="18" charset="0"/>
                          </a:rPr>
                          <m:t>𝜉</m:t>
                        </m:r>
                      </m:e>
                      <m:sub>
                        <m:r>
                          <a:rPr lang="en-US" sz="1600" b="0" i="1" smtClean="0">
                            <a:latin typeface="Cambria Math" panose="02040503050406030204" pitchFamily="18" charset="0"/>
                          </a:rPr>
                          <m:t>𝑖</m:t>
                        </m:r>
                      </m:sub>
                      <m:sup>
                        <m:r>
                          <a:rPr lang="en-US" sz="1600" b="0" i="1" smtClean="0">
                            <a:latin typeface="Cambria Math" panose="02040503050406030204" pitchFamily="18" charset="0"/>
                          </a:rPr>
                          <m:t>𝜇</m:t>
                        </m:r>
                      </m:sup>
                    </m:sSubSup>
                    <m:r>
                      <a:rPr lang="en-US" sz="1600" b="1" i="1" smtClean="0">
                        <a:latin typeface="Cambria Math" panose="02040503050406030204" pitchFamily="18" charset="0"/>
                      </a:rPr>
                      <m:t>=</m:t>
                    </m:r>
                    <m:r>
                      <a:rPr lang="en-US" sz="1600" b="0" i="1" smtClean="0">
                        <a:latin typeface="Cambria Math" panose="02040503050406030204" pitchFamily="18" charset="0"/>
                      </a:rPr>
                      <m:t>0</m:t>
                    </m:r>
                  </m:oMath>
                </a14:m>
                <a:r>
                  <a:rPr lang="es-ES" sz="1600" dirty="0"/>
                  <a:t> para el resto de nodos (ver ejemplo).  Calcular la </a:t>
                </a:r>
                <a:r>
                  <a:rPr lang="es-ES" sz="1600" dirty="0">
                    <a:solidFill>
                      <a:srgbClr val="B020A9"/>
                    </a:solidFill>
                  </a:rPr>
                  <a:t>activación media de los patrones </a:t>
                </a:r>
                <a14:m>
                  <m:oMath xmlns:m="http://schemas.openxmlformats.org/officeDocument/2006/math">
                    <m:r>
                      <a:rPr lang="es-ES" sz="1600" b="0" i="1" smtClean="0">
                        <a:solidFill>
                          <a:schemeClr val="tx1"/>
                        </a:solidFill>
                        <a:latin typeface="Cambria Math" panose="02040503050406030204" pitchFamily="18" charset="0"/>
                      </a:rPr>
                      <m:t>𝑎</m:t>
                    </m:r>
                    <m:r>
                      <a:rPr lang="en-US" sz="1600" b="0" i="1" smtClean="0">
                        <a:solidFill>
                          <a:schemeClr val="tx1"/>
                        </a:solidFill>
                        <a:latin typeface="Cambria Math" panose="02040503050406030204" pitchFamily="18" charset="0"/>
                      </a:rPr>
                      <m:t>=</m:t>
                    </m:r>
                    <m:f>
                      <m:fPr>
                        <m:ctrlPr>
                          <a:rPr lang="en-US" sz="1600" b="0" i="1" smtClean="0">
                            <a:solidFill>
                              <a:schemeClr val="tx1"/>
                            </a:solidFill>
                            <a:latin typeface="Cambria Math" panose="02040503050406030204" pitchFamily="18" charset="0"/>
                          </a:rPr>
                        </m:ctrlPr>
                      </m:fPr>
                      <m:num>
                        <m:r>
                          <a:rPr lang="en-US" sz="1600" b="0" i="1" smtClean="0">
                            <a:solidFill>
                              <a:schemeClr val="tx1"/>
                            </a:solidFill>
                            <a:latin typeface="Cambria Math" panose="02040503050406030204" pitchFamily="18" charset="0"/>
                          </a:rPr>
                          <m:t>1</m:t>
                        </m:r>
                      </m:num>
                      <m:den>
                        <m:r>
                          <a:rPr lang="en-US" sz="1600" b="0" i="1" smtClean="0">
                            <a:solidFill>
                              <a:schemeClr val="tx1"/>
                            </a:solidFill>
                            <a:latin typeface="Cambria Math" panose="02040503050406030204" pitchFamily="18" charset="0"/>
                          </a:rPr>
                          <m:t>𝑁𝑃</m:t>
                        </m:r>
                      </m:den>
                    </m:f>
                    <m:nary>
                      <m:naryPr>
                        <m:chr m:val="∑"/>
                        <m:supHide m:val="on"/>
                        <m:ctrlPr>
                          <a:rPr lang="en-US" sz="1600" b="0" i="1" smtClean="0">
                            <a:solidFill>
                              <a:schemeClr val="tx1"/>
                            </a:solidFill>
                            <a:latin typeface="Cambria Math" panose="02040503050406030204" pitchFamily="18" charset="0"/>
                          </a:rPr>
                        </m:ctrlPr>
                      </m:naryPr>
                      <m:sub>
                        <m:r>
                          <a:rPr lang="en-US" sz="1600" b="0" i="1" smtClean="0">
                            <a:solidFill>
                              <a:schemeClr val="tx1"/>
                            </a:solidFill>
                            <a:latin typeface="Cambria Math" panose="02040503050406030204" pitchFamily="18" charset="0"/>
                          </a:rPr>
                          <m:t>𝜇</m:t>
                        </m:r>
                      </m:sub>
                      <m:sup/>
                      <m:e>
                        <m:nary>
                          <m:naryPr>
                            <m:chr m:val="∑"/>
                            <m:supHide m:val="on"/>
                            <m:ctrlPr>
                              <a:rPr lang="en-US" sz="1600" b="0" i="1" smtClean="0">
                                <a:solidFill>
                                  <a:schemeClr val="tx1"/>
                                </a:solidFill>
                                <a:latin typeface="Cambria Math" panose="02040503050406030204" pitchFamily="18" charset="0"/>
                              </a:rPr>
                            </m:ctrlPr>
                          </m:naryPr>
                          <m:sub>
                            <m:r>
                              <a:rPr lang="en-US" sz="1600" b="0" i="1" smtClean="0">
                                <a:solidFill>
                                  <a:schemeClr val="tx1"/>
                                </a:solidFill>
                                <a:latin typeface="Cambria Math" panose="02040503050406030204" pitchFamily="18" charset="0"/>
                              </a:rPr>
                              <m:t>𝑖</m:t>
                            </m:r>
                          </m:sub>
                          <m:sup/>
                          <m:e>
                            <m:sSubSup>
                              <m:sSubSupPr>
                                <m:ctrlPr>
                                  <a:rPr lang="en-US" sz="1600" b="0" i="1" smtClean="0">
                                    <a:solidFill>
                                      <a:schemeClr val="tx1"/>
                                    </a:solidFill>
                                    <a:latin typeface="Cambria Math" panose="02040503050406030204" pitchFamily="18" charset="0"/>
                                  </a:rPr>
                                </m:ctrlPr>
                              </m:sSubSupPr>
                              <m:e>
                                <m:r>
                                  <a:rPr lang="en-US" sz="1600" b="0" i="1" smtClean="0">
                                    <a:solidFill>
                                      <a:schemeClr val="tx1"/>
                                    </a:solidFill>
                                    <a:latin typeface="Cambria Math" panose="02040503050406030204" pitchFamily="18" charset="0"/>
                                  </a:rPr>
                                  <m:t>𝜉</m:t>
                                </m:r>
                              </m:e>
                              <m:sub>
                                <m:r>
                                  <a:rPr lang="en-US" sz="1600" b="0" i="1" smtClean="0">
                                    <a:solidFill>
                                      <a:schemeClr val="tx1"/>
                                    </a:solidFill>
                                    <a:latin typeface="Cambria Math" panose="02040503050406030204" pitchFamily="18" charset="0"/>
                                  </a:rPr>
                                  <m:t>𝑖</m:t>
                                </m:r>
                              </m:sub>
                              <m:sup>
                                <m:r>
                                  <a:rPr lang="en-US" sz="1600" b="0" i="1" smtClean="0">
                                    <a:solidFill>
                                      <a:schemeClr val="tx1"/>
                                    </a:solidFill>
                                    <a:latin typeface="Cambria Math" panose="02040503050406030204" pitchFamily="18" charset="0"/>
                                  </a:rPr>
                                  <m:t>𝜇</m:t>
                                </m:r>
                              </m:sup>
                            </m:sSubSup>
                          </m:e>
                        </m:nary>
                      </m:e>
                    </m:nary>
                  </m:oMath>
                </a14:m>
                <a:r>
                  <a:rPr lang="es-ES" sz="1600" dirty="0">
                    <a:solidFill>
                      <a:srgbClr val="B020A9"/>
                    </a:solidFill>
                  </a:rPr>
                  <a:t>.</a:t>
                </a:r>
              </a:p>
              <a:p>
                <a:pPr marL="514350" indent="-514350">
                  <a:lnSpc>
                    <a:spcPct val="100000"/>
                  </a:lnSpc>
                  <a:buFont typeface="+mj-lt"/>
                  <a:buAutoNum type="arabicPeriod"/>
                </a:pPr>
                <a:r>
                  <a:rPr lang="es-ES" sz="1600" dirty="0"/>
                  <a:t>Calcula la </a:t>
                </a:r>
                <a:r>
                  <a:rPr lang="es-ES" sz="1600" dirty="0">
                    <a:solidFill>
                      <a:srgbClr val="B020A9"/>
                    </a:solidFill>
                  </a:rPr>
                  <a:t>matriz de pesos sinápticos </a:t>
                </a:r>
                <a:r>
                  <a:rPr lang="es-ES" sz="1600" dirty="0"/>
                  <a:t>de acuerdo a la regla de Hebb: </a:t>
                </a:r>
                <a14:m>
                  <m:oMath xmlns:m="http://schemas.openxmlformats.org/officeDocument/2006/math">
                    <m:sSub>
                      <m:sSubPr>
                        <m:ctrlPr>
                          <a:rPr lang="en-US" sz="1600" b="0" i="1" smtClean="0">
                            <a:latin typeface="Cambria Math" panose="02040503050406030204" pitchFamily="18" charset="0"/>
                          </a:rPr>
                        </m:ctrlPr>
                      </m:sSubPr>
                      <m:e>
                        <m:r>
                          <a:rPr lang="es-ES" sz="1600" b="0" i="1" smtClean="0">
                            <a:latin typeface="Cambria Math" panose="02040503050406030204" pitchFamily="18" charset="0"/>
                          </a:rPr>
                          <m:t>𝑤</m:t>
                        </m:r>
                      </m:e>
                      <m:sub>
                        <m:r>
                          <a:rPr lang="en-US" sz="1600" b="0" i="1" smtClean="0">
                            <a:latin typeface="Cambria Math" panose="02040503050406030204" pitchFamily="18" charset="0"/>
                          </a:rPr>
                          <m:t>𝑖𝑗</m:t>
                        </m:r>
                      </m:sub>
                    </m:sSub>
                    <m:r>
                      <a:rPr lang="en-US" sz="1600" b="0" i="1" smtClean="0">
                        <a:latin typeface="Cambria Math" panose="02040503050406030204" pitchFamily="18" charset="0"/>
                      </a:rPr>
                      <m:t>=</m:t>
                    </m:r>
                    <m:f>
                      <m:fPr>
                        <m:ctrlPr>
                          <a:rPr lang="en-US" sz="1600" i="1">
                            <a:latin typeface="Cambria Math" panose="02040503050406030204" pitchFamily="18" charset="0"/>
                          </a:rPr>
                        </m:ctrlPr>
                      </m:fPr>
                      <m:num>
                        <m:r>
                          <a:rPr lang="en-US" sz="1600" i="1">
                            <a:latin typeface="Cambria Math" panose="02040503050406030204" pitchFamily="18" charset="0"/>
                          </a:rPr>
                          <m:t>1</m:t>
                        </m:r>
                      </m:num>
                      <m:den>
                        <m:r>
                          <a:rPr lang="en-US" sz="1600" i="1">
                            <a:latin typeface="Cambria Math" panose="02040503050406030204" pitchFamily="18" charset="0"/>
                          </a:rPr>
                          <m:t>𝑎</m:t>
                        </m:r>
                        <m:d>
                          <m:dPr>
                            <m:ctrlPr>
                              <a:rPr lang="en-US" sz="1600" i="1">
                                <a:latin typeface="Cambria Math" panose="02040503050406030204" pitchFamily="18" charset="0"/>
                              </a:rPr>
                            </m:ctrlPr>
                          </m:dPr>
                          <m:e>
                            <m:r>
                              <a:rPr lang="en-US" sz="1600" i="1">
                                <a:latin typeface="Cambria Math" panose="02040503050406030204" pitchFamily="18" charset="0"/>
                              </a:rPr>
                              <m:t>1−</m:t>
                            </m:r>
                            <m:r>
                              <a:rPr lang="en-US" sz="1600" i="1">
                                <a:latin typeface="Cambria Math" panose="02040503050406030204" pitchFamily="18" charset="0"/>
                              </a:rPr>
                              <m:t>𝑎</m:t>
                            </m:r>
                          </m:e>
                        </m:d>
                        <m:r>
                          <a:rPr lang="en-US" sz="1600" i="1">
                            <a:latin typeface="Cambria Math" panose="02040503050406030204" pitchFamily="18" charset="0"/>
                          </a:rPr>
                          <m:t>𝑁</m:t>
                        </m:r>
                      </m:den>
                    </m:f>
                    <m:nary>
                      <m:naryPr>
                        <m:chr m:val="∑"/>
                        <m:ctrlPr>
                          <a:rPr lang="en-US" sz="1600" i="1">
                            <a:latin typeface="Cambria Math" panose="02040503050406030204" pitchFamily="18" charset="0"/>
                          </a:rPr>
                        </m:ctrlPr>
                      </m:naryPr>
                      <m:sub>
                        <m:r>
                          <a:rPr lang="en-US" sz="1600" i="1">
                            <a:latin typeface="Cambria Math" panose="02040503050406030204" pitchFamily="18" charset="0"/>
                          </a:rPr>
                          <m:t>𝜇</m:t>
                        </m:r>
                        <m:r>
                          <a:rPr lang="en-US" sz="1600" i="1">
                            <a:latin typeface="Cambria Math" panose="02040503050406030204" pitchFamily="18" charset="0"/>
                          </a:rPr>
                          <m:t>=1</m:t>
                        </m:r>
                      </m:sub>
                      <m:sup>
                        <m:r>
                          <a:rPr lang="en-US" sz="1600" i="1">
                            <a:latin typeface="Cambria Math" panose="02040503050406030204" pitchFamily="18" charset="0"/>
                          </a:rPr>
                          <m:t>𝑃</m:t>
                        </m:r>
                      </m:sup>
                      <m:e>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US" sz="1600" i="1">
                                <a:latin typeface="Cambria Math" panose="02040503050406030204" pitchFamily="18" charset="0"/>
                              </a:rPr>
                              <m:t>𝜉</m:t>
                            </m:r>
                          </m:e>
                          <m:sub>
                            <m:r>
                              <a:rPr lang="en-US" sz="1600" i="1">
                                <a:latin typeface="Cambria Math" panose="02040503050406030204" pitchFamily="18" charset="0"/>
                              </a:rPr>
                              <m:t>𝑖</m:t>
                            </m:r>
                          </m:sub>
                          <m:sup>
                            <m:r>
                              <a:rPr lang="en-US" sz="1600" i="1">
                                <a:latin typeface="Cambria Math" panose="02040503050406030204" pitchFamily="18" charset="0"/>
                              </a:rPr>
                              <m:t>𝜇</m:t>
                            </m:r>
                          </m:sup>
                        </m:sSubSup>
                        <m:r>
                          <a:rPr lang="en-US" sz="1600" i="1">
                            <a:latin typeface="Cambria Math" panose="02040503050406030204" pitchFamily="18" charset="0"/>
                          </a:rPr>
                          <m:t>−</m:t>
                        </m:r>
                        <m:r>
                          <a:rPr lang="en-US" sz="1600" i="1">
                            <a:latin typeface="Cambria Math" panose="02040503050406030204" pitchFamily="18" charset="0"/>
                          </a:rPr>
                          <m:t>𝑎</m:t>
                        </m:r>
                        <m:r>
                          <a:rPr lang="en-US" sz="1600" i="1">
                            <a:latin typeface="Cambria Math" panose="02040503050406030204" pitchFamily="18" charset="0"/>
                          </a:rPr>
                          <m:t>)(</m:t>
                        </m:r>
                        <m:sSubSup>
                          <m:sSubSupPr>
                            <m:ctrlPr>
                              <a:rPr lang="en-US" sz="1600" i="1">
                                <a:latin typeface="Cambria Math" panose="02040503050406030204" pitchFamily="18" charset="0"/>
                              </a:rPr>
                            </m:ctrlPr>
                          </m:sSubSupPr>
                          <m:e>
                            <m:r>
                              <a:rPr lang="en-US" sz="1600" i="1">
                                <a:latin typeface="Cambria Math" panose="02040503050406030204" pitchFamily="18" charset="0"/>
                              </a:rPr>
                              <m:t>𝜉</m:t>
                            </m:r>
                          </m:e>
                          <m:sub>
                            <m:r>
                              <a:rPr lang="en-US" sz="1600" i="1">
                                <a:latin typeface="Cambria Math" panose="02040503050406030204" pitchFamily="18" charset="0"/>
                              </a:rPr>
                              <m:t>𝑗</m:t>
                            </m:r>
                          </m:sub>
                          <m:sup>
                            <m:r>
                              <a:rPr lang="en-US" sz="1600" i="1">
                                <a:latin typeface="Cambria Math" panose="02040503050406030204" pitchFamily="18" charset="0"/>
                              </a:rPr>
                              <m:t>𝜇</m:t>
                            </m:r>
                          </m:sup>
                        </m:sSubSup>
                        <m:r>
                          <a:rPr lang="en-US" sz="1600" i="1">
                            <a:latin typeface="Cambria Math" panose="02040503050406030204" pitchFamily="18" charset="0"/>
                          </a:rPr>
                          <m:t>−</m:t>
                        </m:r>
                        <m:r>
                          <a:rPr lang="en-US" sz="1600" i="1">
                            <a:latin typeface="Cambria Math" panose="02040503050406030204" pitchFamily="18" charset="0"/>
                          </a:rPr>
                          <m:t>𝑎</m:t>
                        </m:r>
                        <m:r>
                          <a:rPr lang="en-US" sz="1600" i="1">
                            <a:latin typeface="Cambria Math" panose="02040503050406030204" pitchFamily="18" charset="0"/>
                          </a:rPr>
                          <m:t>)</m:t>
                        </m:r>
                      </m:e>
                    </m:nary>
                  </m:oMath>
                </a14:m>
                <a:r>
                  <a:rPr lang="es-ES" sz="1600" dirty="0"/>
                  <a:t>.</a:t>
                </a:r>
              </a:p>
              <a:p>
                <a:pPr marL="514350" indent="-514350">
                  <a:lnSpc>
                    <a:spcPct val="100000"/>
                  </a:lnSpc>
                  <a:buFont typeface="+mj-lt"/>
                  <a:buAutoNum type="arabicPeriod"/>
                </a:pPr>
                <a:r>
                  <a:rPr lang="es-ES" sz="1600" dirty="0"/>
                  <a:t>Calcular el </a:t>
                </a:r>
                <a:r>
                  <a:rPr lang="es-ES" sz="1600" dirty="0">
                    <a:solidFill>
                      <a:srgbClr val="B020A9"/>
                    </a:solidFill>
                  </a:rPr>
                  <a:t>vector de umbrales </a:t>
                </a:r>
                <a14:m>
                  <m:oMath xmlns:m="http://schemas.openxmlformats.org/officeDocument/2006/math">
                    <m:sSub>
                      <m:sSubPr>
                        <m:ctrlPr>
                          <a:rPr lang="en-US" sz="1600" b="0" i="1" baseline="0" smtClean="0">
                            <a:latin typeface="Cambria Math" panose="02040503050406030204" pitchFamily="18" charset="0"/>
                          </a:rPr>
                        </m:ctrlPr>
                      </m:sSubPr>
                      <m:e>
                        <m:r>
                          <a:rPr lang="en-US" sz="1600" b="0" i="1" baseline="0" smtClean="0">
                            <a:latin typeface="Cambria Math" panose="02040503050406030204" pitchFamily="18" charset="0"/>
                          </a:rPr>
                          <m:t>𝜃</m:t>
                        </m:r>
                      </m:e>
                      <m:sub>
                        <m:r>
                          <a:rPr lang="en-US" sz="1600" b="0" i="1" baseline="0" smtClean="0">
                            <a:latin typeface="Cambria Math" panose="02040503050406030204" pitchFamily="18" charset="0"/>
                          </a:rPr>
                          <m:t>𝑖</m:t>
                        </m:r>
                      </m:sub>
                    </m:sSub>
                    <m:r>
                      <a:rPr lang="en-US" sz="1600" b="0" i="1" baseline="0" smtClean="0">
                        <a:latin typeface="Cambria Math" panose="02040503050406030204" pitchFamily="18" charset="0"/>
                      </a:rPr>
                      <m:t>=</m:t>
                    </m:r>
                    <m:f>
                      <m:fPr>
                        <m:ctrlPr>
                          <a:rPr lang="en-US" sz="1600" b="0" i="1" baseline="0" smtClean="0">
                            <a:latin typeface="Cambria Math" panose="02040503050406030204" pitchFamily="18" charset="0"/>
                          </a:rPr>
                        </m:ctrlPr>
                      </m:fPr>
                      <m:num>
                        <m:r>
                          <a:rPr lang="en-US" sz="1600" b="0" i="1" baseline="0" smtClean="0">
                            <a:latin typeface="Cambria Math" panose="02040503050406030204" pitchFamily="18" charset="0"/>
                          </a:rPr>
                          <m:t>1</m:t>
                        </m:r>
                      </m:num>
                      <m:den>
                        <m:r>
                          <a:rPr lang="en-US" sz="1600" b="0" i="1" baseline="0" smtClean="0">
                            <a:latin typeface="Cambria Math" panose="02040503050406030204" pitchFamily="18" charset="0"/>
                          </a:rPr>
                          <m:t>2</m:t>
                        </m:r>
                      </m:den>
                    </m:f>
                    <m:nary>
                      <m:naryPr>
                        <m:chr m:val="∑"/>
                        <m:supHide m:val="on"/>
                        <m:ctrlPr>
                          <a:rPr lang="en-US" sz="1600" b="0" i="1" baseline="0" smtClean="0">
                            <a:latin typeface="Cambria Math" panose="02040503050406030204" pitchFamily="18" charset="0"/>
                          </a:rPr>
                        </m:ctrlPr>
                      </m:naryPr>
                      <m:sub>
                        <m:r>
                          <a:rPr lang="en-US" sz="1600" b="0" i="1" baseline="0" smtClean="0">
                            <a:latin typeface="Cambria Math" panose="02040503050406030204" pitchFamily="18" charset="0"/>
                          </a:rPr>
                          <m:t>𝑗</m:t>
                        </m:r>
                      </m:sub>
                      <m:sup/>
                      <m:e>
                        <m:sSub>
                          <m:sSubPr>
                            <m:ctrlPr>
                              <a:rPr lang="en-US" sz="1600" b="0" i="1" baseline="0" smtClean="0">
                                <a:latin typeface="Cambria Math" panose="02040503050406030204" pitchFamily="18" charset="0"/>
                              </a:rPr>
                            </m:ctrlPr>
                          </m:sSubPr>
                          <m:e>
                            <m:r>
                              <a:rPr lang="en-US" sz="1600" b="0" i="1" baseline="0" smtClean="0">
                                <a:latin typeface="Cambria Math" panose="02040503050406030204" pitchFamily="18" charset="0"/>
                              </a:rPr>
                              <m:t>𝑤</m:t>
                            </m:r>
                          </m:e>
                          <m:sub>
                            <m:r>
                              <a:rPr lang="en-US" sz="1600" b="0" i="1" baseline="0" smtClean="0">
                                <a:latin typeface="Cambria Math" panose="02040503050406030204" pitchFamily="18" charset="0"/>
                              </a:rPr>
                              <m:t>𝑖𝑗</m:t>
                            </m:r>
                          </m:sub>
                        </m:sSub>
                      </m:e>
                    </m:nary>
                  </m:oMath>
                </a14:m>
                <a:r>
                  <a:rPr lang="es-ES" sz="1600" dirty="0"/>
                  <a:t>.</a:t>
                </a:r>
              </a:p>
              <a:p>
                <a:pPr marL="514350" indent="-514350">
                  <a:lnSpc>
                    <a:spcPct val="100000"/>
                  </a:lnSpc>
                  <a:buFont typeface="+mj-lt"/>
                  <a:buAutoNum type="arabicPeriod"/>
                </a:pPr>
                <a:r>
                  <a:rPr lang="es-ES" sz="1600" b="1" dirty="0">
                    <a:solidFill>
                      <a:srgbClr val="B020A9"/>
                    </a:solidFill>
                  </a:rPr>
                  <a:t>BUCLE DE EVOLUCIÓN</a:t>
                </a:r>
                <a:r>
                  <a:rPr lang="es-ES" sz="1600" dirty="0">
                    <a:solidFill>
                      <a:srgbClr val="B020A9"/>
                    </a:solidFill>
                  </a:rPr>
                  <a:t>:</a:t>
                </a:r>
              </a:p>
              <a:p>
                <a:pPr marL="971550" lvl="1" indent="-514350">
                  <a:lnSpc>
                    <a:spcPct val="100000"/>
                  </a:lnSpc>
                  <a:buFont typeface="+mj-lt"/>
                  <a:buAutoNum type="arabicPeriod"/>
                </a:pPr>
                <a:r>
                  <a:rPr lang="es-ES" sz="1400" dirty="0"/>
                  <a:t>Elegir una neurona </a:t>
                </a:r>
                <a14:m>
                  <m:oMath xmlns:m="http://schemas.openxmlformats.org/officeDocument/2006/math">
                    <m:r>
                      <a:rPr lang="en-US" sz="1400" b="0" i="1" smtClean="0">
                        <a:latin typeface="Cambria Math" panose="02040503050406030204" pitchFamily="18" charset="0"/>
                      </a:rPr>
                      <m:t>𝑖</m:t>
                    </m:r>
                  </m:oMath>
                </a14:m>
                <a:r>
                  <a:rPr lang="es-ES" sz="1400" dirty="0"/>
                  <a:t> al azar. Calcular el campo local </a:t>
                </a:r>
                <a14:m>
                  <m:oMath xmlns:m="http://schemas.openxmlformats.org/officeDocument/2006/math">
                    <m:r>
                      <a:rPr lang="en-US" sz="1400" b="0" i="1" smtClean="0">
                        <a:latin typeface="Cambria Math" panose="02040503050406030204" pitchFamily="18" charset="0"/>
                      </a:rPr>
                      <m:t>h</m:t>
                    </m:r>
                    <m:d>
                      <m:dPr>
                        <m:begChr m:val="["/>
                        <m:endChr m:val="]"/>
                        <m:ctrlPr>
                          <a:rPr lang="en-US" sz="1400" b="0" i="1" smtClean="0">
                            <a:latin typeface="Cambria Math" panose="02040503050406030204" pitchFamily="18" charset="0"/>
                          </a:rPr>
                        </m:ctrlPr>
                      </m:dPr>
                      <m:e>
                        <m:r>
                          <a:rPr lang="en-US" sz="1400" b="0" i="1" smtClean="0">
                            <a:latin typeface="Cambria Math" panose="02040503050406030204" pitchFamily="18" charset="0"/>
                          </a:rPr>
                          <m:t>𝑖</m:t>
                        </m:r>
                      </m:e>
                    </m:d>
                  </m:oMath>
                </a14:m>
                <a:r>
                  <a:rPr lang="es-ES" sz="1400" dirty="0"/>
                  <a:t>.</a:t>
                </a:r>
              </a:p>
              <a:p>
                <a:pPr marL="971550" lvl="1" indent="-514350">
                  <a:lnSpc>
                    <a:spcPct val="100000"/>
                  </a:lnSpc>
                  <a:buFont typeface="+mj-lt"/>
                  <a:buAutoNum type="arabicPeriod"/>
                </a:pPr>
                <a:r>
                  <a:rPr lang="es-ES" sz="1400" dirty="0"/>
                  <a:t>Calcular la probabilidad de que la neura dispare: </a:t>
                </a:r>
                <a14:m>
                  <m:oMath xmlns:m="http://schemas.openxmlformats.org/officeDocument/2006/math">
                    <m:r>
                      <a:rPr lang="es-ES" sz="1400" b="0" i="1" smtClean="0">
                        <a:latin typeface="Cambria Math" panose="02040503050406030204" pitchFamily="18" charset="0"/>
                      </a:rPr>
                      <m:t>𝑃</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𝑠</m:t>
                        </m:r>
                        <m:d>
                          <m:dPr>
                            <m:begChr m:val="["/>
                            <m:endChr m:val="]"/>
                            <m:ctrlPr>
                              <a:rPr lang="en-US" sz="1400" b="0" i="1" smtClean="0">
                                <a:latin typeface="Cambria Math" panose="02040503050406030204" pitchFamily="18" charset="0"/>
                              </a:rPr>
                            </m:ctrlPr>
                          </m:dPr>
                          <m:e>
                            <m:r>
                              <a:rPr lang="en-US" sz="1400" b="0" i="1" smtClean="0">
                                <a:latin typeface="Cambria Math" panose="02040503050406030204" pitchFamily="18" charset="0"/>
                              </a:rPr>
                              <m:t>𝑖</m:t>
                            </m:r>
                          </m:e>
                        </m:d>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r>
                              <a:rPr lang="en-US" sz="1400" b="0" i="1" smtClean="0">
                                <a:latin typeface="Cambria Math" panose="02040503050406030204" pitchFamily="18" charset="0"/>
                              </a:rPr>
                              <m:t>+1</m:t>
                            </m:r>
                          </m:e>
                        </m:d>
                        <m:r>
                          <a:rPr lang="en-US" sz="1400" b="0" i="1" smtClean="0">
                            <a:latin typeface="Cambria Math" panose="02040503050406030204" pitchFamily="18" charset="0"/>
                          </a:rPr>
                          <m:t>=1</m:t>
                        </m:r>
                      </m:e>
                    </m:d>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2</m:t>
                        </m:r>
                      </m:den>
                    </m:f>
                    <m:d>
                      <m:dPr>
                        <m:ctrlPr>
                          <a:rPr lang="en-US" sz="1400" b="0" i="1" smtClean="0">
                            <a:latin typeface="Cambria Math" panose="02040503050406030204" pitchFamily="18" charset="0"/>
                          </a:rPr>
                        </m:ctrlPr>
                      </m:dPr>
                      <m:e>
                        <m:r>
                          <a:rPr lang="en-US" sz="1400" b="0" i="1" smtClean="0">
                            <a:latin typeface="Cambria Math" panose="02040503050406030204" pitchFamily="18" charset="0"/>
                          </a:rPr>
                          <m:t>1+</m:t>
                        </m:r>
                        <m:func>
                          <m:funcPr>
                            <m:ctrlPr>
                              <a:rPr lang="en-US" sz="1400" b="0" i="1" smtClean="0">
                                <a:latin typeface="Cambria Math" panose="02040503050406030204" pitchFamily="18" charset="0"/>
                              </a:rPr>
                            </m:ctrlPr>
                          </m:funcPr>
                          <m:fName>
                            <m:r>
                              <m:rPr>
                                <m:sty m:val="p"/>
                              </m:rPr>
                              <a:rPr lang="en-US" sz="1400" b="0" i="0" smtClean="0">
                                <a:latin typeface="Cambria Math" panose="02040503050406030204" pitchFamily="18" charset="0"/>
                              </a:rPr>
                              <m:t>tanh</m:t>
                            </m:r>
                          </m:fName>
                          <m:e>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𝛽</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h</m:t>
                                    </m:r>
                                    <m:d>
                                      <m:dPr>
                                        <m:begChr m:val="["/>
                                        <m:endChr m:val="]"/>
                                        <m:ctrlPr>
                                          <a:rPr lang="en-US" sz="1400" b="0" i="1" smtClean="0">
                                            <a:latin typeface="Cambria Math" panose="02040503050406030204" pitchFamily="18" charset="0"/>
                                          </a:rPr>
                                        </m:ctrlPr>
                                      </m:dPr>
                                      <m:e>
                                        <m:r>
                                          <a:rPr lang="en-US" sz="1400" b="0" i="1" smtClean="0">
                                            <a:latin typeface="Cambria Math" panose="02040503050406030204" pitchFamily="18" charset="0"/>
                                          </a:rPr>
                                          <m:t>𝑖</m:t>
                                        </m:r>
                                      </m:e>
                                    </m:d>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e>
                                    </m:d>
                                    <m:r>
                                      <a:rPr lang="en-US" sz="1400" b="0" i="1" smtClean="0">
                                        <a:latin typeface="Cambria Math" panose="02040503050406030204" pitchFamily="18" charset="0"/>
                                      </a:rPr>
                                      <m:t>−</m:t>
                                    </m:r>
                                    <m:r>
                                      <a:rPr lang="en-US" sz="1400" b="0" i="1" smtClean="0">
                                        <a:latin typeface="Cambria Math" panose="02040503050406030204" pitchFamily="18" charset="0"/>
                                      </a:rPr>
                                      <m:t>𝜃</m:t>
                                    </m:r>
                                    <m:d>
                                      <m:dPr>
                                        <m:begChr m:val="["/>
                                        <m:endChr m:val="]"/>
                                        <m:ctrlPr>
                                          <a:rPr lang="en-US" sz="1400" b="0" i="1" smtClean="0">
                                            <a:latin typeface="Cambria Math" panose="02040503050406030204" pitchFamily="18" charset="0"/>
                                          </a:rPr>
                                        </m:ctrlPr>
                                      </m:dPr>
                                      <m:e>
                                        <m:r>
                                          <a:rPr lang="en-US" sz="1400" b="0" i="1" smtClean="0">
                                            <a:latin typeface="Cambria Math" panose="02040503050406030204" pitchFamily="18" charset="0"/>
                                          </a:rPr>
                                          <m:t>𝑖</m:t>
                                        </m:r>
                                      </m:e>
                                    </m:d>
                                  </m:e>
                                </m:d>
                              </m:e>
                            </m:d>
                          </m:e>
                        </m:func>
                      </m:e>
                    </m:d>
                  </m:oMath>
                </a14:m>
                <a:r>
                  <a:rPr lang="es-ES" sz="1400" dirty="0"/>
                  <a:t>.</a:t>
                </a:r>
              </a:p>
              <a:p>
                <a:pPr marL="971550" lvl="1" indent="-514350">
                  <a:lnSpc>
                    <a:spcPct val="100000"/>
                  </a:lnSpc>
                  <a:buFont typeface="+mj-lt"/>
                  <a:buAutoNum type="arabicPeriod"/>
                </a:pPr>
                <a:r>
                  <a:rPr lang="es-ES" sz="1400" dirty="0"/>
                  <a:t>Sortear un número aleatorio </a:t>
                </a:r>
                <a14:m>
                  <m:oMath xmlns:m="http://schemas.openxmlformats.org/officeDocument/2006/math">
                    <m:r>
                      <a:rPr lang="es-ES" sz="1400" b="0" i="1" smtClean="0">
                        <a:latin typeface="Cambria Math" panose="02040503050406030204" pitchFamily="18" charset="0"/>
                      </a:rPr>
                      <m:t>𝑢</m:t>
                    </m:r>
                  </m:oMath>
                </a14:m>
                <a:r>
                  <a:rPr lang="es-ES" sz="1400" dirty="0"/>
                  <a:t> a partir de una distribución uniforme entre 0 y 1. </a:t>
                </a:r>
              </a:p>
              <a:p>
                <a:pPr marL="971550" lvl="1" indent="-514350">
                  <a:lnSpc>
                    <a:spcPct val="100000"/>
                  </a:lnSpc>
                  <a:buFont typeface="+mj-lt"/>
                  <a:buAutoNum type="arabicPeriod"/>
                </a:pPr>
                <a:r>
                  <a:rPr lang="es-ES" sz="1400" dirty="0"/>
                  <a:t>Si </a:t>
                </a:r>
                <a14:m>
                  <m:oMath xmlns:m="http://schemas.openxmlformats.org/officeDocument/2006/math">
                    <m:r>
                      <a:rPr lang="es-ES" sz="1400" b="0" i="1" smtClean="0">
                        <a:latin typeface="Cambria Math" panose="02040503050406030204" pitchFamily="18" charset="0"/>
                      </a:rPr>
                      <m:t>𝑃</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𝑠</m:t>
                        </m:r>
                        <m:d>
                          <m:dPr>
                            <m:begChr m:val="["/>
                            <m:endChr m:val="]"/>
                            <m:ctrlPr>
                              <a:rPr lang="en-US" sz="1400" b="0" i="1" smtClean="0">
                                <a:latin typeface="Cambria Math" panose="02040503050406030204" pitchFamily="18" charset="0"/>
                              </a:rPr>
                            </m:ctrlPr>
                          </m:dPr>
                          <m:e>
                            <m:r>
                              <a:rPr lang="en-US" sz="1400" b="0" i="1" smtClean="0">
                                <a:latin typeface="Cambria Math" panose="02040503050406030204" pitchFamily="18" charset="0"/>
                              </a:rPr>
                              <m:t>𝑖</m:t>
                            </m:r>
                          </m:e>
                        </m:d>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𝑡</m:t>
                            </m:r>
                            <m:r>
                              <a:rPr lang="en-US" sz="1400" b="0" i="1" smtClean="0">
                                <a:latin typeface="Cambria Math" panose="02040503050406030204" pitchFamily="18" charset="0"/>
                              </a:rPr>
                              <m:t>+1</m:t>
                            </m:r>
                          </m:e>
                        </m:d>
                        <m:r>
                          <a:rPr lang="en-US" sz="1400" b="0" i="1" smtClean="0">
                            <a:latin typeface="Cambria Math" panose="02040503050406030204" pitchFamily="18" charset="0"/>
                          </a:rPr>
                          <m:t>=1</m:t>
                        </m:r>
                      </m:e>
                    </m:d>
                    <m:r>
                      <a:rPr lang="en-US" sz="1400" b="0" i="1" smtClean="0">
                        <a:latin typeface="Cambria Math" panose="02040503050406030204" pitchFamily="18" charset="0"/>
                      </a:rPr>
                      <m:t>&gt;0</m:t>
                    </m:r>
                  </m:oMath>
                </a14:m>
                <a:r>
                  <a:rPr lang="es-ES" sz="1400" dirty="0"/>
                  <a:t>, la neurona dispara: hacemos </a:t>
                </a:r>
                <a14:m>
                  <m:oMath xmlns:m="http://schemas.openxmlformats.org/officeDocument/2006/math">
                    <m:r>
                      <a:rPr lang="en-US" sz="1400" b="0" i="1" smtClean="0">
                        <a:latin typeface="Cambria Math" panose="02040503050406030204" pitchFamily="18" charset="0"/>
                      </a:rPr>
                      <m:t>𝑠</m:t>
                    </m:r>
                    <m:d>
                      <m:dPr>
                        <m:begChr m:val="["/>
                        <m:endChr m:val="]"/>
                        <m:ctrlPr>
                          <a:rPr lang="en-US" sz="1400" b="0" i="1" smtClean="0">
                            <a:latin typeface="Cambria Math" panose="02040503050406030204" pitchFamily="18" charset="0"/>
                          </a:rPr>
                        </m:ctrlPr>
                      </m:dPr>
                      <m:e>
                        <m:r>
                          <a:rPr lang="en-US" sz="1400" b="0" i="1" smtClean="0">
                            <a:latin typeface="Cambria Math" panose="02040503050406030204" pitchFamily="18" charset="0"/>
                          </a:rPr>
                          <m:t>𝑖</m:t>
                        </m:r>
                      </m:e>
                    </m:d>
                    <m:r>
                      <a:rPr lang="en-US" sz="1400" b="0" i="1" smtClean="0">
                        <a:latin typeface="Cambria Math" panose="02040503050406030204" pitchFamily="18" charset="0"/>
                      </a:rPr>
                      <m:t>=1</m:t>
                    </m:r>
                  </m:oMath>
                </a14:m>
                <a:r>
                  <a:rPr lang="es-ES" sz="1400" dirty="0"/>
                  <a:t>. En caso contrario, la neurona no dispara: hacemos </a:t>
                </a:r>
                <a14:m>
                  <m:oMath xmlns:m="http://schemas.openxmlformats.org/officeDocument/2006/math">
                    <m:r>
                      <a:rPr lang="en-US" sz="1400" b="0" i="1" smtClean="0">
                        <a:latin typeface="Cambria Math" panose="02040503050406030204" pitchFamily="18" charset="0"/>
                      </a:rPr>
                      <m:t>𝑠</m:t>
                    </m:r>
                    <m:d>
                      <m:dPr>
                        <m:begChr m:val="["/>
                        <m:endChr m:val="]"/>
                        <m:ctrlPr>
                          <a:rPr lang="en-US" sz="1400" b="0" i="1" smtClean="0">
                            <a:latin typeface="Cambria Math" panose="02040503050406030204" pitchFamily="18" charset="0"/>
                          </a:rPr>
                        </m:ctrlPr>
                      </m:dPr>
                      <m:e>
                        <m:r>
                          <a:rPr lang="en-US" sz="1400" b="0" i="1" smtClean="0">
                            <a:latin typeface="Cambria Math" panose="02040503050406030204" pitchFamily="18" charset="0"/>
                          </a:rPr>
                          <m:t>𝑖</m:t>
                        </m:r>
                      </m:e>
                    </m:d>
                    <m:r>
                      <a:rPr lang="en-US" sz="1400" b="0" i="1" smtClean="0">
                        <a:latin typeface="Cambria Math" panose="02040503050406030204" pitchFamily="18" charset="0"/>
                      </a:rPr>
                      <m:t>=0</m:t>
                    </m:r>
                  </m:oMath>
                </a14:m>
                <a:r>
                  <a:rPr lang="es-ES" sz="1400" dirty="0"/>
                  <a:t>.</a:t>
                </a:r>
              </a:p>
              <a:p>
                <a:pPr marL="971550" lvl="1" indent="-514350">
                  <a:lnSpc>
                    <a:spcPct val="100000"/>
                  </a:lnSpc>
                  <a:buFont typeface="+mj-lt"/>
                  <a:buAutoNum type="arabicPeriod"/>
                </a:pPr>
                <a:r>
                  <a:rPr lang="es-ES" sz="1400" dirty="0"/>
                  <a:t>Ir a 5.1.</a:t>
                </a:r>
                <a:endParaRPr lang="es-ES" sz="1400" b="1" dirty="0"/>
              </a:p>
              <a:p>
                <a:pPr marL="0" indent="0">
                  <a:lnSpc>
                    <a:spcPct val="100000"/>
                  </a:lnSpc>
                  <a:buNone/>
                </a:pPr>
                <a:endParaRPr lang="es-ES" sz="1800" dirty="0"/>
              </a:p>
            </p:txBody>
          </p:sp>
        </mc:Choice>
        <mc:Fallback xmlns="">
          <p:sp>
            <p:nvSpPr>
              <p:cNvPr id="3" name="Marcador de contenido 2">
                <a:extLst>
                  <a:ext uri="{FF2B5EF4-FFF2-40B4-BE49-F238E27FC236}">
                    <a16:creationId xmlns:a16="http://schemas.microsoft.com/office/drawing/2014/main" id="{5A89BE84-0D65-90C2-308F-5253085E917D}"/>
                  </a:ext>
                </a:extLst>
              </p:cNvPr>
              <p:cNvSpPr>
                <a:spLocks noGrp="1" noRot="1" noChangeAspect="1" noMove="1" noResize="1" noEditPoints="1" noAdjustHandles="1" noChangeArrowheads="1" noChangeShapeType="1" noTextEdit="1"/>
              </p:cNvSpPr>
              <p:nvPr>
                <p:ph idx="1"/>
              </p:nvPr>
            </p:nvSpPr>
            <p:spPr>
              <a:xfrm>
                <a:off x="195325" y="920241"/>
                <a:ext cx="9120491" cy="5551068"/>
              </a:xfrm>
              <a:blipFill>
                <a:blip r:embed="rId2"/>
                <a:stretch>
                  <a:fillRect l="-417" t="-228"/>
                </a:stretch>
              </a:blipFill>
            </p:spPr>
            <p:txBody>
              <a:bodyPr/>
              <a:lstStyle/>
              <a:p>
                <a:r>
                  <a:rPr lang="es-ES">
                    <a:noFill/>
                  </a:rPr>
                  <a:t> </a:t>
                </a:r>
              </a:p>
            </p:txBody>
          </p:sp>
        </mc:Fallback>
      </mc:AlternateContent>
      <p:sp>
        <p:nvSpPr>
          <p:cNvPr id="5" name="Rectángulo 4">
            <a:extLst>
              <a:ext uri="{FF2B5EF4-FFF2-40B4-BE49-F238E27FC236}">
                <a16:creationId xmlns:a16="http://schemas.microsoft.com/office/drawing/2014/main" id="{8BB5B2BC-E323-D28C-5BB2-E153959C0F8C}"/>
              </a:ext>
            </a:extLst>
          </p:cNvPr>
          <p:cNvSpPr/>
          <p:nvPr/>
        </p:nvSpPr>
        <p:spPr>
          <a:xfrm>
            <a:off x="10001527" y="2389534"/>
            <a:ext cx="295836" cy="29583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5">
            <a:extLst>
              <a:ext uri="{FF2B5EF4-FFF2-40B4-BE49-F238E27FC236}">
                <a16:creationId xmlns:a16="http://schemas.microsoft.com/office/drawing/2014/main" id="{47D7720F-90E0-1221-1FA5-C0F3D20CB1BE}"/>
              </a:ext>
            </a:extLst>
          </p:cNvPr>
          <p:cNvSpPr/>
          <p:nvPr/>
        </p:nvSpPr>
        <p:spPr>
          <a:xfrm>
            <a:off x="10001132" y="2701014"/>
            <a:ext cx="295836" cy="29583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479E3E30-9438-6542-B00A-50752FF09F02}"/>
              </a:ext>
            </a:extLst>
          </p:cNvPr>
          <p:cNvSpPr/>
          <p:nvPr/>
        </p:nvSpPr>
        <p:spPr>
          <a:xfrm>
            <a:off x="10001527" y="3010815"/>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a:extLst>
              <a:ext uri="{FF2B5EF4-FFF2-40B4-BE49-F238E27FC236}">
                <a16:creationId xmlns:a16="http://schemas.microsoft.com/office/drawing/2014/main" id="{5629FC76-56C6-6BA3-2E5F-CC64EA351177}"/>
              </a:ext>
            </a:extLst>
          </p:cNvPr>
          <p:cNvSpPr/>
          <p:nvPr/>
        </p:nvSpPr>
        <p:spPr>
          <a:xfrm>
            <a:off x="10001132" y="3314256"/>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Rectángulo 8">
            <a:extLst>
              <a:ext uri="{FF2B5EF4-FFF2-40B4-BE49-F238E27FC236}">
                <a16:creationId xmlns:a16="http://schemas.microsoft.com/office/drawing/2014/main" id="{31E77574-54D9-91EB-E775-7781818CA9B2}"/>
              </a:ext>
            </a:extLst>
          </p:cNvPr>
          <p:cNvSpPr/>
          <p:nvPr/>
        </p:nvSpPr>
        <p:spPr>
          <a:xfrm>
            <a:off x="10001132" y="3624057"/>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9">
            <a:extLst>
              <a:ext uri="{FF2B5EF4-FFF2-40B4-BE49-F238E27FC236}">
                <a16:creationId xmlns:a16="http://schemas.microsoft.com/office/drawing/2014/main" id="{A17B52DA-A9CE-E01A-2C5A-0D101606A9C4}"/>
              </a:ext>
            </a:extLst>
          </p:cNvPr>
          <p:cNvSpPr/>
          <p:nvPr/>
        </p:nvSpPr>
        <p:spPr>
          <a:xfrm>
            <a:off x="10001132" y="4243659"/>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ángulo 10">
            <a:extLst>
              <a:ext uri="{FF2B5EF4-FFF2-40B4-BE49-F238E27FC236}">
                <a16:creationId xmlns:a16="http://schemas.microsoft.com/office/drawing/2014/main" id="{5B87B0BE-F74A-CC3B-779B-B232670CD175}"/>
              </a:ext>
            </a:extLst>
          </p:cNvPr>
          <p:cNvSpPr/>
          <p:nvPr/>
        </p:nvSpPr>
        <p:spPr>
          <a:xfrm>
            <a:off x="10001132" y="3933858"/>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Rectángulo 11">
            <a:extLst>
              <a:ext uri="{FF2B5EF4-FFF2-40B4-BE49-F238E27FC236}">
                <a16:creationId xmlns:a16="http://schemas.microsoft.com/office/drawing/2014/main" id="{49A57F3F-3360-868B-4541-D926B8D53C48}"/>
              </a:ext>
            </a:extLst>
          </p:cNvPr>
          <p:cNvSpPr/>
          <p:nvPr/>
        </p:nvSpPr>
        <p:spPr>
          <a:xfrm>
            <a:off x="10001132" y="4539495"/>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Rectángulo 12">
            <a:extLst>
              <a:ext uri="{FF2B5EF4-FFF2-40B4-BE49-F238E27FC236}">
                <a16:creationId xmlns:a16="http://schemas.microsoft.com/office/drawing/2014/main" id="{6566CDE9-52F8-ECF5-3401-5DD4667514A7}"/>
              </a:ext>
            </a:extLst>
          </p:cNvPr>
          <p:cNvSpPr/>
          <p:nvPr/>
        </p:nvSpPr>
        <p:spPr>
          <a:xfrm>
            <a:off x="10401577" y="2389534"/>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Rectángulo 13">
            <a:extLst>
              <a:ext uri="{FF2B5EF4-FFF2-40B4-BE49-F238E27FC236}">
                <a16:creationId xmlns:a16="http://schemas.microsoft.com/office/drawing/2014/main" id="{0E830E9A-5603-7127-788E-8378373E4C51}"/>
              </a:ext>
            </a:extLst>
          </p:cNvPr>
          <p:cNvSpPr/>
          <p:nvPr/>
        </p:nvSpPr>
        <p:spPr>
          <a:xfrm>
            <a:off x="10401182" y="2701014"/>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ángulo 14">
            <a:extLst>
              <a:ext uri="{FF2B5EF4-FFF2-40B4-BE49-F238E27FC236}">
                <a16:creationId xmlns:a16="http://schemas.microsoft.com/office/drawing/2014/main" id="{578F1BE2-B995-D117-FCC4-4FE8DE3D487B}"/>
              </a:ext>
            </a:extLst>
          </p:cNvPr>
          <p:cNvSpPr/>
          <p:nvPr/>
        </p:nvSpPr>
        <p:spPr>
          <a:xfrm>
            <a:off x="10401577" y="3010815"/>
            <a:ext cx="295836" cy="29583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Rectángulo 15">
            <a:extLst>
              <a:ext uri="{FF2B5EF4-FFF2-40B4-BE49-F238E27FC236}">
                <a16:creationId xmlns:a16="http://schemas.microsoft.com/office/drawing/2014/main" id="{A955D860-664E-8D0D-ED1C-0F664437BCD8}"/>
              </a:ext>
            </a:extLst>
          </p:cNvPr>
          <p:cNvSpPr/>
          <p:nvPr/>
        </p:nvSpPr>
        <p:spPr>
          <a:xfrm>
            <a:off x="10401182" y="3314256"/>
            <a:ext cx="295836" cy="29583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Rectángulo 16">
            <a:extLst>
              <a:ext uri="{FF2B5EF4-FFF2-40B4-BE49-F238E27FC236}">
                <a16:creationId xmlns:a16="http://schemas.microsoft.com/office/drawing/2014/main" id="{105B792F-2B70-88A0-E211-34FE21D76FC1}"/>
              </a:ext>
            </a:extLst>
          </p:cNvPr>
          <p:cNvSpPr/>
          <p:nvPr/>
        </p:nvSpPr>
        <p:spPr>
          <a:xfrm>
            <a:off x="10401182" y="3624057"/>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Rectángulo 17">
            <a:extLst>
              <a:ext uri="{FF2B5EF4-FFF2-40B4-BE49-F238E27FC236}">
                <a16:creationId xmlns:a16="http://schemas.microsoft.com/office/drawing/2014/main" id="{1F6BE218-7081-4CA0-18E3-F9348C34CC6A}"/>
              </a:ext>
            </a:extLst>
          </p:cNvPr>
          <p:cNvSpPr/>
          <p:nvPr/>
        </p:nvSpPr>
        <p:spPr>
          <a:xfrm>
            <a:off x="10401182" y="4243659"/>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Rectángulo 18">
            <a:extLst>
              <a:ext uri="{FF2B5EF4-FFF2-40B4-BE49-F238E27FC236}">
                <a16:creationId xmlns:a16="http://schemas.microsoft.com/office/drawing/2014/main" id="{C199781B-3860-B4BB-3B1C-40C98F4BF8B0}"/>
              </a:ext>
            </a:extLst>
          </p:cNvPr>
          <p:cNvSpPr/>
          <p:nvPr/>
        </p:nvSpPr>
        <p:spPr>
          <a:xfrm>
            <a:off x="10401182" y="3933858"/>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Rectángulo 19">
            <a:extLst>
              <a:ext uri="{FF2B5EF4-FFF2-40B4-BE49-F238E27FC236}">
                <a16:creationId xmlns:a16="http://schemas.microsoft.com/office/drawing/2014/main" id="{D59B9BAE-3CC8-0EB9-8E4F-CC688DF5C20A}"/>
              </a:ext>
            </a:extLst>
          </p:cNvPr>
          <p:cNvSpPr/>
          <p:nvPr/>
        </p:nvSpPr>
        <p:spPr>
          <a:xfrm>
            <a:off x="10401182" y="4539495"/>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Rectángulo 36">
            <a:extLst>
              <a:ext uri="{FF2B5EF4-FFF2-40B4-BE49-F238E27FC236}">
                <a16:creationId xmlns:a16="http://schemas.microsoft.com/office/drawing/2014/main" id="{804B9B79-9BEE-B5F9-9E04-2865992C3373}"/>
              </a:ext>
            </a:extLst>
          </p:cNvPr>
          <p:cNvSpPr/>
          <p:nvPr/>
        </p:nvSpPr>
        <p:spPr>
          <a:xfrm>
            <a:off x="10801627" y="2389534"/>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8" name="Rectángulo 37">
            <a:extLst>
              <a:ext uri="{FF2B5EF4-FFF2-40B4-BE49-F238E27FC236}">
                <a16:creationId xmlns:a16="http://schemas.microsoft.com/office/drawing/2014/main" id="{1EB52CE1-916A-97A2-086B-A6362A1D37F7}"/>
              </a:ext>
            </a:extLst>
          </p:cNvPr>
          <p:cNvSpPr/>
          <p:nvPr/>
        </p:nvSpPr>
        <p:spPr>
          <a:xfrm>
            <a:off x="10801232" y="2701014"/>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Rectángulo 38">
            <a:extLst>
              <a:ext uri="{FF2B5EF4-FFF2-40B4-BE49-F238E27FC236}">
                <a16:creationId xmlns:a16="http://schemas.microsoft.com/office/drawing/2014/main" id="{4871DECE-4D0D-8644-FC9F-3CCD2F045DA6}"/>
              </a:ext>
            </a:extLst>
          </p:cNvPr>
          <p:cNvSpPr/>
          <p:nvPr/>
        </p:nvSpPr>
        <p:spPr>
          <a:xfrm>
            <a:off x="10801627" y="3010815"/>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Rectángulo 39">
            <a:extLst>
              <a:ext uri="{FF2B5EF4-FFF2-40B4-BE49-F238E27FC236}">
                <a16:creationId xmlns:a16="http://schemas.microsoft.com/office/drawing/2014/main" id="{1F48CB61-150D-0690-0767-E663E09F741B}"/>
              </a:ext>
            </a:extLst>
          </p:cNvPr>
          <p:cNvSpPr/>
          <p:nvPr/>
        </p:nvSpPr>
        <p:spPr>
          <a:xfrm>
            <a:off x="10801232" y="3314256"/>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1" name="Rectángulo 40">
            <a:extLst>
              <a:ext uri="{FF2B5EF4-FFF2-40B4-BE49-F238E27FC236}">
                <a16:creationId xmlns:a16="http://schemas.microsoft.com/office/drawing/2014/main" id="{33312573-9ADC-3294-32B6-E2F9590F8E3B}"/>
              </a:ext>
            </a:extLst>
          </p:cNvPr>
          <p:cNvSpPr/>
          <p:nvPr/>
        </p:nvSpPr>
        <p:spPr>
          <a:xfrm>
            <a:off x="10801232" y="3624057"/>
            <a:ext cx="295836" cy="29583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2" name="Rectángulo 41">
            <a:extLst>
              <a:ext uri="{FF2B5EF4-FFF2-40B4-BE49-F238E27FC236}">
                <a16:creationId xmlns:a16="http://schemas.microsoft.com/office/drawing/2014/main" id="{8C49B6AB-5806-D384-77B5-D1B14DADF528}"/>
              </a:ext>
            </a:extLst>
          </p:cNvPr>
          <p:cNvSpPr/>
          <p:nvPr/>
        </p:nvSpPr>
        <p:spPr>
          <a:xfrm>
            <a:off x="10801232" y="4243659"/>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3" name="Rectángulo 42">
            <a:extLst>
              <a:ext uri="{FF2B5EF4-FFF2-40B4-BE49-F238E27FC236}">
                <a16:creationId xmlns:a16="http://schemas.microsoft.com/office/drawing/2014/main" id="{9BEE36F9-472F-74AF-566E-62E37449884B}"/>
              </a:ext>
            </a:extLst>
          </p:cNvPr>
          <p:cNvSpPr/>
          <p:nvPr/>
        </p:nvSpPr>
        <p:spPr>
          <a:xfrm>
            <a:off x="10801232" y="3933858"/>
            <a:ext cx="295836" cy="29583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4" name="Rectángulo 43">
            <a:extLst>
              <a:ext uri="{FF2B5EF4-FFF2-40B4-BE49-F238E27FC236}">
                <a16:creationId xmlns:a16="http://schemas.microsoft.com/office/drawing/2014/main" id="{FFABAAC6-0AAE-C630-5007-9E707AEDFEA4}"/>
              </a:ext>
            </a:extLst>
          </p:cNvPr>
          <p:cNvSpPr/>
          <p:nvPr/>
        </p:nvSpPr>
        <p:spPr>
          <a:xfrm>
            <a:off x="10801232" y="4539495"/>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5" name="Rectángulo 44">
            <a:extLst>
              <a:ext uri="{FF2B5EF4-FFF2-40B4-BE49-F238E27FC236}">
                <a16:creationId xmlns:a16="http://schemas.microsoft.com/office/drawing/2014/main" id="{9148E441-9A13-783D-874D-559874B2C790}"/>
              </a:ext>
            </a:extLst>
          </p:cNvPr>
          <p:cNvSpPr/>
          <p:nvPr/>
        </p:nvSpPr>
        <p:spPr>
          <a:xfrm>
            <a:off x="11201677" y="2389534"/>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6" name="Rectángulo 45">
            <a:extLst>
              <a:ext uri="{FF2B5EF4-FFF2-40B4-BE49-F238E27FC236}">
                <a16:creationId xmlns:a16="http://schemas.microsoft.com/office/drawing/2014/main" id="{4ED426BF-AAB5-E1E3-C67D-AA51255635C6}"/>
              </a:ext>
            </a:extLst>
          </p:cNvPr>
          <p:cNvSpPr/>
          <p:nvPr/>
        </p:nvSpPr>
        <p:spPr>
          <a:xfrm>
            <a:off x="11201282" y="2701014"/>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7" name="Rectángulo 46">
            <a:extLst>
              <a:ext uri="{FF2B5EF4-FFF2-40B4-BE49-F238E27FC236}">
                <a16:creationId xmlns:a16="http://schemas.microsoft.com/office/drawing/2014/main" id="{FB9A30F6-6E09-3C82-4F53-DA499A0455E3}"/>
              </a:ext>
            </a:extLst>
          </p:cNvPr>
          <p:cNvSpPr/>
          <p:nvPr/>
        </p:nvSpPr>
        <p:spPr>
          <a:xfrm>
            <a:off x="11201677" y="3010815"/>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8" name="Rectángulo 47">
            <a:extLst>
              <a:ext uri="{FF2B5EF4-FFF2-40B4-BE49-F238E27FC236}">
                <a16:creationId xmlns:a16="http://schemas.microsoft.com/office/drawing/2014/main" id="{06B00CED-56CA-764D-6A83-144B0FFCB015}"/>
              </a:ext>
            </a:extLst>
          </p:cNvPr>
          <p:cNvSpPr/>
          <p:nvPr/>
        </p:nvSpPr>
        <p:spPr>
          <a:xfrm>
            <a:off x="11201282" y="3314256"/>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9" name="Rectángulo 48">
            <a:extLst>
              <a:ext uri="{FF2B5EF4-FFF2-40B4-BE49-F238E27FC236}">
                <a16:creationId xmlns:a16="http://schemas.microsoft.com/office/drawing/2014/main" id="{36AE5700-016F-A9C9-9563-2507A7E2C57D}"/>
              </a:ext>
            </a:extLst>
          </p:cNvPr>
          <p:cNvSpPr/>
          <p:nvPr/>
        </p:nvSpPr>
        <p:spPr>
          <a:xfrm>
            <a:off x="11201282" y="3624057"/>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Rectángulo 49">
            <a:extLst>
              <a:ext uri="{FF2B5EF4-FFF2-40B4-BE49-F238E27FC236}">
                <a16:creationId xmlns:a16="http://schemas.microsoft.com/office/drawing/2014/main" id="{8939386F-3314-BFDE-7253-29AEBB8D2E69}"/>
              </a:ext>
            </a:extLst>
          </p:cNvPr>
          <p:cNvSpPr/>
          <p:nvPr/>
        </p:nvSpPr>
        <p:spPr>
          <a:xfrm>
            <a:off x="11201282" y="4243659"/>
            <a:ext cx="295836" cy="29583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1" name="Rectángulo 50">
            <a:extLst>
              <a:ext uri="{FF2B5EF4-FFF2-40B4-BE49-F238E27FC236}">
                <a16:creationId xmlns:a16="http://schemas.microsoft.com/office/drawing/2014/main" id="{33A60BB9-3F95-2D03-6930-A1A5A45773D5}"/>
              </a:ext>
            </a:extLst>
          </p:cNvPr>
          <p:cNvSpPr/>
          <p:nvPr/>
        </p:nvSpPr>
        <p:spPr>
          <a:xfrm>
            <a:off x="11201282" y="3933858"/>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Rectángulo 51">
            <a:extLst>
              <a:ext uri="{FF2B5EF4-FFF2-40B4-BE49-F238E27FC236}">
                <a16:creationId xmlns:a16="http://schemas.microsoft.com/office/drawing/2014/main" id="{3049165D-4A60-F99D-0A02-FF3E2AABF26F}"/>
              </a:ext>
            </a:extLst>
          </p:cNvPr>
          <p:cNvSpPr/>
          <p:nvPr/>
        </p:nvSpPr>
        <p:spPr>
          <a:xfrm>
            <a:off x="11201282" y="4539495"/>
            <a:ext cx="295836" cy="29583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53" name="CuadroTexto 52">
                <a:extLst>
                  <a:ext uri="{FF2B5EF4-FFF2-40B4-BE49-F238E27FC236}">
                    <a16:creationId xmlns:a16="http://schemas.microsoft.com/office/drawing/2014/main" id="{F1775227-55DD-CA29-689B-B2C2A1BB6B21}"/>
                  </a:ext>
                </a:extLst>
              </p:cNvPr>
              <p:cNvSpPr txBox="1"/>
              <p:nvPr/>
            </p:nvSpPr>
            <p:spPr>
              <a:xfrm>
                <a:off x="9882031" y="1300386"/>
                <a:ext cx="1760197" cy="646331"/>
              </a:xfrm>
              <a:prstGeom prst="rect">
                <a:avLst/>
              </a:prstGeom>
              <a:solidFill>
                <a:schemeClr val="accent6">
                  <a:lumMod val="20000"/>
                  <a:lumOff val="80000"/>
                </a:schemeClr>
              </a:solidFill>
            </p:spPr>
            <p:txBody>
              <a:bodyPr wrap="square" rtlCol="0">
                <a:spAutoFit/>
              </a:bodyPr>
              <a:lstStyle/>
              <a:p>
                <a:r>
                  <a:rPr lang="en-US" dirty="0"/>
                  <a:t>Ejemplo con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=8</m:t>
                    </m:r>
                  </m:oMath>
                </a14:m>
                <a:r>
                  <a:rPr lang="es-ES" dirty="0"/>
                  <a:t> y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=4</m:t>
                    </m:r>
                  </m:oMath>
                </a14:m>
                <a:r>
                  <a:rPr lang="es-ES" dirty="0"/>
                  <a:t>:</a:t>
                </a:r>
              </a:p>
            </p:txBody>
          </p:sp>
        </mc:Choice>
        <mc:Fallback xmlns="">
          <p:sp>
            <p:nvSpPr>
              <p:cNvPr id="53" name="CuadroTexto 52">
                <a:extLst>
                  <a:ext uri="{FF2B5EF4-FFF2-40B4-BE49-F238E27FC236}">
                    <a16:creationId xmlns:a16="http://schemas.microsoft.com/office/drawing/2014/main" id="{F1775227-55DD-CA29-689B-B2C2A1BB6B21}"/>
                  </a:ext>
                </a:extLst>
              </p:cNvPr>
              <p:cNvSpPr txBox="1">
                <a:spLocks noRot="1" noChangeAspect="1" noMove="1" noResize="1" noEditPoints="1" noAdjustHandles="1" noChangeArrowheads="1" noChangeShapeType="1" noTextEdit="1"/>
              </p:cNvSpPr>
              <p:nvPr/>
            </p:nvSpPr>
            <p:spPr>
              <a:xfrm>
                <a:off x="9882031" y="1300386"/>
                <a:ext cx="1760197" cy="646331"/>
              </a:xfrm>
              <a:prstGeom prst="rect">
                <a:avLst/>
              </a:prstGeom>
              <a:blipFill>
                <a:blip r:embed="rId3"/>
                <a:stretch>
                  <a:fillRect l="-2768" t="-4717" b="-1415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4" name="CuadroTexto 53">
                <a:extLst>
                  <a:ext uri="{FF2B5EF4-FFF2-40B4-BE49-F238E27FC236}">
                    <a16:creationId xmlns:a16="http://schemas.microsoft.com/office/drawing/2014/main" id="{76E9BF7B-C302-E6B2-DBB0-5D132881091E}"/>
                  </a:ext>
                </a:extLst>
              </p:cNvPr>
              <p:cNvSpPr txBox="1"/>
              <p:nvPr/>
            </p:nvSpPr>
            <p:spPr>
              <a:xfrm>
                <a:off x="10014839" y="2038425"/>
                <a:ext cx="2821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1" i="1" smtClean="0">
                              <a:latin typeface="Cambria Math" panose="02040503050406030204" pitchFamily="18" charset="0"/>
                            </a:rPr>
                            <m:t>𝝃</m:t>
                          </m:r>
                        </m:e>
                        <m:sup>
                          <m:r>
                            <a:rPr lang="en-US" b="0" i="1" smtClean="0">
                              <a:latin typeface="Cambria Math" panose="02040503050406030204" pitchFamily="18" charset="0"/>
                            </a:rPr>
                            <m:t>0</m:t>
                          </m:r>
                        </m:sup>
                      </m:sSup>
                    </m:oMath>
                  </m:oMathPara>
                </a14:m>
                <a:endParaRPr lang="es-ES" dirty="0"/>
              </a:p>
            </p:txBody>
          </p:sp>
        </mc:Choice>
        <mc:Fallback xmlns="">
          <p:sp>
            <p:nvSpPr>
              <p:cNvPr id="54" name="CuadroTexto 53">
                <a:extLst>
                  <a:ext uri="{FF2B5EF4-FFF2-40B4-BE49-F238E27FC236}">
                    <a16:creationId xmlns:a16="http://schemas.microsoft.com/office/drawing/2014/main" id="{76E9BF7B-C302-E6B2-DBB0-5D132881091E}"/>
                  </a:ext>
                </a:extLst>
              </p:cNvPr>
              <p:cNvSpPr txBox="1">
                <a:spLocks noRot="1" noChangeAspect="1" noMove="1" noResize="1" noEditPoints="1" noAdjustHandles="1" noChangeArrowheads="1" noChangeShapeType="1" noTextEdit="1"/>
              </p:cNvSpPr>
              <p:nvPr/>
            </p:nvSpPr>
            <p:spPr>
              <a:xfrm>
                <a:off x="10014839" y="2038425"/>
                <a:ext cx="282129" cy="276999"/>
              </a:xfrm>
              <a:prstGeom prst="rect">
                <a:avLst/>
              </a:prstGeom>
              <a:blipFill>
                <a:blip r:embed="rId4"/>
                <a:stretch>
                  <a:fillRect l="-28261" t="-4348" r="-8696" b="-3260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5" name="CuadroTexto 54">
                <a:extLst>
                  <a:ext uri="{FF2B5EF4-FFF2-40B4-BE49-F238E27FC236}">
                    <a16:creationId xmlns:a16="http://schemas.microsoft.com/office/drawing/2014/main" id="{9CE0F1FD-2BB1-4921-1790-38BF392AD133}"/>
                  </a:ext>
                </a:extLst>
              </p:cNvPr>
              <p:cNvSpPr txBox="1"/>
              <p:nvPr/>
            </p:nvSpPr>
            <p:spPr>
              <a:xfrm>
                <a:off x="10398821" y="2038424"/>
                <a:ext cx="27392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1" i="1" smtClean="0">
                              <a:latin typeface="Cambria Math" panose="02040503050406030204" pitchFamily="18" charset="0"/>
                            </a:rPr>
                            <m:t>𝝃</m:t>
                          </m:r>
                        </m:e>
                        <m:sup>
                          <m:r>
                            <a:rPr lang="en-US" b="0" i="1" smtClean="0">
                              <a:latin typeface="Cambria Math" panose="02040503050406030204" pitchFamily="18" charset="0"/>
                            </a:rPr>
                            <m:t>1</m:t>
                          </m:r>
                        </m:sup>
                      </m:sSup>
                    </m:oMath>
                  </m:oMathPara>
                </a14:m>
                <a:endParaRPr lang="es-ES" dirty="0"/>
              </a:p>
            </p:txBody>
          </p:sp>
        </mc:Choice>
        <mc:Fallback xmlns="">
          <p:sp>
            <p:nvSpPr>
              <p:cNvPr id="55" name="CuadroTexto 54">
                <a:extLst>
                  <a:ext uri="{FF2B5EF4-FFF2-40B4-BE49-F238E27FC236}">
                    <a16:creationId xmlns:a16="http://schemas.microsoft.com/office/drawing/2014/main" id="{9CE0F1FD-2BB1-4921-1790-38BF392AD133}"/>
                  </a:ext>
                </a:extLst>
              </p:cNvPr>
              <p:cNvSpPr txBox="1">
                <a:spLocks noRot="1" noChangeAspect="1" noMove="1" noResize="1" noEditPoints="1" noAdjustHandles="1" noChangeArrowheads="1" noChangeShapeType="1" noTextEdit="1"/>
              </p:cNvSpPr>
              <p:nvPr/>
            </p:nvSpPr>
            <p:spPr>
              <a:xfrm>
                <a:off x="10398821" y="2038424"/>
                <a:ext cx="273921" cy="276999"/>
              </a:xfrm>
              <a:prstGeom prst="rect">
                <a:avLst/>
              </a:prstGeom>
              <a:blipFill>
                <a:blip r:embed="rId5"/>
                <a:stretch>
                  <a:fillRect l="-31111" t="-4348" r="-6667" b="-3260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6" name="CuadroTexto 55">
                <a:extLst>
                  <a:ext uri="{FF2B5EF4-FFF2-40B4-BE49-F238E27FC236}">
                    <a16:creationId xmlns:a16="http://schemas.microsoft.com/office/drawing/2014/main" id="{58972006-67E3-69C6-8517-E041601E9513}"/>
                  </a:ext>
                </a:extLst>
              </p:cNvPr>
              <p:cNvSpPr txBox="1"/>
              <p:nvPr/>
            </p:nvSpPr>
            <p:spPr>
              <a:xfrm>
                <a:off x="10762130" y="2033042"/>
                <a:ext cx="27885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1" i="1" smtClean="0">
                              <a:latin typeface="Cambria Math" panose="02040503050406030204" pitchFamily="18" charset="0"/>
                            </a:rPr>
                            <m:t>𝝃</m:t>
                          </m:r>
                        </m:e>
                        <m:sup>
                          <m:r>
                            <a:rPr lang="en-US" b="0" i="1" smtClean="0">
                              <a:latin typeface="Cambria Math" panose="02040503050406030204" pitchFamily="18" charset="0"/>
                            </a:rPr>
                            <m:t>2</m:t>
                          </m:r>
                        </m:sup>
                      </m:sSup>
                    </m:oMath>
                  </m:oMathPara>
                </a14:m>
                <a:endParaRPr lang="es-ES" dirty="0"/>
              </a:p>
            </p:txBody>
          </p:sp>
        </mc:Choice>
        <mc:Fallback xmlns="">
          <p:sp>
            <p:nvSpPr>
              <p:cNvPr id="56" name="CuadroTexto 55">
                <a:extLst>
                  <a:ext uri="{FF2B5EF4-FFF2-40B4-BE49-F238E27FC236}">
                    <a16:creationId xmlns:a16="http://schemas.microsoft.com/office/drawing/2014/main" id="{58972006-67E3-69C6-8517-E041601E9513}"/>
                  </a:ext>
                </a:extLst>
              </p:cNvPr>
              <p:cNvSpPr txBox="1">
                <a:spLocks noRot="1" noChangeAspect="1" noMove="1" noResize="1" noEditPoints="1" noAdjustHandles="1" noChangeArrowheads="1" noChangeShapeType="1" noTextEdit="1"/>
              </p:cNvSpPr>
              <p:nvPr/>
            </p:nvSpPr>
            <p:spPr>
              <a:xfrm>
                <a:off x="10762130" y="2033042"/>
                <a:ext cx="278859" cy="276999"/>
              </a:xfrm>
              <a:prstGeom prst="rect">
                <a:avLst/>
              </a:prstGeom>
              <a:blipFill>
                <a:blip r:embed="rId6"/>
                <a:stretch>
                  <a:fillRect l="-30435" t="-4444" r="-8696" b="-35556"/>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7" name="CuadroTexto 56">
                <a:extLst>
                  <a:ext uri="{FF2B5EF4-FFF2-40B4-BE49-F238E27FC236}">
                    <a16:creationId xmlns:a16="http://schemas.microsoft.com/office/drawing/2014/main" id="{E95AAC35-6FBD-9E92-13FA-303741FFF570}"/>
                  </a:ext>
                </a:extLst>
              </p:cNvPr>
              <p:cNvSpPr txBox="1"/>
              <p:nvPr/>
            </p:nvSpPr>
            <p:spPr>
              <a:xfrm>
                <a:off x="11208135" y="2040364"/>
                <a:ext cx="27885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1" i="1" smtClean="0">
                              <a:latin typeface="Cambria Math" panose="02040503050406030204" pitchFamily="18" charset="0"/>
                            </a:rPr>
                            <m:t>𝝃</m:t>
                          </m:r>
                        </m:e>
                        <m:sup>
                          <m:r>
                            <a:rPr lang="en-US" b="0" i="1" smtClean="0">
                              <a:latin typeface="Cambria Math" panose="02040503050406030204" pitchFamily="18" charset="0"/>
                            </a:rPr>
                            <m:t>3</m:t>
                          </m:r>
                        </m:sup>
                      </m:sSup>
                    </m:oMath>
                  </m:oMathPara>
                </a14:m>
                <a:endParaRPr lang="es-ES" dirty="0"/>
              </a:p>
            </p:txBody>
          </p:sp>
        </mc:Choice>
        <mc:Fallback xmlns="">
          <p:sp>
            <p:nvSpPr>
              <p:cNvPr id="57" name="CuadroTexto 56">
                <a:extLst>
                  <a:ext uri="{FF2B5EF4-FFF2-40B4-BE49-F238E27FC236}">
                    <a16:creationId xmlns:a16="http://schemas.microsoft.com/office/drawing/2014/main" id="{E95AAC35-6FBD-9E92-13FA-303741FFF570}"/>
                  </a:ext>
                </a:extLst>
              </p:cNvPr>
              <p:cNvSpPr txBox="1">
                <a:spLocks noRot="1" noChangeAspect="1" noMove="1" noResize="1" noEditPoints="1" noAdjustHandles="1" noChangeArrowheads="1" noChangeShapeType="1" noTextEdit="1"/>
              </p:cNvSpPr>
              <p:nvPr/>
            </p:nvSpPr>
            <p:spPr>
              <a:xfrm>
                <a:off x="11208135" y="2040364"/>
                <a:ext cx="278859" cy="276999"/>
              </a:xfrm>
              <a:prstGeom prst="rect">
                <a:avLst/>
              </a:prstGeom>
              <a:blipFill>
                <a:blip r:embed="rId7"/>
                <a:stretch>
                  <a:fillRect l="-31111" t="-4444" r="-8889" b="-35556"/>
                </a:stretch>
              </a:blipFill>
            </p:spPr>
            <p:txBody>
              <a:bodyPr/>
              <a:lstStyle/>
              <a:p>
                <a:r>
                  <a:rPr lang="es-ES">
                    <a:noFill/>
                  </a:rPr>
                  <a:t> </a:t>
                </a:r>
              </a:p>
            </p:txBody>
          </p:sp>
        </mc:Fallback>
      </mc:AlternateContent>
      <p:sp>
        <p:nvSpPr>
          <p:cNvPr id="60" name="Título 1">
            <a:extLst>
              <a:ext uri="{FF2B5EF4-FFF2-40B4-BE49-F238E27FC236}">
                <a16:creationId xmlns:a16="http://schemas.microsoft.com/office/drawing/2014/main" id="{7CA62F74-EF12-F9B3-B16B-6BCC617EF335}"/>
              </a:ext>
            </a:extLst>
          </p:cNvPr>
          <p:cNvSpPr txBox="1">
            <a:spLocks/>
          </p:cNvSpPr>
          <p:nvPr/>
        </p:nvSpPr>
        <p:spPr>
          <a:xfrm>
            <a:off x="0" y="104764"/>
            <a:ext cx="12192000" cy="708208"/>
          </a:xfrm>
          <a:prstGeom prst="rect">
            <a:avLst/>
          </a:prstGeom>
          <a:solidFill>
            <a:schemeClr val="accent6">
              <a:lumMod val="20000"/>
              <a:lumOff val="8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b="1" dirty="0"/>
              <a:t>Modelo de </a:t>
            </a:r>
            <a:r>
              <a:rPr lang="es-ES" sz="2800" b="1" dirty="0" err="1"/>
              <a:t>Hopfield</a:t>
            </a:r>
            <a:r>
              <a:rPr lang="es-ES" sz="2800" b="1" dirty="0"/>
              <a:t> de red neuronal: Descripción del algoritmo</a:t>
            </a:r>
          </a:p>
        </p:txBody>
      </p:sp>
      <p:sp>
        <p:nvSpPr>
          <p:cNvPr id="61" name="CuadroTexto 60">
            <a:extLst>
              <a:ext uri="{FF2B5EF4-FFF2-40B4-BE49-F238E27FC236}">
                <a16:creationId xmlns:a16="http://schemas.microsoft.com/office/drawing/2014/main" id="{A5E8184A-3F5B-222E-A90A-2168DCFD76E8}"/>
              </a:ext>
            </a:extLst>
          </p:cNvPr>
          <p:cNvSpPr txBox="1"/>
          <p:nvPr/>
        </p:nvSpPr>
        <p:spPr>
          <a:xfrm>
            <a:off x="394447" y="5997388"/>
            <a:ext cx="11092547" cy="646331"/>
          </a:xfrm>
          <a:prstGeom prst="rect">
            <a:avLst/>
          </a:prstGeom>
          <a:solidFill>
            <a:srgbClr val="00B050"/>
          </a:solidFill>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s-ES" b="1" dirty="0"/>
              <a:t>Nota sobre la simulación: </a:t>
            </a:r>
            <a:r>
              <a:rPr lang="es-ES" dirty="0"/>
              <a:t>La unidad de tiempo básica es el Paso Monte Carlo (MCS). Cada MCS equivale a realizar N intentos de actualización del sistema. Así, en promedio todos se intenta actualizar cada espín una vez por cada MCS.</a:t>
            </a:r>
          </a:p>
        </p:txBody>
      </p:sp>
      <mc:AlternateContent xmlns:mc="http://schemas.openxmlformats.org/markup-compatibility/2006" xmlns:p14="http://schemas.microsoft.com/office/powerpoint/2010/main">
        <mc:Choice Requires="p14">
          <p:contentPart p14:bwMode="auto" r:id="rId8">
            <p14:nvContentPartPr>
              <p14:cNvPr id="2" name="Entrada de lápiz 1">
                <a:extLst>
                  <a:ext uri="{FF2B5EF4-FFF2-40B4-BE49-F238E27FC236}">
                    <a16:creationId xmlns:a16="http://schemas.microsoft.com/office/drawing/2014/main" id="{7EC3D80A-F9C8-EC84-9D9A-4CAE52C33DBC}"/>
                  </a:ext>
                </a:extLst>
              </p14:cNvPr>
              <p14:cNvContentPartPr/>
              <p14:nvPr/>
            </p14:nvContentPartPr>
            <p14:xfrm>
              <a:off x="6468120" y="2473560"/>
              <a:ext cx="2369160" cy="2007360"/>
            </p14:xfrm>
          </p:contentPart>
        </mc:Choice>
        <mc:Fallback xmlns="">
          <p:pic>
            <p:nvPicPr>
              <p:cNvPr id="2" name="Entrada de lápiz 1">
                <a:extLst>
                  <a:ext uri="{FF2B5EF4-FFF2-40B4-BE49-F238E27FC236}">
                    <a16:creationId xmlns:a16="http://schemas.microsoft.com/office/drawing/2014/main" id="{7EC3D80A-F9C8-EC84-9D9A-4CAE52C33DBC}"/>
                  </a:ext>
                </a:extLst>
              </p:cNvPr>
              <p:cNvPicPr/>
              <p:nvPr/>
            </p:nvPicPr>
            <p:blipFill>
              <a:blip r:embed="rId9"/>
              <a:stretch>
                <a:fillRect/>
              </a:stretch>
            </p:blipFill>
            <p:spPr>
              <a:xfrm>
                <a:off x="6458760" y="2464200"/>
                <a:ext cx="2387880" cy="2026080"/>
              </a:xfrm>
              <a:prstGeom prst="rect">
                <a:avLst/>
              </a:prstGeom>
            </p:spPr>
          </p:pic>
        </mc:Fallback>
      </mc:AlternateContent>
    </p:spTree>
    <p:extLst>
      <p:ext uri="{BB962C8B-B14F-4D97-AF65-F5344CB8AC3E}">
        <p14:creationId xmlns:p14="http://schemas.microsoft.com/office/powerpoint/2010/main" val="21328563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E5A1F8F-9541-DC7F-8A0F-CF71BFB2BD34}"/>
                  </a:ext>
                </a:extLst>
              </p:cNvPr>
              <p:cNvSpPr>
                <a:spLocks noGrp="1"/>
              </p:cNvSpPr>
              <p:nvPr>
                <p:ph idx="1"/>
              </p:nvPr>
            </p:nvSpPr>
            <p:spPr>
              <a:xfrm>
                <a:off x="699247" y="1186415"/>
                <a:ext cx="10654553" cy="4796491"/>
              </a:xfrm>
            </p:spPr>
            <p:txBody>
              <a:bodyPr>
                <a:normAutofit fontScale="62500" lnSpcReduction="20000"/>
              </a:bodyPr>
              <a:lstStyle/>
              <a:p>
                <a:pPr marL="514350" indent="-514350" algn="l">
                  <a:lnSpc>
                    <a:spcPct val="120000"/>
                  </a:lnSpc>
                  <a:buFont typeface="+mj-lt"/>
                  <a:buAutoNum type="arabicPeriod"/>
                </a:pPr>
                <a:r>
                  <a:rPr lang="es-ES" sz="2900" b="0" i="0" u="none" strike="noStrike" baseline="0" dirty="0">
                    <a:latin typeface="LMRoman17-Regular"/>
                  </a:rPr>
                  <a:t>Ver cómo la red es capaz de recordar los patrones almacenados en función de </a:t>
                </a:r>
                <a14:m>
                  <m:oMath xmlns:m="http://schemas.openxmlformats.org/officeDocument/2006/math">
                    <m:r>
                      <a:rPr lang="es-ES" sz="2900" b="0" i="1" u="none" strike="noStrike" baseline="0" smtClean="0">
                        <a:latin typeface="Cambria Math" panose="02040503050406030204" pitchFamily="18" charset="0"/>
                      </a:rPr>
                      <m:t>𝑇</m:t>
                    </m:r>
                  </m:oMath>
                </a14:m>
                <a:r>
                  <a:rPr lang="es-ES" sz="2900" b="0" i="0" u="none" strike="noStrike" baseline="0" dirty="0">
                    <a:latin typeface="LMRoman17-Regular"/>
                  </a:rPr>
                  <a:t>, considerando un conjunto peque</a:t>
                </a:r>
                <a:r>
                  <a:rPr lang="es-ES" sz="2900" dirty="0">
                    <a:latin typeface="LMRoman17-Regular"/>
                  </a:rPr>
                  <a:t>ño de patrones ilustrativos (ver siguiente diapositiva), partiendo </a:t>
                </a:r>
                <a:r>
                  <a:rPr lang="es-ES" sz="2900" b="1" dirty="0">
                    <a:latin typeface="LMRoman17-Regular"/>
                  </a:rPr>
                  <a:t>a) </a:t>
                </a:r>
                <a:r>
                  <a:rPr lang="es-ES" sz="2900" dirty="0">
                    <a:latin typeface="LMRoman17-Regular"/>
                  </a:rPr>
                  <a:t>de una configuración aleatoria y </a:t>
                </a:r>
                <a:r>
                  <a:rPr lang="es-ES" sz="2900" b="1" dirty="0">
                    <a:latin typeface="LMRoman17-Regular"/>
                  </a:rPr>
                  <a:t>b)</a:t>
                </a:r>
                <a:r>
                  <a:rPr lang="es-ES" sz="2900" dirty="0">
                    <a:latin typeface="LMRoman17-Regular"/>
                  </a:rPr>
                  <a:t> del mismo patrón con una pequeña deformación. </a:t>
                </a:r>
                <a:r>
                  <a:rPr lang="es-ES" sz="2900" dirty="0">
                    <a:solidFill>
                      <a:srgbClr val="B020A9"/>
                    </a:solidFill>
                    <a:latin typeface="LMRoman17-Regular"/>
                  </a:rPr>
                  <a:t>Mostrar la evolución del sistema mediante un gif.</a:t>
                </a:r>
              </a:p>
              <a:p>
                <a:pPr marL="914400" lvl="1" indent="-457200">
                  <a:lnSpc>
                    <a:spcPct val="120000"/>
                  </a:lnSpc>
                  <a:buFont typeface="+mj-lt"/>
                  <a:buAutoNum type="arabicPeriod"/>
                </a:pPr>
                <a:r>
                  <a:rPr lang="es-ES" dirty="0">
                    <a:latin typeface="LMRoman17-Regular"/>
                  </a:rPr>
                  <a:t>Pista: para que el estado inicial sea un patrón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𝜉</m:t>
                        </m:r>
                      </m:e>
                      <m:sup>
                        <m:r>
                          <a:rPr lang="en-US" b="0" i="1" smtClean="0">
                            <a:latin typeface="Cambria Math" panose="02040503050406030204" pitchFamily="18" charset="0"/>
                          </a:rPr>
                          <m:t>𝜇</m:t>
                        </m:r>
                      </m:sup>
                    </m:sSup>
                  </m:oMath>
                </a14:m>
                <a:r>
                  <a:rPr lang="es-ES" dirty="0">
                    <a:latin typeface="LMRoman17-Regular"/>
                  </a:rPr>
                  <a:t> ligeramente deformado, puedes hacer </a:t>
                </a:r>
                <a14:m>
                  <m:oMath xmlns:m="http://schemas.openxmlformats.org/officeDocument/2006/math">
                    <m:r>
                      <a:rPr lang="en-US" b="0" i="1" smtClean="0">
                        <a:latin typeface="Cambria Math" panose="02040503050406030204" pitchFamily="18" charset="0"/>
                      </a:rPr>
                      <m:t>𝑠</m:t>
                    </m:r>
                    <m:r>
                      <a:rPr lang="es-ES" b="0" i="1" smtClean="0">
                        <a:latin typeface="Cambria Math" panose="02040503050406030204" pitchFamily="18" charset="0"/>
                      </a:rPr>
                      <m:t>(</m:t>
                    </m:r>
                    <m:r>
                      <a:rPr lang="es-ES" b="0" i="1" smtClean="0">
                        <a:latin typeface="Cambria Math" panose="02040503050406030204" pitchFamily="18" charset="0"/>
                      </a:rPr>
                      <m:t>𝑡</m:t>
                    </m:r>
                    <m:r>
                      <a:rPr lang="es-ES" b="0" i="1" smtClean="0">
                        <a:latin typeface="Cambria Math" panose="02040503050406030204" pitchFamily="18" charset="0"/>
                      </a:rPr>
                      <m:t>=0)=</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𝜉</m:t>
                        </m:r>
                      </m:e>
                      <m:sup>
                        <m:r>
                          <a:rPr lang="en-US" b="0" i="1" smtClean="0">
                            <a:latin typeface="Cambria Math" panose="02040503050406030204" pitchFamily="18" charset="0"/>
                          </a:rPr>
                          <m:t>𝜇</m:t>
                        </m:r>
                      </m:sup>
                    </m:sSup>
                  </m:oMath>
                </a14:m>
                <a:r>
                  <a:rPr lang="es-ES" dirty="0">
                    <a:latin typeface="LMRoman17-Regular"/>
                  </a:rPr>
                  <a:t> y a continuación cambiar el estado de las neuronas con una probabilidad pequeña </a:t>
                </a:r>
                <a14:m>
                  <m:oMath xmlns:m="http://schemas.openxmlformats.org/officeDocument/2006/math">
                    <m:r>
                      <a:rPr lang="es-ES" b="0" i="1" smtClean="0">
                        <a:latin typeface="Cambria Math" panose="02040503050406030204" pitchFamily="18" charset="0"/>
                      </a:rPr>
                      <m:t>𝑝</m:t>
                    </m:r>
                  </m:oMath>
                </a14:m>
                <a:r>
                  <a:rPr lang="es-ES" dirty="0">
                    <a:latin typeface="LMRoman17-Regular"/>
                  </a:rPr>
                  <a:t>, que indicará el porcentaje de deformación. </a:t>
                </a:r>
              </a:p>
              <a:p>
                <a:pPr marL="914400" lvl="1" indent="-457200">
                  <a:lnSpc>
                    <a:spcPct val="120000"/>
                  </a:lnSpc>
                  <a:buFont typeface="+mj-lt"/>
                  <a:buAutoNum type="arabicPeriod"/>
                </a:pPr>
                <a:r>
                  <a:rPr lang="es-ES" dirty="0">
                    <a:latin typeface="LMRoman17-Regular"/>
                  </a:rPr>
                  <a:t>¿Cuántos pasos Monte Carlo tarda el </a:t>
                </a:r>
                <a:r>
                  <a:rPr lang="es-ES">
                    <a:latin typeface="LMRoman17-Regular"/>
                  </a:rPr>
                  <a:t>sistema aproximadamente en </a:t>
                </a:r>
                <a:r>
                  <a:rPr lang="es-ES" dirty="0">
                    <a:latin typeface="LMRoman17-Regular"/>
                  </a:rPr>
                  <a:t>alcanzar el equilibrio?</a:t>
                </a:r>
              </a:p>
              <a:p>
                <a:pPr marL="514350" indent="-514350">
                  <a:lnSpc>
                    <a:spcPct val="120000"/>
                  </a:lnSpc>
                  <a:buFont typeface="+mj-lt"/>
                  <a:buAutoNum type="arabicPeriod"/>
                </a:pPr>
                <a:r>
                  <a:rPr lang="es-ES" sz="2900" b="0" i="0" u="none" strike="noStrike" baseline="0" dirty="0">
                    <a:latin typeface="LMRoman17-Regular"/>
                  </a:rPr>
                  <a:t>Analizar</a:t>
                </a:r>
                <a:r>
                  <a:rPr lang="es-ES" sz="2900" b="0" i="0" u="none" strike="noStrike" dirty="0">
                    <a:latin typeface="LMRoman17-Regular"/>
                  </a:rPr>
                  <a:t> qué suc</a:t>
                </a:r>
                <a:r>
                  <a:rPr lang="es-ES" sz="2900" dirty="0">
                    <a:latin typeface="LMRoman17-Regular"/>
                  </a:rPr>
                  <a:t>ede cuando aumenta mucho el número de patrones (por simplicidad considerar </a:t>
                </a:r>
                <a14:m>
                  <m:oMath xmlns:m="http://schemas.openxmlformats.org/officeDocument/2006/math">
                    <m:r>
                      <a:rPr lang="es-ES" sz="2900" b="0" i="1" u="none" strike="noStrike" baseline="0" smtClean="0">
                        <a:latin typeface="Cambria Math" panose="02040503050406030204" pitchFamily="18" charset="0"/>
                      </a:rPr>
                      <m:t>𝑇</m:t>
                    </m:r>
                    <m:r>
                      <a:rPr lang="es-ES" sz="2900" b="0" i="1" u="none" strike="noStrike" baseline="0" smtClean="0">
                        <a:latin typeface="Cambria Math" panose="02040503050406030204" pitchFamily="18" charset="0"/>
                      </a:rPr>
                      <m:t>=0</m:t>
                    </m:r>
                    <m:r>
                      <a:rPr lang="es-ES" sz="2900" b="0" i="0" u="none" strike="noStrike" baseline="0" smtClean="0">
                        <a:latin typeface="Cambria Math" panose="02040503050406030204" pitchFamily="18" charset="0"/>
                      </a:rPr>
                      <m:t>)</m:t>
                    </m:r>
                  </m:oMath>
                </a14:m>
                <a:r>
                  <a:rPr lang="es-ES" sz="2900" b="0" i="0" u="none" strike="noStrike" baseline="0" dirty="0">
                    <a:latin typeface="LMRoman17-Regular"/>
                  </a:rPr>
                  <a:t>. </a:t>
                </a:r>
              </a:p>
              <a:p>
                <a:pPr marL="514350" indent="-514350">
                  <a:lnSpc>
                    <a:spcPct val="120000"/>
                  </a:lnSpc>
                  <a:buFont typeface="+mj-lt"/>
                  <a:buAutoNum type="arabicPeriod"/>
                </a:pPr>
                <a:r>
                  <a:rPr lang="es-ES" sz="2900" b="0" i="0" u="none" strike="noStrike" baseline="0" dirty="0">
                    <a:latin typeface="LMRoman17-Regular"/>
                  </a:rPr>
                  <a:t>Estudiar qu</a:t>
                </a:r>
                <a:r>
                  <a:rPr lang="es-ES" sz="2900" dirty="0">
                    <a:latin typeface="LMRoman17-Regular"/>
                  </a:rPr>
                  <a:t>é sucede cuando el estado inicial es inverso a uno de las memorias (</a:t>
                </a:r>
                <a:r>
                  <a:rPr lang="es-ES" sz="2900" dirty="0" err="1">
                    <a:latin typeface="LMRoman17-Regular"/>
                  </a:rPr>
                  <a:t>anti-patrón</a:t>
                </a:r>
                <a:r>
                  <a:rPr lang="es-ES" sz="2900" dirty="0">
                    <a:latin typeface="LMRoman17-Regular"/>
                  </a:rPr>
                  <a:t>). </a:t>
                </a:r>
                <a:endParaRPr lang="es-ES" sz="2900" b="0" i="0" u="none" strike="noStrike" baseline="0" dirty="0">
                  <a:latin typeface="LMRoman17-Regular"/>
                </a:endParaRPr>
              </a:p>
              <a:p>
                <a:pPr marL="514350" indent="-514350">
                  <a:lnSpc>
                    <a:spcPct val="120000"/>
                  </a:lnSpc>
                  <a:buFont typeface="+mj-lt"/>
                  <a:buAutoNum type="arabicPeriod"/>
                </a:pPr>
                <a:r>
                  <a:rPr lang="es-ES" sz="2900" dirty="0">
                    <a:latin typeface="LMRoman17-Regular"/>
                  </a:rPr>
                  <a:t>C</a:t>
                </a:r>
                <a:r>
                  <a:rPr lang="es-ES" sz="2900" b="0" i="0" u="none" strike="noStrike" baseline="0" dirty="0">
                    <a:latin typeface="LMRoman17-Regular"/>
                  </a:rPr>
                  <a:t>onsiderando una red de </a:t>
                </a:r>
                <a14:m>
                  <m:oMath xmlns:m="http://schemas.openxmlformats.org/officeDocument/2006/math">
                    <m:r>
                      <a:rPr lang="en-US" sz="2900" b="0" i="1" u="none" strike="noStrike" baseline="0" smtClean="0">
                        <a:latin typeface="Cambria Math" panose="02040503050406030204" pitchFamily="18" charset="0"/>
                      </a:rPr>
                      <m:t>𝑁</m:t>
                    </m:r>
                    <m:r>
                      <a:rPr lang="en-US" sz="2900" b="0" i="1" u="none" strike="noStrike" baseline="0" smtClean="0">
                        <a:latin typeface="Cambria Math" panose="02040503050406030204" pitchFamily="18" charset="0"/>
                      </a:rPr>
                      <m:t>=400</m:t>
                    </m:r>
                  </m:oMath>
                </a14:m>
                <a:r>
                  <a:rPr lang="es-ES" sz="2900" b="0" i="0" u="none" strike="noStrike" baseline="0" dirty="0">
                    <a:latin typeface="LMRoman17-Regular"/>
                  </a:rPr>
                  <a:t> neuronas, estudiar </a:t>
                </a:r>
                <a14:m>
                  <m:oMath xmlns:m="http://schemas.openxmlformats.org/officeDocument/2006/math">
                    <m:sSup>
                      <m:sSupPr>
                        <m:ctrlPr>
                          <a:rPr lang="en-US" sz="2900" i="1">
                            <a:latin typeface="Cambria Math" panose="02040503050406030204" pitchFamily="18" charset="0"/>
                          </a:rPr>
                        </m:ctrlPr>
                      </m:sSupPr>
                      <m:e>
                        <m:r>
                          <a:rPr lang="es-ES" sz="2900" i="1">
                            <a:latin typeface="Cambria Math" panose="02040503050406030204" pitchFamily="18" charset="0"/>
                          </a:rPr>
                          <m:t>𝑚</m:t>
                        </m:r>
                      </m:e>
                      <m:sup>
                        <m:r>
                          <a:rPr lang="en-US" sz="2900" i="1">
                            <a:latin typeface="Cambria Math" panose="02040503050406030204" pitchFamily="18" charset="0"/>
                          </a:rPr>
                          <m:t>𝜇</m:t>
                        </m:r>
                      </m:sup>
                    </m:sSup>
                  </m:oMath>
                </a14:m>
                <a:r>
                  <a:rPr lang="es-ES" sz="2900" b="0" i="0" u="none" strike="noStrike" baseline="0" dirty="0">
                    <a:latin typeface="LMRoman17-Regular"/>
                  </a:rPr>
                  <a:t> en los siguientes casos:</a:t>
                </a:r>
                <a:endParaRPr lang="es-ES" sz="2900" dirty="0">
                  <a:latin typeface="LMRoman17-Regular"/>
                </a:endParaRPr>
              </a:p>
              <a:p>
                <a:pPr marL="914400" lvl="1" indent="-457200">
                  <a:lnSpc>
                    <a:spcPct val="120000"/>
                  </a:lnSpc>
                  <a:buFont typeface="+mj-lt"/>
                  <a:buAutoNum type="arabicPeriod"/>
                </a:pPr>
                <a:r>
                  <a:rPr lang="es-ES" dirty="0">
                    <a:latin typeface="LMRoman17-Regular"/>
                  </a:rPr>
                  <a:t>Para P</a:t>
                </a:r>
                <a14:m>
                  <m:oMath xmlns:m="http://schemas.openxmlformats.org/officeDocument/2006/math">
                    <m:r>
                      <a:rPr lang="en-US" b="0" i="0" u="none" strike="noStrike" baseline="0" smtClean="0">
                        <a:latin typeface="Cambria Math" panose="02040503050406030204" pitchFamily="18" charset="0"/>
                      </a:rPr>
                      <m:t>=</m:t>
                    </m:r>
                    <m:r>
                      <a:rPr lang="es-ES" b="0" i="0" u="none" strike="noStrike" baseline="0" smtClean="0">
                        <a:latin typeface="Cambria Math" panose="02040503050406030204" pitchFamily="18" charset="0"/>
                      </a:rPr>
                      <m:t>1</m:t>
                    </m:r>
                  </m:oMath>
                </a14:m>
                <a:r>
                  <a:rPr lang="es-ES" dirty="0"/>
                  <a:t>, calcular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𝑚</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𝜇</m:t>
                        </m:r>
                        <m:r>
                          <a:rPr lang="en-US" b="0" i="1" smtClean="0">
                            <a:latin typeface="Cambria Math" panose="02040503050406030204" pitchFamily="18" charset="0"/>
                          </a:rPr>
                          <m:t>=0</m:t>
                        </m:r>
                      </m:sup>
                    </m:sSup>
                    <m:r>
                      <a:rPr lang="en-US" b="0" i="1" smtClean="0">
                        <a:latin typeface="Cambria Math" panose="02040503050406030204" pitchFamily="18" charset="0"/>
                      </a:rPr>
                      <m:t>|</m:t>
                    </m:r>
                  </m:oMath>
                </a14:m>
                <a:r>
                  <a:rPr lang="es-ES" dirty="0"/>
                  <a:t> en función de </a:t>
                </a:r>
                <a14:m>
                  <m:oMath xmlns:m="http://schemas.openxmlformats.org/officeDocument/2006/math">
                    <m:r>
                      <a:rPr lang="en-US" b="0" i="1" u="none" strike="noStrike" baseline="0" smtClean="0">
                        <a:latin typeface="Cambria Math" panose="02040503050406030204" pitchFamily="18" charset="0"/>
                      </a:rPr>
                      <m:t>𝑇</m:t>
                    </m:r>
                  </m:oMath>
                </a14:m>
                <a:r>
                  <a:rPr lang="es-ES" dirty="0"/>
                  <a:t>. ¿Cómo se comporta la curva? ¿Cuál es el comportamiento esperado?</a:t>
                </a:r>
                <a:endParaRPr lang="es-ES" sz="2800" b="0" i="0" u="none" strike="noStrike" baseline="0" dirty="0">
                  <a:latin typeface="LMRoman17-Regular"/>
                </a:endParaRPr>
              </a:p>
              <a:p>
                <a:pPr marL="914400" lvl="1" indent="-457200">
                  <a:lnSpc>
                    <a:spcPct val="120000"/>
                  </a:lnSpc>
                  <a:buFont typeface="+mj-lt"/>
                  <a:buAutoNum type="arabicPeriod"/>
                </a:pPr>
                <a:r>
                  <a:rPr lang="es-ES" b="0" i="0" u="none" strike="noStrike" baseline="0" dirty="0">
                    <a:latin typeface="LMRoman17-Regular"/>
                  </a:rPr>
                  <a:t>Para </a:t>
                </a:r>
                <a14:m>
                  <m:oMath xmlns:m="http://schemas.openxmlformats.org/officeDocument/2006/math">
                    <m:r>
                      <a:rPr lang="en-US" b="0" i="1" u="none" strike="noStrike" baseline="0" smtClean="0">
                        <a:latin typeface="Cambria Math" panose="02040503050406030204" pitchFamily="18" charset="0"/>
                      </a:rPr>
                      <m:t>𝑇</m:t>
                    </m:r>
                    <m:r>
                      <a:rPr lang="en-US" b="0" i="0" u="none" strike="noStrike" baseline="0" smtClean="0">
                        <a:latin typeface="Cambria Math" panose="02040503050406030204" pitchFamily="18" charset="0"/>
                      </a:rPr>
                      <m:t>=0</m:t>
                    </m:r>
                  </m:oMath>
                </a14:m>
                <a:r>
                  <a:rPr lang="es-ES" b="0" u="none" strike="noStrike" baseline="0" dirty="0">
                    <a:latin typeface="LMMathItalic12-Regular"/>
                  </a:rPr>
                  <a:t>, en funci</a:t>
                </a:r>
                <a:r>
                  <a:rPr lang="es-ES" dirty="0">
                    <a:latin typeface="LMMathItalic12-Regular"/>
                  </a:rPr>
                  <a:t>ón del número de memorias almacenadas </a:t>
                </a:r>
                <a14:m>
                  <m:oMath xmlns:m="http://schemas.openxmlformats.org/officeDocument/2006/math">
                    <m:r>
                      <a:rPr lang="es-ES" b="0" i="1" smtClean="0">
                        <a:latin typeface="Cambria Math" panose="02040503050406030204" pitchFamily="18" charset="0"/>
                      </a:rPr>
                      <m:t>𝑃</m:t>
                    </m:r>
                  </m:oMath>
                </a14:m>
                <a:r>
                  <a:rPr lang="es-ES" dirty="0">
                    <a:latin typeface="LMMathItalic12-Regular"/>
                  </a:rPr>
                  <a:t>. </a:t>
                </a:r>
                <a:r>
                  <a:rPr lang="es-ES" b="0" i="0" u="none" strike="noStrike" baseline="0" dirty="0">
                    <a:latin typeface="LMRoman17-Regular"/>
                  </a:rPr>
                  <a:t>Asumiendo que una memoria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𝜉</m:t>
                        </m:r>
                      </m:e>
                      <m:sup>
                        <m:r>
                          <a:rPr lang="en-US" b="0" i="1" smtClean="0">
                            <a:latin typeface="Cambria Math" panose="02040503050406030204" pitchFamily="18" charset="0"/>
                          </a:rPr>
                          <m:t>𝜇</m:t>
                        </m:r>
                      </m:sup>
                    </m:sSup>
                  </m:oMath>
                </a14:m>
                <a:r>
                  <a:rPr lang="es-ES" b="0" i="0" u="none" strike="noStrike" baseline="0" dirty="0">
                    <a:latin typeface="LMRoman17-Regular"/>
                  </a:rPr>
                  <a:t> se “recuerda” si </a:t>
                </a:r>
                <a14:m>
                  <m:oMath xmlns:m="http://schemas.openxmlformats.org/officeDocument/2006/math">
                    <m:r>
                      <a:rPr lang="en-US" b="0" i="0" smtClean="0">
                        <a:latin typeface="Cambria Math" panose="02040503050406030204" pitchFamily="18" charset="0"/>
                      </a:rPr>
                      <m:t>|</m:t>
                    </m:r>
                    <m:sSup>
                      <m:sSupPr>
                        <m:ctrlPr>
                          <a:rPr lang="en-US" i="1" smtClean="0">
                            <a:latin typeface="Cambria Math" panose="02040503050406030204" pitchFamily="18" charset="0"/>
                          </a:rPr>
                        </m:ctrlPr>
                      </m:sSupPr>
                      <m:e>
                        <m:r>
                          <a:rPr lang="es-ES" i="1">
                            <a:latin typeface="Cambria Math" panose="02040503050406030204" pitchFamily="18" charset="0"/>
                          </a:rPr>
                          <m:t>𝑚</m:t>
                        </m:r>
                      </m:e>
                      <m:sup>
                        <m:r>
                          <a:rPr lang="en-US" i="1">
                            <a:latin typeface="Cambria Math" panose="02040503050406030204" pitchFamily="18" charset="0"/>
                          </a:rPr>
                          <m:t>𝜇</m:t>
                        </m:r>
                      </m:sup>
                    </m:sSup>
                    <m:r>
                      <a:rPr lang="en-US" b="0" i="1" smtClean="0">
                        <a:latin typeface="Cambria Math" panose="02040503050406030204" pitchFamily="18" charset="0"/>
                      </a:rPr>
                      <m:t>|&gt;0.75</m:t>
                    </m:r>
                  </m:oMath>
                </a14:m>
                <a:r>
                  <a:rPr lang="es-ES" b="0" i="0" u="none" strike="noStrike" baseline="0" dirty="0">
                    <a:latin typeface="LMRoman17-Regular"/>
                  </a:rPr>
                  <a:t>, calcular la fracción máxima </a:t>
                </a:r>
                <a14:m>
                  <m:oMath xmlns:m="http://schemas.openxmlformats.org/officeDocument/2006/math">
                    <m:sSub>
                      <m:sSubPr>
                        <m:ctrlPr>
                          <a:rPr lang="en-US" b="0" i="1" u="none" strike="noStrike" baseline="0" smtClean="0">
                            <a:latin typeface="Cambria Math" panose="02040503050406030204" pitchFamily="18" charset="0"/>
                          </a:rPr>
                        </m:ctrlPr>
                      </m:sSubPr>
                      <m:e>
                        <m:r>
                          <a:rPr lang="en-US" b="0" i="1" u="none" strike="noStrike" baseline="0" smtClean="0">
                            <a:latin typeface="Cambria Math" panose="02040503050406030204" pitchFamily="18" charset="0"/>
                          </a:rPr>
                          <m:t>𝛼</m:t>
                        </m:r>
                      </m:e>
                      <m:sub>
                        <m:r>
                          <a:rPr lang="en-US" b="0" i="1" u="none" strike="noStrike" baseline="0" smtClean="0">
                            <a:latin typeface="Cambria Math" panose="02040503050406030204" pitchFamily="18" charset="0"/>
                          </a:rPr>
                          <m:t>𝑐</m:t>
                        </m:r>
                      </m:sub>
                    </m:sSub>
                    <m:r>
                      <a:rPr lang="en-US" b="0" i="1" u="none" strike="noStrike" baseline="0" smtClean="0">
                        <a:latin typeface="Cambria Math" panose="02040503050406030204" pitchFamily="18" charset="0"/>
                      </a:rPr>
                      <m:t>=</m:t>
                    </m:r>
                    <m:sSub>
                      <m:sSubPr>
                        <m:ctrlPr>
                          <a:rPr lang="en-US" b="0" i="1" u="none" strike="noStrike" baseline="0" smtClean="0">
                            <a:latin typeface="Cambria Math" panose="02040503050406030204" pitchFamily="18" charset="0"/>
                          </a:rPr>
                        </m:ctrlPr>
                      </m:sSubPr>
                      <m:e>
                        <m:r>
                          <a:rPr lang="en-US" b="0" i="1" u="none" strike="noStrike" baseline="0" smtClean="0">
                            <a:latin typeface="Cambria Math" panose="02040503050406030204" pitchFamily="18" charset="0"/>
                          </a:rPr>
                          <m:t>𝑃</m:t>
                        </m:r>
                      </m:e>
                      <m:sub>
                        <m:r>
                          <a:rPr lang="en-US" b="0" i="1" u="none" strike="noStrike" baseline="0" smtClean="0">
                            <a:latin typeface="Cambria Math" panose="02040503050406030204" pitchFamily="18" charset="0"/>
                          </a:rPr>
                          <m:t>𝑐</m:t>
                        </m:r>
                      </m:sub>
                    </m:sSub>
                    <m:r>
                      <a:rPr lang="en-US" b="0" i="1" u="none" strike="noStrike" baseline="0" smtClean="0">
                        <a:latin typeface="Cambria Math" panose="02040503050406030204" pitchFamily="18" charset="0"/>
                      </a:rPr>
                      <m:t>/</m:t>
                    </m:r>
                    <m:r>
                      <a:rPr lang="en-US" b="0" i="1" u="none" strike="noStrike" baseline="0" smtClean="0">
                        <a:latin typeface="Cambria Math" panose="02040503050406030204" pitchFamily="18" charset="0"/>
                      </a:rPr>
                      <m:t>𝑁</m:t>
                    </m:r>
                  </m:oMath>
                </a14:m>
                <a:r>
                  <a:rPr lang="es-ES" b="0" i="0" u="none" strike="noStrike" baseline="0" dirty="0">
                    <a:latin typeface="LMRoman17-Regular"/>
                  </a:rPr>
                  <a:t> de patrones que la red podrá almacenar de forma que aún</a:t>
                </a:r>
                <a:r>
                  <a:rPr lang="es-ES" b="0" i="0" u="none" strike="noStrike" dirty="0">
                    <a:latin typeface="LMRoman17-Regular"/>
                  </a:rPr>
                  <a:t> pueda recordar los patrones.</a:t>
                </a:r>
                <a:endParaRPr lang="es-ES" dirty="0"/>
              </a:p>
            </p:txBody>
          </p:sp>
        </mc:Choice>
        <mc:Fallback xmlns="">
          <p:sp>
            <p:nvSpPr>
              <p:cNvPr id="3" name="Marcador de contenido 2">
                <a:extLst>
                  <a:ext uri="{FF2B5EF4-FFF2-40B4-BE49-F238E27FC236}">
                    <a16:creationId xmlns:a16="http://schemas.microsoft.com/office/drawing/2014/main" id="{CE5A1F8F-9541-DC7F-8A0F-CF71BFB2BD34}"/>
                  </a:ext>
                </a:extLst>
              </p:cNvPr>
              <p:cNvSpPr>
                <a:spLocks noGrp="1" noRot="1" noChangeAspect="1" noMove="1" noResize="1" noEditPoints="1" noAdjustHandles="1" noChangeArrowheads="1" noChangeShapeType="1" noTextEdit="1"/>
              </p:cNvSpPr>
              <p:nvPr>
                <p:ph idx="1"/>
              </p:nvPr>
            </p:nvSpPr>
            <p:spPr>
              <a:xfrm>
                <a:off x="699247" y="1186415"/>
                <a:ext cx="10654553" cy="4796491"/>
              </a:xfrm>
              <a:blipFill>
                <a:blip r:embed="rId2"/>
                <a:stretch>
                  <a:fillRect l="-515" t="-763" r="-801"/>
                </a:stretch>
              </a:blipFill>
            </p:spPr>
            <p:txBody>
              <a:bodyPr/>
              <a:lstStyle/>
              <a:p>
                <a:r>
                  <a:rPr lang="es-ES">
                    <a:noFill/>
                  </a:rPr>
                  <a:t> </a:t>
                </a:r>
              </a:p>
            </p:txBody>
          </p:sp>
        </mc:Fallback>
      </mc:AlternateContent>
      <p:sp>
        <p:nvSpPr>
          <p:cNvPr id="4" name="Marcador de número de diapositiva 3">
            <a:extLst>
              <a:ext uri="{FF2B5EF4-FFF2-40B4-BE49-F238E27FC236}">
                <a16:creationId xmlns:a16="http://schemas.microsoft.com/office/drawing/2014/main" id="{8CD953CC-4D41-189B-ABB8-BEC702EFFE3C}"/>
              </a:ext>
            </a:extLst>
          </p:cNvPr>
          <p:cNvSpPr>
            <a:spLocks noGrp="1"/>
          </p:cNvSpPr>
          <p:nvPr>
            <p:ph type="sldNum" sz="quarter" idx="12"/>
          </p:nvPr>
        </p:nvSpPr>
        <p:spPr/>
        <p:txBody>
          <a:bodyPr/>
          <a:lstStyle/>
          <a:p>
            <a:fld id="{88E1B2F9-3B1C-4967-856A-F7149D8E0B1F}" type="slidenum">
              <a:rPr lang="es-ES" smtClean="0"/>
              <a:t>13</a:t>
            </a:fld>
            <a:endParaRPr lang="es-ES"/>
          </a:p>
        </p:txBody>
      </p:sp>
      <p:sp>
        <p:nvSpPr>
          <p:cNvPr id="7" name="Título 1">
            <a:extLst>
              <a:ext uri="{FF2B5EF4-FFF2-40B4-BE49-F238E27FC236}">
                <a16:creationId xmlns:a16="http://schemas.microsoft.com/office/drawing/2014/main" id="{DC0ABD56-0CED-D82C-7219-95E48C29176F}"/>
              </a:ext>
            </a:extLst>
          </p:cNvPr>
          <p:cNvSpPr txBox="1">
            <a:spLocks/>
          </p:cNvSpPr>
          <p:nvPr/>
        </p:nvSpPr>
        <p:spPr>
          <a:xfrm>
            <a:off x="0" y="104764"/>
            <a:ext cx="12192000" cy="708208"/>
          </a:xfrm>
          <a:prstGeom prst="rect">
            <a:avLst/>
          </a:prstGeom>
          <a:solidFill>
            <a:schemeClr val="accent6">
              <a:lumMod val="20000"/>
              <a:lumOff val="8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b="1" dirty="0"/>
              <a:t>Modelo de </a:t>
            </a:r>
            <a:r>
              <a:rPr lang="es-ES" sz="2800" b="1" dirty="0" err="1"/>
              <a:t>Hopfield</a:t>
            </a:r>
            <a:r>
              <a:rPr lang="es-ES" sz="2800" b="1" dirty="0"/>
              <a:t> de red neuronal: Objetivos</a:t>
            </a:r>
          </a:p>
        </p:txBody>
      </p:sp>
    </p:spTree>
    <p:extLst>
      <p:ext uri="{BB962C8B-B14F-4D97-AF65-F5344CB8AC3E}">
        <p14:creationId xmlns:p14="http://schemas.microsoft.com/office/powerpoint/2010/main" val="237687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0286396-CE1A-C8C7-35BD-36B185585266}"/>
              </a:ext>
            </a:extLst>
          </p:cNvPr>
          <p:cNvPicPr>
            <a:picLocks noChangeAspect="1"/>
          </p:cNvPicPr>
          <p:nvPr/>
        </p:nvPicPr>
        <p:blipFill>
          <a:blip r:embed="rId2"/>
          <a:srcRect b="15247"/>
          <a:stretch/>
        </p:blipFill>
        <p:spPr>
          <a:xfrm>
            <a:off x="1061483" y="1010459"/>
            <a:ext cx="9044513" cy="2631849"/>
          </a:xfrm>
          <a:prstGeom prst="rect">
            <a:avLst/>
          </a:prstGeom>
        </p:spPr>
      </p:pic>
      <p:sp>
        <p:nvSpPr>
          <p:cNvPr id="6" name="Título 1">
            <a:extLst>
              <a:ext uri="{FF2B5EF4-FFF2-40B4-BE49-F238E27FC236}">
                <a16:creationId xmlns:a16="http://schemas.microsoft.com/office/drawing/2014/main" id="{3868F0CE-2BDB-2EA9-352D-A844F1B4B47E}"/>
              </a:ext>
            </a:extLst>
          </p:cNvPr>
          <p:cNvSpPr txBox="1">
            <a:spLocks/>
          </p:cNvSpPr>
          <p:nvPr/>
        </p:nvSpPr>
        <p:spPr>
          <a:xfrm>
            <a:off x="0" y="104764"/>
            <a:ext cx="12192000" cy="708208"/>
          </a:xfrm>
          <a:prstGeom prst="rect">
            <a:avLst/>
          </a:prstGeom>
          <a:solidFill>
            <a:schemeClr val="accent6">
              <a:lumMod val="20000"/>
              <a:lumOff val="8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2800" dirty="0"/>
              <a:t>Modelo de </a:t>
            </a:r>
            <a:r>
              <a:rPr lang="es-ES" sz="2800" dirty="0" err="1"/>
              <a:t>Hopfield</a:t>
            </a:r>
            <a:r>
              <a:rPr lang="es-ES" sz="2800" dirty="0"/>
              <a:t> de red neuronal: Ejemplos de patrones</a:t>
            </a:r>
          </a:p>
        </p:txBody>
      </p:sp>
      <p:pic>
        <p:nvPicPr>
          <p:cNvPr id="9218" name="Picture 2" descr="Neural networks and deep learning">
            <a:extLst>
              <a:ext uri="{FF2B5EF4-FFF2-40B4-BE49-F238E27FC236}">
                <a16:creationId xmlns:a16="http://schemas.microsoft.com/office/drawing/2014/main" id="{20FEE2A2-A8C7-95C1-E46D-A9D198F949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5048" y="3936694"/>
            <a:ext cx="3204882" cy="2566459"/>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36713CB-26E4-668C-1C20-EBD659F54FD0}"/>
              </a:ext>
            </a:extLst>
          </p:cNvPr>
          <p:cNvSpPr/>
          <p:nvPr/>
        </p:nvSpPr>
        <p:spPr>
          <a:xfrm>
            <a:off x="7602467" y="4196287"/>
            <a:ext cx="295836" cy="29583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a:extLst>
              <a:ext uri="{FF2B5EF4-FFF2-40B4-BE49-F238E27FC236}">
                <a16:creationId xmlns:a16="http://schemas.microsoft.com/office/drawing/2014/main" id="{013C3B9B-9547-FF7E-93F5-4AF4E7FAC589}"/>
              </a:ext>
            </a:extLst>
          </p:cNvPr>
          <p:cNvSpPr/>
          <p:nvPr/>
        </p:nvSpPr>
        <p:spPr>
          <a:xfrm>
            <a:off x="7602072" y="4507767"/>
            <a:ext cx="295836" cy="29583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Rectángulo 8">
            <a:extLst>
              <a:ext uri="{FF2B5EF4-FFF2-40B4-BE49-F238E27FC236}">
                <a16:creationId xmlns:a16="http://schemas.microsoft.com/office/drawing/2014/main" id="{8C611DB1-CF9F-CD76-46AD-E74E01E6F446}"/>
              </a:ext>
            </a:extLst>
          </p:cNvPr>
          <p:cNvSpPr/>
          <p:nvPr/>
        </p:nvSpPr>
        <p:spPr>
          <a:xfrm>
            <a:off x="7602467" y="4817568"/>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9">
            <a:extLst>
              <a:ext uri="{FF2B5EF4-FFF2-40B4-BE49-F238E27FC236}">
                <a16:creationId xmlns:a16="http://schemas.microsoft.com/office/drawing/2014/main" id="{2D7682FD-9EBC-5449-5E75-A185E114D884}"/>
              </a:ext>
            </a:extLst>
          </p:cNvPr>
          <p:cNvSpPr/>
          <p:nvPr/>
        </p:nvSpPr>
        <p:spPr>
          <a:xfrm>
            <a:off x="7602072" y="5121009"/>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ángulo 10">
            <a:extLst>
              <a:ext uri="{FF2B5EF4-FFF2-40B4-BE49-F238E27FC236}">
                <a16:creationId xmlns:a16="http://schemas.microsoft.com/office/drawing/2014/main" id="{659164F0-CAC5-EB65-D9F4-BD357895AA9D}"/>
              </a:ext>
            </a:extLst>
          </p:cNvPr>
          <p:cNvSpPr/>
          <p:nvPr/>
        </p:nvSpPr>
        <p:spPr>
          <a:xfrm>
            <a:off x="7602072" y="5430810"/>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Rectángulo 11">
            <a:extLst>
              <a:ext uri="{FF2B5EF4-FFF2-40B4-BE49-F238E27FC236}">
                <a16:creationId xmlns:a16="http://schemas.microsoft.com/office/drawing/2014/main" id="{2487B124-C92C-1E3B-84A7-8E403A03E357}"/>
              </a:ext>
            </a:extLst>
          </p:cNvPr>
          <p:cNvSpPr/>
          <p:nvPr/>
        </p:nvSpPr>
        <p:spPr>
          <a:xfrm>
            <a:off x="7602072" y="6050412"/>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Rectángulo 12">
            <a:extLst>
              <a:ext uri="{FF2B5EF4-FFF2-40B4-BE49-F238E27FC236}">
                <a16:creationId xmlns:a16="http://schemas.microsoft.com/office/drawing/2014/main" id="{0C591C40-CE49-63DB-6E1A-0C62E13F77EA}"/>
              </a:ext>
            </a:extLst>
          </p:cNvPr>
          <p:cNvSpPr/>
          <p:nvPr/>
        </p:nvSpPr>
        <p:spPr>
          <a:xfrm>
            <a:off x="7602072" y="5740611"/>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Rectángulo 13">
            <a:extLst>
              <a:ext uri="{FF2B5EF4-FFF2-40B4-BE49-F238E27FC236}">
                <a16:creationId xmlns:a16="http://schemas.microsoft.com/office/drawing/2014/main" id="{4EF4DA66-DC97-8630-08DF-073CC342124D}"/>
              </a:ext>
            </a:extLst>
          </p:cNvPr>
          <p:cNvSpPr/>
          <p:nvPr/>
        </p:nvSpPr>
        <p:spPr>
          <a:xfrm>
            <a:off x="7602072" y="6346248"/>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ángulo 14">
            <a:extLst>
              <a:ext uri="{FF2B5EF4-FFF2-40B4-BE49-F238E27FC236}">
                <a16:creationId xmlns:a16="http://schemas.microsoft.com/office/drawing/2014/main" id="{58D59A9C-AC48-8E7F-3C04-985E36FFEAF5}"/>
              </a:ext>
            </a:extLst>
          </p:cNvPr>
          <p:cNvSpPr/>
          <p:nvPr/>
        </p:nvSpPr>
        <p:spPr>
          <a:xfrm>
            <a:off x="8002517" y="4196287"/>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Rectángulo 15">
            <a:extLst>
              <a:ext uri="{FF2B5EF4-FFF2-40B4-BE49-F238E27FC236}">
                <a16:creationId xmlns:a16="http://schemas.microsoft.com/office/drawing/2014/main" id="{0F125BD1-F203-5EE4-98E7-BC771817ADEB}"/>
              </a:ext>
            </a:extLst>
          </p:cNvPr>
          <p:cNvSpPr/>
          <p:nvPr/>
        </p:nvSpPr>
        <p:spPr>
          <a:xfrm>
            <a:off x="8002122" y="4507767"/>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Rectángulo 16">
            <a:extLst>
              <a:ext uri="{FF2B5EF4-FFF2-40B4-BE49-F238E27FC236}">
                <a16:creationId xmlns:a16="http://schemas.microsoft.com/office/drawing/2014/main" id="{BFE02E2D-D1D5-E87B-2C62-E31AD41C935C}"/>
              </a:ext>
            </a:extLst>
          </p:cNvPr>
          <p:cNvSpPr/>
          <p:nvPr/>
        </p:nvSpPr>
        <p:spPr>
          <a:xfrm>
            <a:off x="8002517" y="4817568"/>
            <a:ext cx="295836" cy="29583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Rectángulo 17">
            <a:extLst>
              <a:ext uri="{FF2B5EF4-FFF2-40B4-BE49-F238E27FC236}">
                <a16:creationId xmlns:a16="http://schemas.microsoft.com/office/drawing/2014/main" id="{F566D178-9675-7157-8F36-F26CC3813630}"/>
              </a:ext>
            </a:extLst>
          </p:cNvPr>
          <p:cNvSpPr/>
          <p:nvPr/>
        </p:nvSpPr>
        <p:spPr>
          <a:xfrm>
            <a:off x="8002122" y="5121009"/>
            <a:ext cx="295836" cy="29583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Rectángulo 18">
            <a:extLst>
              <a:ext uri="{FF2B5EF4-FFF2-40B4-BE49-F238E27FC236}">
                <a16:creationId xmlns:a16="http://schemas.microsoft.com/office/drawing/2014/main" id="{469584E2-3EFA-F7B5-4708-708921F11190}"/>
              </a:ext>
            </a:extLst>
          </p:cNvPr>
          <p:cNvSpPr/>
          <p:nvPr/>
        </p:nvSpPr>
        <p:spPr>
          <a:xfrm>
            <a:off x="8002122" y="5430810"/>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Rectángulo 19">
            <a:extLst>
              <a:ext uri="{FF2B5EF4-FFF2-40B4-BE49-F238E27FC236}">
                <a16:creationId xmlns:a16="http://schemas.microsoft.com/office/drawing/2014/main" id="{E2B95CFA-0C25-F1C0-9CB9-02343AE1220D}"/>
              </a:ext>
            </a:extLst>
          </p:cNvPr>
          <p:cNvSpPr/>
          <p:nvPr/>
        </p:nvSpPr>
        <p:spPr>
          <a:xfrm>
            <a:off x="8002122" y="6050412"/>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Rectángulo 20">
            <a:extLst>
              <a:ext uri="{FF2B5EF4-FFF2-40B4-BE49-F238E27FC236}">
                <a16:creationId xmlns:a16="http://schemas.microsoft.com/office/drawing/2014/main" id="{723B125F-6321-4104-7B96-E9F8D8899442}"/>
              </a:ext>
            </a:extLst>
          </p:cNvPr>
          <p:cNvSpPr/>
          <p:nvPr/>
        </p:nvSpPr>
        <p:spPr>
          <a:xfrm>
            <a:off x="8002122" y="5740611"/>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Rectángulo 21">
            <a:extLst>
              <a:ext uri="{FF2B5EF4-FFF2-40B4-BE49-F238E27FC236}">
                <a16:creationId xmlns:a16="http://schemas.microsoft.com/office/drawing/2014/main" id="{35EBE942-0BAB-B525-862C-A3E5EE95DC69}"/>
              </a:ext>
            </a:extLst>
          </p:cNvPr>
          <p:cNvSpPr/>
          <p:nvPr/>
        </p:nvSpPr>
        <p:spPr>
          <a:xfrm>
            <a:off x="8002122" y="6346248"/>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Rectángulo 22">
            <a:extLst>
              <a:ext uri="{FF2B5EF4-FFF2-40B4-BE49-F238E27FC236}">
                <a16:creationId xmlns:a16="http://schemas.microsoft.com/office/drawing/2014/main" id="{866D9B37-3742-7E57-CD79-9F6D5C37DBF1}"/>
              </a:ext>
            </a:extLst>
          </p:cNvPr>
          <p:cNvSpPr/>
          <p:nvPr/>
        </p:nvSpPr>
        <p:spPr>
          <a:xfrm>
            <a:off x="8402567" y="4196287"/>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Rectángulo 23">
            <a:extLst>
              <a:ext uri="{FF2B5EF4-FFF2-40B4-BE49-F238E27FC236}">
                <a16:creationId xmlns:a16="http://schemas.microsoft.com/office/drawing/2014/main" id="{C415D55D-CBD2-D8D8-3549-275046D910A0}"/>
              </a:ext>
            </a:extLst>
          </p:cNvPr>
          <p:cNvSpPr/>
          <p:nvPr/>
        </p:nvSpPr>
        <p:spPr>
          <a:xfrm>
            <a:off x="8402172" y="4507767"/>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Rectángulo 24">
            <a:extLst>
              <a:ext uri="{FF2B5EF4-FFF2-40B4-BE49-F238E27FC236}">
                <a16:creationId xmlns:a16="http://schemas.microsoft.com/office/drawing/2014/main" id="{2FB51B33-C16F-A1E6-537A-E133E924D480}"/>
              </a:ext>
            </a:extLst>
          </p:cNvPr>
          <p:cNvSpPr/>
          <p:nvPr/>
        </p:nvSpPr>
        <p:spPr>
          <a:xfrm>
            <a:off x="8402567" y="4817568"/>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Rectángulo 25">
            <a:extLst>
              <a:ext uri="{FF2B5EF4-FFF2-40B4-BE49-F238E27FC236}">
                <a16:creationId xmlns:a16="http://schemas.microsoft.com/office/drawing/2014/main" id="{E2E00B56-70CF-2C35-DC29-270B0B41294D}"/>
              </a:ext>
            </a:extLst>
          </p:cNvPr>
          <p:cNvSpPr/>
          <p:nvPr/>
        </p:nvSpPr>
        <p:spPr>
          <a:xfrm>
            <a:off x="8402172" y="5121009"/>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Rectángulo 26">
            <a:extLst>
              <a:ext uri="{FF2B5EF4-FFF2-40B4-BE49-F238E27FC236}">
                <a16:creationId xmlns:a16="http://schemas.microsoft.com/office/drawing/2014/main" id="{C5A84493-1AEE-193B-F035-C5FBE8F27033}"/>
              </a:ext>
            </a:extLst>
          </p:cNvPr>
          <p:cNvSpPr/>
          <p:nvPr/>
        </p:nvSpPr>
        <p:spPr>
          <a:xfrm>
            <a:off x="8402172" y="5430810"/>
            <a:ext cx="295836" cy="29583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Rectángulo 27">
            <a:extLst>
              <a:ext uri="{FF2B5EF4-FFF2-40B4-BE49-F238E27FC236}">
                <a16:creationId xmlns:a16="http://schemas.microsoft.com/office/drawing/2014/main" id="{0FA644E6-8FCD-4828-C446-F306EDB6EE2B}"/>
              </a:ext>
            </a:extLst>
          </p:cNvPr>
          <p:cNvSpPr/>
          <p:nvPr/>
        </p:nvSpPr>
        <p:spPr>
          <a:xfrm>
            <a:off x="8402172" y="6050412"/>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Rectángulo 28">
            <a:extLst>
              <a:ext uri="{FF2B5EF4-FFF2-40B4-BE49-F238E27FC236}">
                <a16:creationId xmlns:a16="http://schemas.microsoft.com/office/drawing/2014/main" id="{504C1D6D-B0B2-9E5F-88A1-24A1F6933314}"/>
              </a:ext>
            </a:extLst>
          </p:cNvPr>
          <p:cNvSpPr/>
          <p:nvPr/>
        </p:nvSpPr>
        <p:spPr>
          <a:xfrm>
            <a:off x="8402172" y="5740611"/>
            <a:ext cx="295836" cy="29583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Rectángulo 29">
            <a:extLst>
              <a:ext uri="{FF2B5EF4-FFF2-40B4-BE49-F238E27FC236}">
                <a16:creationId xmlns:a16="http://schemas.microsoft.com/office/drawing/2014/main" id="{67DF0381-BEE3-80B2-F978-18E649CB8784}"/>
              </a:ext>
            </a:extLst>
          </p:cNvPr>
          <p:cNvSpPr/>
          <p:nvPr/>
        </p:nvSpPr>
        <p:spPr>
          <a:xfrm>
            <a:off x="8402172" y="6346248"/>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Rectángulo 30">
            <a:extLst>
              <a:ext uri="{FF2B5EF4-FFF2-40B4-BE49-F238E27FC236}">
                <a16:creationId xmlns:a16="http://schemas.microsoft.com/office/drawing/2014/main" id="{BF4A7920-096B-E1D8-4EE2-1107549530BD}"/>
              </a:ext>
            </a:extLst>
          </p:cNvPr>
          <p:cNvSpPr/>
          <p:nvPr/>
        </p:nvSpPr>
        <p:spPr>
          <a:xfrm>
            <a:off x="8802617" y="4196287"/>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2" name="Rectángulo 31">
            <a:extLst>
              <a:ext uri="{FF2B5EF4-FFF2-40B4-BE49-F238E27FC236}">
                <a16:creationId xmlns:a16="http://schemas.microsoft.com/office/drawing/2014/main" id="{89574031-7883-1740-787E-8D40EF9FABE3}"/>
              </a:ext>
            </a:extLst>
          </p:cNvPr>
          <p:cNvSpPr/>
          <p:nvPr/>
        </p:nvSpPr>
        <p:spPr>
          <a:xfrm>
            <a:off x="8802222" y="4507767"/>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Rectángulo 32">
            <a:extLst>
              <a:ext uri="{FF2B5EF4-FFF2-40B4-BE49-F238E27FC236}">
                <a16:creationId xmlns:a16="http://schemas.microsoft.com/office/drawing/2014/main" id="{D57B54DA-ACA6-AC89-634F-7A9AE002459C}"/>
              </a:ext>
            </a:extLst>
          </p:cNvPr>
          <p:cNvSpPr/>
          <p:nvPr/>
        </p:nvSpPr>
        <p:spPr>
          <a:xfrm>
            <a:off x="8802617" y="4817568"/>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Rectángulo 33">
            <a:extLst>
              <a:ext uri="{FF2B5EF4-FFF2-40B4-BE49-F238E27FC236}">
                <a16:creationId xmlns:a16="http://schemas.microsoft.com/office/drawing/2014/main" id="{7D4BDF3F-D1A8-6793-8969-68668D7E73F0}"/>
              </a:ext>
            </a:extLst>
          </p:cNvPr>
          <p:cNvSpPr/>
          <p:nvPr/>
        </p:nvSpPr>
        <p:spPr>
          <a:xfrm>
            <a:off x="8802222" y="5121009"/>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Rectángulo 34">
            <a:extLst>
              <a:ext uri="{FF2B5EF4-FFF2-40B4-BE49-F238E27FC236}">
                <a16:creationId xmlns:a16="http://schemas.microsoft.com/office/drawing/2014/main" id="{1F109FD3-89B6-C141-73EA-06AA5F90EC67}"/>
              </a:ext>
            </a:extLst>
          </p:cNvPr>
          <p:cNvSpPr/>
          <p:nvPr/>
        </p:nvSpPr>
        <p:spPr>
          <a:xfrm>
            <a:off x="8802222" y="5430810"/>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Rectángulo 35">
            <a:extLst>
              <a:ext uri="{FF2B5EF4-FFF2-40B4-BE49-F238E27FC236}">
                <a16:creationId xmlns:a16="http://schemas.microsoft.com/office/drawing/2014/main" id="{DB70D6C5-64F4-F29F-BCC7-588A55DF16A2}"/>
              </a:ext>
            </a:extLst>
          </p:cNvPr>
          <p:cNvSpPr/>
          <p:nvPr/>
        </p:nvSpPr>
        <p:spPr>
          <a:xfrm>
            <a:off x="8802222" y="6050412"/>
            <a:ext cx="295836" cy="29583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Rectángulo 36">
            <a:extLst>
              <a:ext uri="{FF2B5EF4-FFF2-40B4-BE49-F238E27FC236}">
                <a16:creationId xmlns:a16="http://schemas.microsoft.com/office/drawing/2014/main" id="{3705454F-3BBD-660B-0EA6-9E5155DBA8DE}"/>
              </a:ext>
            </a:extLst>
          </p:cNvPr>
          <p:cNvSpPr/>
          <p:nvPr/>
        </p:nvSpPr>
        <p:spPr>
          <a:xfrm>
            <a:off x="8802222" y="5740611"/>
            <a:ext cx="295836" cy="29583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8" name="Rectángulo 37">
            <a:extLst>
              <a:ext uri="{FF2B5EF4-FFF2-40B4-BE49-F238E27FC236}">
                <a16:creationId xmlns:a16="http://schemas.microsoft.com/office/drawing/2014/main" id="{610BD081-6CF0-569D-6E38-82383A21713D}"/>
              </a:ext>
            </a:extLst>
          </p:cNvPr>
          <p:cNvSpPr/>
          <p:nvPr/>
        </p:nvSpPr>
        <p:spPr>
          <a:xfrm>
            <a:off x="8802222" y="6346248"/>
            <a:ext cx="295836" cy="29583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93B24A1D-EACF-1421-0418-759E118EA57C}"/>
                  </a:ext>
                </a:extLst>
              </p:cNvPr>
              <p:cNvSpPr txBox="1"/>
              <p:nvPr/>
            </p:nvSpPr>
            <p:spPr>
              <a:xfrm>
                <a:off x="7615779" y="3845178"/>
                <a:ext cx="28212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1" i="1" smtClean="0">
                              <a:latin typeface="Cambria Math" panose="02040503050406030204" pitchFamily="18" charset="0"/>
                            </a:rPr>
                            <m:t>𝝃</m:t>
                          </m:r>
                        </m:e>
                        <m:sup>
                          <m:r>
                            <a:rPr lang="en-US" b="0" i="1" smtClean="0">
                              <a:latin typeface="Cambria Math" panose="02040503050406030204" pitchFamily="18" charset="0"/>
                            </a:rPr>
                            <m:t>0</m:t>
                          </m:r>
                        </m:sup>
                      </m:sSup>
                    </m:oMath>
                  </m:oMathPara>
                </a14:m>
                <a:endParaRPr lang="es-ES" dirty="0"/>
              </a:p>
            </p:txBody>
          </p:sp>
        </mc:Choice>
        <mc:Fallback xmlns="">
          <p:sp>
            <p:nvSpPr>
              <p:cNvPr id="39" name="CuadroTexto 38">
                <a:extLst>
                  <a:ext uri="{FF2B5EF4-FFF2-40B4-BE49-F238E27FC236}">
                    <a16:creationId xmlns:a16="http://schemas.microsoft.com/office/drawing/2014/main" id="{93B24A1D-EACF-1421-0418-759E118EA57C}"/>
                  </a:ext>
                </a:extLst>
              </p:cNvPr>
              <p:cNvSpPr txBox="1">
                <a:spLocks noRot="1" noChangeAspect="1" noMove="1" noResize="1" noEditPoints="1" noAdjustHandles="1" noChangeArrowheads="1" noChangeShapeType="1" noTextEdit="1"/>
              </p:cNvSpPr>
              <p:nvPr/>
            </p:nvSpPr>
            <p:spPr>
              <a:xfrm>
                <a:off x="7615779" y="3845178"/>
                <a:ext cx="282129" cy="276999"/>
              </a:xfrm>
              <a:prstGeom prst="rect">
                <a:avLst/>
              </a:prstGeom>
              <a:blipFill>
                <a:blip r:embed="rId4"/>
                <a:stretch>
                  <a:fillRect l="-27660" t="-4444" r="-8511" b="-35556"/>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B29068D0-5F4F-3916-AC2C-5F7D3B89AD70}"/>
                  </a:ext>
                </a:extLst>
              </p:cNvPr>
              <p:cNvSpPr txBox="1"/>
              <p:nvPr/>
            </p:nvSpPr>
            <p:spPr>
              <a:xfrm>
                <a:off x="7999761" y="3845177"/>
                <a:ext cx="27392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1" i="1" smtClean="0">
                              <a:latin typeface="Cambria Math" panose="02040503050406030204" pitchFamily="18" charset="0"/>
                            </a:rPr>
                            <m:t>𝝃</m:t>
                          </m:r>
                        </m:e>
                        <m:sup>
                          <m:r>
                            <a:rPr lang="en-US" b="0" i="1" smtClean="0">
                              <a:latin typeface="Cambria Math" panose="02040503050406030204" pitchFamily="18" charset="0"/>
                            </a:rPr>
                            <m:t>1</m:t>
                          </m:r>
                        </m:sup>
                      </m:sSup>
                    </m:oMath>
                  </m:oMathPara>
                </a14:m>
                <a:endParaRPr lang="es-ES" dirty="0"/>
              </a:p>
            </p:txBody>
          </p:sp>
        </mc:Choice>
        <mc:Fallback xmlns="">
          <p:sp>
            <p:nvSpPr>
              <p:cNvPr id="40" name="CuadroTexto 39">
                <a:extLst>
                  <a:ext uri="{FF2B5EF4-FFF2-40B4-BE49-F238E27FC236}">
                    <a16:creationId xmlns:a16="http://schemas.microsoft.com/office/drawing/2014/main" id="{B29068D0-5F4F-3916-AC2C-5F7D3B89AD70}"/>
                  </a:ext>
                </a:extLst>
              </p:cNvPr>
              <p:cNvSpPr txBox="1">
                <a:spLocks noRot="1" noChangeAspect="1" noMove="1" noResize="1" noEditPoints="1" noAdjustHandles="1" noChangeArrowheads="1" noChangeShapeType="1" noTextEdit="1"/>
              </p:cNvSpPr>
              <p:nvPr/>
            </p:nvSpPr>
            <p:spPr>
              <a:xfrm>
                <a:off x="7999761" y="3845177"/>
                <a:ext cx="273921" cy="276999"/>
              </a:xfrm>
              <a:prstGeom prst="rect">
                <a:avLst/>
              </a:prstGeom>
              <a:blipFill>
                <a:blip r:embed="rId5"/>
                <a:stretch>
                  <a:fillRect l="-31111" t="-4444" r="-8889" b="-35556"/>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27F41133-154A-3132-C617-0B69D83FF775}"/>
                  </a:ext>
                </a:extLst>
              </p:cNvPr>
              <p:cNvSpPr txBox="1"/>
              <p:nvPr/>
            </p:nvSpPr>
            <p:spPr>
              <a:xfrm>
                <a:off x="8363070" y="3839795"/>
                <a:ext cx="27885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1" i="1" smtClean="0">
                              <a:latin typeface="Cambria Math" panose="02040503050406030204" pitchFamily="18" charset="0"/>
                            </a:rPr>
                            <m:t>𝝃</m:t>
                          </m:r>
                        </m:e>
                        <m:sup>
                          <m:r>
                            <a:rPr lang="en-US" b="0" i="1" smtClean="0">
                              <a:latin typeface="Cambria Math" panose="02040503050406030204" pitchFamily="18" charset="0"/>
                            </a:rPr>
                            <m:t>2</m:t>
                          </m:r>
                        </m:sup>
                      </m:sSup>
                    </m:oMath>
                  </m:oMathPara>
                </a14:m>
                <a:endParaRPr lang="es-ES" dirty="0"/>
              </a:p>
            </p:txBody>
          </p:sp>
        </mc:Choice>
        <mc:Fallback xmlns="">
          <p:sp>
            <p:nvSpPr>
              <p:cNvPr id="41" name="CuadroTexto 40">
                <a:extLst>
                  <a:ext uri="{FF2B5EF4-FFF2-40B4-BE49-F238E27FC236}">
                    <a16:creationId xmlns:a16="http://schemas.microsoft.com/office/drawing/2014/main" id="{27F41133-154A-3132-C617-0B69D83FF775}"/>
                  </a:ext>
                </a:extLst>
              </p:cNvPr>
              <p:cNvSpPr txBox="1">
                <a:spLocks noRot="1" noChangeAspect="1" noMove="1" noResize="1" noEditPoints="1" noAdjustHandles="1" noChangeArrowheads="1" noChangeShapeType="1" noTextEdit="1"/>
              </p:cNvSpPr>
              <p:nvPr/>
            </p:nvSpPr>
            <p:spPr>
              <a:xfrm>
                <a:off x="8363070" y="3839795"/>
                <a:ext cx="278859" cy="276999"/>
              </a:xfrm>
              <a:prstGeom prst="rect">
                <a:avLst/>
              </a:prstGeom>
              <a:blipFill>
                <a:blip r:embed="rId6"/>
                <a:stretch>
                  <a:fillRect l="-30435" t="-4444" r="-6522" b="-35556"/>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80C867C3-5308-B130-689D-F2562B410B8C}"/>
                  </a:ext>
                </a:extLst>
              </p:cNvPr>
              <p:cNvSpPr txBox="1"/>
              <p:nvPr/>
            </p:nvSpPr>
            <p:spPr>
              <a:xfrm>
                <a:off x="8809075" y="3847117"/>
                <a:ext cx="27885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1" i="1" smtClean="0">
                              <a:latin typeface="Cambria Math" panose="02040503050406030204" pitchFamily="18" charset="0"/>
                            </a:rPr>
                            <m:t>𝝃</m:t>
                          </m:r>
                        </m:e>
                        <m:sup>
                          <m:r>
                            <a:rPr lang="en-US" b="0" i="1" smtClean="0">
                              <a:latin typeface="Cambria Math" panose="02040503050406030204" pitchFamily="18" charset="0"/>
                            </a:rPr>
                            <m:t>3</m:t>
                          </m:r>
                        </m:sup>
                      </m:sSup>
                    </m:oMath>
                  </m:oMathPara>
                </a14:m>
                <a:endParaRPr lang="es-ES" dirty="0"/>
              </a:p>
            </p:txBody>
          </p:sp>
        </mc:Choice>
        <mc:Fallback xmlns="">
          <p:sp>
            <p:nvSpPr>
              <p:cNvPr id="42" name="CuadroTexto 41">
                <a:extLst>
                  <a:ext uri="{FF2B5EF4-FFF2-40B4-BE49-F238E27FC236}">
                    <a16:creationId xmlns:a16="http://schemas.microsoft.com/office/drawing/2014/main" id="{80C867C3-5308-B130-689D-F2562B410B8C}"/>
                  </a:ext>
                </a:extLst>
              </p:cNvPr>
              <p:cNvSpPr txBox="1">
                <a:spLocks noRot="1" noChangeAspect="1" noMove="1" noResize="1" noEditPoints="1" noAdjustHandles="1" noChangeArrowheads="1" noChangeShapeType="1" noTextEdit="1"/>
              </p:cNvSpPr>
              <p:nvPr/>
            </p:nvSpPr>
            <p:spPr>
              <a:xfrm>
                <a:off x="8809075" y="3847117"/>
                <a:ext cx="278859" cy="276999"/>
              </a:xfrm>
              <a:prstGeom prst="rect">
                <a:avLst/>
              </a:prstGeom>
              <a:blipFill>
                <a:blip r:embed="rId7"/>
                <a:stretch>
                  <a:fillRect l="-30435" t="-4348" r="-8696" b="-32609"/>
                </a:stretch>
              </a:blipFill>
            </p:spPr>
            <p:txBody>
              <a:bodyPr/>
              <a:lstStyle/>
              <a:p>
                <a:r>
                  <a:rPr lang="es-ES">
                    <a:noFill/>
                  </a:rPr>
                  <a:t> </a:t>
                </a:r>
              </a:p>
            </p:txBody>
          </p:sp>
        </mc:Fallback>
      </mc:AlternateContent>
    </p:spTree>
    <p:extLst>
      <p:ext uri="{BB962C8B-B14F-4D97-AF65-F5344CB8AC3E}">
        <p14:creationId xmlns:p14="http://schemas.microsoft.com/office/powerpoint/2010/main" val="55079013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7794</TotalTime>
  <Words>2789</Words>
  <Application>Microsoft Macintosh PowerPoint</Application>
  <PresentationFormat>Panorámica</PresentationFormat>
  <Paragraphs>112</Paragraphs>
  <Slides>14</Slides>
  <Notes>0</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14</vt:i4>
      </vt:variant>
    </vt:vector>
  </HeadingPairs>
  <TitlesOfParts>
    <vt:vector size="24" baseType="lpstr">
      <vt:lpstr>Arial</vt:lpstr>
      <vt:lpstr>Calibri</vt:lpstr>
      <vt:lpstr>Calibri Light</vt:lpstr>
      <vt:lpstr>Cambria Math</vt:lpstr>
      <vt:lpstr>LMMathItalic12-Regular</vt:lpstr>
      <vt:lpstr>LMMathSymbols10-Regular</vt:lpstr>
      <vt:lpstr>LMRoman12-Bold</vt:lpstr>
      <vt:lpstr>LMRoman12-Italic</vt:lpstr>
      <vt:lpstr>LMRoman17-Regular</vt:lpstr>
      <vt:lpstr>Tema de Office</vt:lpstr>
      <vt:lpstr>Presentación de PowerPoint</vt:lpstr>
      <vt:lpstr>Presentación de PowerPoint</vt:lpstr>
      <vt:lpstr>Física Estadística y Métodos Monte Carlo</vt:lpstr>
      <vt:lpstr>Presentación de PowerPoint</vt:lpstr>
      <vt:lpstr>Física Estadística y Métodos Monte Carlo</vt:lpstr>
      <vt:lpstr>Física Estadística y Métodos Monte Carlo</vt:lpstr>
      <vt:lpstr>Modelo de Hopfield de red neuronal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dc:creator>
  <cp:lastModifiedBy>Álvaro Mª Balegas López</cp:lastModifiedBy>
  <cp:revision>10</cp:revision>
  <dcterms:created xsi:type="dcterms:W3CDTF">2025-03-21T07:26:43Z</dcterms:created>
  <dcterms:modified xsi:type="dcterms:W3CDTF">2025-04-08T16:56:26Z</dcterms:modified>
</cp:coreProperties>
</file>